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 here" id="{87b08a40-b826-8a87-4086-443da01a968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Week 1: Core editing" id="{70ac150a-bb3e-b2dc-4266-9a44db011af6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eek 2: Speed and polish" id="{80a9a5eb-2e33-015b-ce5a-2e7265f15478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Week 3: Creative tools" id="{96cfe06a-62ca-3b13-1e5a-4d6ee954e011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Week 4: Real-time daily workflow" id="{71bda61c-1652-7e9e-86c5-71f705ea77d3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Quick reference" id="{cfe4d359-12a7-0390-ea17-c4247549aaf9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Cut Pro in 30 Days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Cut Pro in 30 Days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Y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Cut Pro in 30 Days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Cut Pro in 30 Days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FCP, make Shorts and long videos fast, and upload to YouTube every day. Your go-to reference for the month.</a:t>
            </a:r>
            <a:endParaRPr lang="en-US" sz="2000" dirty="0"/>
          </a:p>
        </p:txBody>
      </p:sp>
      <p:sp>
        <p:nvSpPr>
          <p:cNvPr id="4" name="kicker-1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MY LEARNING PLAYBOOK · FCP 12.4</a:t>
            </a:r>
            <a:endParaRPr lang="en-US" sz="1200" dirty="0"/>
          </a:p>
        </p:txBody>
      </p:sp>
      <p:pic>
        <p:nvPicPr>
          <p:cNvPr id="5" name="cover-image-2" descr="Screenshot from the Final Cut Pro User Guide,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2004595"/>
            <a:ext cx="4846320" cy="2574491"/>
          </a:xfrm>
          <a:prstGeom prst="rect">
            <a:avLst/>
          </a:prstGeom>
        </p:spPr>
      </p:pic>
      <p:sp>
        <p:nvSpPr>
          <p:cNvPr id="6" name="caption-3"/>
          <p:cNvSpPr txBox="1"/>
          <p:nvPr/>
        </p:nvSpPr>
        <p:spPr>
          <a:xfrm>
            <a:off x="6858000" y="4754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Screenshots: Final Cut Pro User Guide for Mac (Apple)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book</a:t>
            </a:r>
            <a:endParaRPr lang="en-US" sz="3400" dirty="0"/>
          </a:p>
        </p:txBody>
      </p:sp>
      <p:sp>
        <p:nvSpPr>
          <p:cNvPr id="3" name="card-4"/>
          <p:cNvSpPr/>
          <p:nvPr/>
        </p:nvSpPr>
        <p:spPr>
          <a:xfrm>
            <a:off x="548640" y="14630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badge-5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420624" cy="420624"/>
          </a:xfrm>
          <a:prstGeom prst="rect">
            <a:avLst/>
          </a:prstGeom>
        </p:spPr>
      </p:pic>
      <p:sp>
        <p:nvSpPr>
          <p:cNvPr id="6" name="h-7"/>
          <p:cNvSpPr txBox="1"/>
          <p:nvPr/>
        </p:nvSpPr>
        <p:spPr>
          <a:xfrm>
            <a:off x="822960" y="2651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 · Learn</a:t>
            </a:r>
            <a:endParaRPr lang="en-US" sz="2000" dirty="0"/>
          </a:p>
        </p:txBody>
      </p:sp>
      <p:sp>
        <p:nvSpPr>
          <p:cNvPr id="7" name="b-8"/>
          <p:cNvSpPr txBox="1"/>
          <p:nvPr/>
        </p:nvSpPr>
        <p:spPr>
          <a:xfrm>
            <a:off x="822960" y="3108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Watch one 10–20 minute video lesson on the day’s topic.</a:t>
            </a:r>
            <a:endParaRPr lang="en-US" sz="1500" dirty="0"/>
          </a:p>
        </p:txBody>
      </p:sp>
      <p:sp>
        <p:nvSpPr>
          <p:cNvPr id="8" name="card-9"/>
          <p:cNvSpPr/>
          <p:nvPr/>
        </p:nvSpPr>
        <p:spPr>
          <a:xfrm>
            <a:off x="3364992" y="14630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9" name="badge-10"/>
          <p:cNvSpPr/>
          <p:nvPr/>
        </p:nvSpPr>
        <p:spPr>
          <a:xfrm>
            <a:off x="3639312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92808"/>
            <a:ext cx="420624" cy="420624"/>
          </a:xfrm>
          <a:prstGeom prst="rect">
            <a:avLst/>
          </a:prstGeom>
        </p:spPr>
      </p:pic>
      <p:sp>
        <p:nvSpPr>
          <p:cNvPr id="11" name="h-12"/>
          <p:cNvSpPr txBox="1"/>
          <p:nvPr/>
        </p:nvSpPr>
        <p:spPr>
          <a:xfrm>
            <a:off x="3639312" y="2651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 · Do</a:t>
            </a:r>
            <a:endParaRPr lang="en-US" sz="2000" dirty="0"/>
          </a:p>
        </p:txBody>
      </p:sp>
      <p:sp>
        <p:nvSpPr>
          <p:cNvPr id="12" name="b-13"/>
          <p:cNvSpPr txBox="1"/>
          <p:nvPr/>
        </p:nvSpPr>
        <p:spPr>
          <a:xfrm>
            <a:off x="3639312" y="3108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Copy the steps in FCP straight away with your own footage.</a:t>
            </a:r>
            <a:endParaRPr lang="en-US" sz="1500" dirty="0"/>
          </a:p>
        </p:txBody>
      </p:sp>
      <p:sp>
        <p:nvSpPr>
          <p:cNvPr id="13" name="card-14"/>
          <p:cNvSpPr/>
          <p:nvPr/>
        </p:nvSpPr>
        <p:spPr>
          <a:xfrm>
            <a:off x="6181344" y="14630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4" name="badge-15"/>
          <p:cNvSpPr/>
          <p:nvPr/>
        </p:nvSpPr>
        <p:spPr>
          <a:xfrm>
            <a:off x="6455664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1892808"/>
            <a:ext cx="420624" cy="420624"/>
          </a:xfrm>
          <a:prstGeom prst="rect">
            <a:avLst/>
          </a:prstGeom>
        </p:spPr>
      </p:pic>
      <p:sp>
        <p:nvSpPr>
          <p:cNvPr id="16" name="h-17"/>
          <p:cNvSpPr txBox="1"/>
          <p:nvPr/>
        </p:nvSpPr>
        <p:spPr>
          <a:xfrm>
            <a:off x="6455664" y="2651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 · Check</a:t>
            </a:r>
            <a:endParaRPr lang="en-US" sz="2000" dirty="0"/>
          </a:p>
        </p:txBody>
      </p:sp>
      <p:sp>
        <p:nvSpPr>
          <p:cNvPr id="17" name="b-18"/>
          <p:cNvSpPr txBox="1"/>
          <p:nvPr/>
        </p:nvSpPr>
        <p:spPr>
          <a:xfrm>
            <a:off x="6455664" y="3108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Read only the manual pages listed on the day’s page.</a:t>
            </a:r>
            <a:endParaRPr lang="en-US" sz="1500" dirty="0"/>
          </a:p>
        </p:txBody>
      </p:sp>
      <p:sp>
        <p:nvSpPr>
          <p:cNvPr id="18" name="card-19"/>
          <p:cNvSpPr/>
          <p:nvPr/>
        </p:nvSpPr>
        <p:spPr>
          <a:xfrm>
            <a:off x="8997696" y="14630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9" name="badge-20"/>
          <p:cNvSpPr/>
          <p:nvPr/>
        </p:nvSpPr>
        <p:spPr>
          <a:xfrm>
            <a:off x="9272016" y="173736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2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7464" y="1892808"/>
            <a:ext cx="420624" cy="420624"/>
          </a:xfrm>
          <a:prstGeom prst="rect">
            <a:avLst/>
          </a:prstGeom>
        </p:spPr>
      </p:pic>
      <p:sp>
        <p:nvSpPr>
          <p:cNvPr id="21" name="h-22"/>
          <p:cNvSpPr txBox="1"/>
          <p:nvPr/>
        </p:nvSpPr>
        <p:spPr>
          <a:xfrm>
            <a:off x="9272016" y="2651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 · Publish</a:t>
            </a:r>
            <a:endParaRPr lang="en-US" sz="2000" dirty="0"/>
          </a:p>
        </p:txBody>
      </p:sp>
      <p:sp>
        <p:nvSpPr>
          <p:cNvPr id="22" name="b-23"/>
          <p:cNvSpPr txBox="1"/>
          <p:nvPr/>
        </p:nvSpPr>
        <p:spPr>
          <a:xfrm>
            <a:off x="9272016" y="3108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Use the new skill in today’s upload. Publishing is practice.</a:t>
            </a:r>
            <a:endParaRPr lang="en-US" sz="1500" dirty="0"/>
          </a:p>
        </p:txBody>
      </p:sp>
      <p:sp>
        <p:nvSpPr>
          <p:cNvPr id="23" name="card-24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/>
        </p:spPr>
      </p:sp>
      <p:sp>
        <p:nvSpPr>
          <p:cNvPr id="24" name="label-25"/>
          <p:cNvSpPr txBox="1"/>
          <p:nvPr/>
        </p:nvSpPr>
        <p:spPr>
          <a:xfrm>
            <a:off x="82296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EVERY DAY PAGE HAS</a:t>
            </a:r>
            <a:endParaRPr lang="en-US" sz="1100" dirty="0"/>
          </a:p>
        </p:txBody>
      </p:sp>
      <p:sp>
        <p:nvSpPr>
          <p:cNvPr id="25" name="b-26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goal · the steps · a “Try it” task · today’s upload · key shortcuts · manual pages · a screenshot · a My notes box. Type what you learned into My notes each day, and by Day 30 this book becomes your own Final Cut Pro manual.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from video, look things up in the manual</a:t>
            </a:r>
            <a:endParaRPr lang="en-US" sz="3400" dirty="0"/>
          </a:p>
        </p:txBody>
      </p:sp>
      <p:sp>
        <p:nvSpPr>
          <p:cNvPr id="3" name="card-27"/>
          <p:cNvSpPr/>
          <p:nvPr/>
        </p:nvSpPr>
        <p:spPr>
          <a:xfrm>
            <a:off x="548640" y="146304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</p:sp>
      <p:pic>
        <p:nvPicPr>
          <p:cNvPr id="4" name="icon-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02920" cy="502920"/>
          </a:xfrm>
          <a:prstGeom prst="rect">
            <a:avLst/>
          </a:prstGeom>
        </p:spPr>
      </p:pic>
      <p:sp>
        <p:nvSpPr>
          <p:cNvPr id="5" name="h-29"/>
          <p:cNvSpPr txBox="1"/>
          <p:nvPr/>
        </p:nvSpPr>
        <p:spPr>
          <a:xfrm>
            <a:off x="86868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Video lessons</a:t>
            </a:r>
            <a:endParaRPr lang="en-US" sz="2100" dirty="0"/>
          </a:p>
        </p:txBody>
      </p:sp>
      <p:sp>
        <p:nvSpPr>
          <p:cNvPr id="6" name="tag-30"/>
          <p:cNvSpPr txBox="1"/>
          <p:nvPr/>
        </p:nvSpPr>
        <p:spPr>
          <a:xfrm>
            <a:off x="86868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Use to LEARN</a:t>
            </a:r>
            <a:endParaRPr lang="en-US" sz="1200" dirty="0"/>
          </a:p>
        </p:txBody>
      </p:sp>
      <p:sp>
        <p:nvSpPr>
          <p:cNvPr id="7" name="list-31"/>
          <p:cNvSpPr txBox="1"/>
          <p:nvPr/>
        </p:nvSpPr>
        <p:spPr>
          <a:xfrm>
            <a:off x="868680" y="333756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Shows real mouse and keyboard movement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Easiest way to learn the timeline and trimming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10–20 minute lessons fit your daily plan</a:t>
            </a:r>
            <a:endParaRPr lang="en-US" sz="1500" dirty="0"/>
          </a:p>
        </p:txBody>
      </p:sp>
      <p:sp>
        <p:nvSpPr>
          <p:cNvPr id="8" name="card-32"/>
          <p:cNvSpPr/>
          <p:nvPr/>
        </p:nvSpPr>
        <p:spPr>
          <a:xfrm>
            <a:off x="4297680" y="146304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</p:sp>
      <p:pic>
        <p:nvPicPr>
          <p:cNvPr id="9" name="icon-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737360"/>
            <a:ext cx="502920" cy="502920"/>
          </a:xfrm>
          <a:prstGeom prst="rect">
            <a:avLst/>
          </a:prstGeom>
        </p:spPr>
      </p:pic>
      <p:sp>
        <p:nvSpPr>
          <p:cNvPr id="10" name="h-34"/>
          <p:cNvSpPr txBox="1"/>
          <p:nvPr/>
        </p:nvSpPr>
        <p:spPr>
          <a:xfrm>
            <a:off x="461772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User Guide (manual)</a:t>
            </a:r>
            <a:endParaRPr lang="en-US" sz="2100" dirty="0"/>
          </a:p>
        </p:txBody>
      </p:sp>
      <p:sp>
        <p:nvSpPr>
          <p:cNvPr id="11" name="tag-35"/>
          <p:cNvSpPr txBox="1"/>
          <p:nvPr/>
        </p:nvSpPr>
        <p:spPr>
          <a:xfrm>
            <a:off x="461772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Use to LOOK THINGS UP</a:t>
            </a:r>
            <a:endParaRPr lang="en-US" sz="1200" dirty="0"/>
          </a:p>
        </p:txBody>
      </p:sp>
      <p:sp>
        <p:nvSpPr>
          <p:cNvPr id="12" name="list-36"/>
          <p:cNvSpPr txBox="1"/>
          <p:nvPr/>
        </p:nvSpPr>
        <p:spPr>
          <a:xfrm>
            <a:off x="4617720" y="333756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Most accurate and always up to date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Read only the pages for today’s topic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Search it when you’re stuck (Help menu)</a:t>
            </a:r>
            <a:endParaRPr lang="en-US" sz="1500" dirty="0"/>
          </a:p>
        </p:txBody>
      </p:sp>
      <p:sp>
        <p:nvSpPr>
          <p:cNvPr id="13" name="card-37"/>
          <p:cNvSpPr/>
          <p:nvPr/>
        </p:nvSpPr>
        <p:spPr>
          <a:xfrm>
            <a:off x="8046720" y="146304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</p:sp>
      <p:pic>
        <p:nvPicPr>
          <p:cNvPr id="14" name="icon-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737360"/>
            <a:ext cx="502920" cy="502920"/>
          </a:xfrm>
          <a:prstGeom prst="rect">
            <a:avLst/>
          </a:prstGeom>
        </p:spPr>
      </p:pic>
      <p:sp>
        <p:nvSpPr>
          <p:cNvPr id="15" name="h-39"/>
          <p:cNvSpPr txBox="1"/>
          <p:nvPr/>
        </p:nvSpPr>
        <p:spPr>
          <a:xfrm>
            <a:off x="83667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Slides or presentations</a:t>
            </a:r>
            <a:endParaRPr lang="en-US" sz="2100" dirty="0"/>
          </a:p>
        </p:txBody>
      </p:sp>
      <p:sp>
        <p:nvSpPr>
          <p:cNvPr id="16" name="tag-40"/>
          <p:cNvSpPr txBox="1"/>
          <p:nvPr/>
        </p:nvSpPr>
        <p:spPr>
          <a:xfrm>
            <a:off x="83667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Use only for SUMMARIES</a:t>
            </a:r>
            <a:endParaRPr lang="en-US" sz="1200" dirty="0"/>
          </a:p>
        </p:txBody>
      </p:sp>
      <p:sp>
        <p:nvSpPr>
          <p:cNvPr id="17" name="list-41"/>
          <p:cNvSpPr txBox="1"/>
          <p:nvPr/>
        </p:nvSpPr>
        <p:spPr>
          <a:xfrm>
            <a:off x="8366760" y="333756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Can’t show how an edit is done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Fine for a shortcut cheat sheet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This book is your summary and notes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30 days at a glance</a:t>
            </a:r>
            <a:endParaRPr lang="en-US" sz="3400" dirty="0"/>
          </a:p>
        </p:txBody>
      </p:sp>
      <p:sp>
        <p:nvSpPr>
          <p:cNvPr id="3" name="card-42"/>
          <p:cNvSpPr/>
          <p:nvPr/>
        </p:nvSpPr>
        <p:spPr>
          <a:xfrm>
            <a:off x="548640" y="146304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badge-43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num-44"/>
          <p:cNvSpPr txBox="1"/>
          <p:nvPr/>
        </p:nvSpPr>
        <p:spPr>
          <a:xfrm>
            <a:off x="82296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days-45"/>
          <p:cNvSpPr txBox="1"/>
          <p:nvPr/>
        </p:nvSpPr>
        <p:spPr>
          <a:xfrm>
            <a:off x="1645920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Days 1–7</a:t>
            </a:r>
            <a:endParaRPr lang="en-US" sz="1300" dirty="0"/>
          </a:p>
        </p:txBody>
      </p:sp>
      <p:sp>
        <p:nvSpPr>
          <p:cNvPr id="7" name="h-46"/>
          <p:cNvSpPr txBox="1"/>
          <p:nvPr/>
        </p:nvSpPr>
        <p:spPr>
          <a:xfrm>
            <a:off x="822960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Core editing</a:t>
            </a:r>
            <a:endParaRPr lang="en-US" sz="1900" dirty="0"/>
          </a:p>
        </p:txBody>
      </p:sp>
      <p:sp>
        <p:nvSpPr>
          <p:cNvPr id="8" name="b-47"/>
          <p:cNvSpPr txBox="1"/>
          <p:nvPr/>
        </p:nvSpPr>
        <p:spPr>
          <a:xfrm>
            <a:off x="822960" y="32918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Learn the interface and the basic edit: import, cut, audio, captions, export.</a:t>
            </a:r>
            <a:endParaRPr lang="en-US" sz="1400" dirty="0"/>
          </a:p>
        </p:txBody>
      </p:sp>
      <p:sp>
        <p:nvSpPr>
          <p:cNvPr id="9" name="label-48"/>
          <p:cNvSpPr txBox="1"/>
          <p:nvPr/>
        </p:nvSpPr>
        <p:spPr>
          <a:xfrm>
            <a:off x="822960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UPLOAD</a:t>
            </a:r>
            <a:endParaRPr lang="en-US" sz="1100" dirty="0"/>
          </a:p>
        </p:txBody>
      </p:sp>
      <p:sp>
        <p:nvSpPr>
          <p:cNvPr id="10" name="b-49"/>
          <p:cNvSpPr txBox="1"/>
          <p:nvPr/>
        </p:nvSpPr>
        <p:spPr>
          <a:xfrm>
            <a:off x="822960" y="48006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simple vertical Short every day (15–60 sec)</a:t>
            </a:r>
            <a:endParaRPr lang="en-US" sz="1400" dirty="0"/>
          </a:p>
        </p:txBody>
      </p:sp>
      <p:sp>
        <p:nvSpPr>
          <p:cNvPr id="11" name="card-50"/>
          <p:cNvSpPr/>
          <p:nvPr/>
        </p:nvSpPr>
        <p:spPr>
          <a:xfrm>
            <a:off x="3364992" y="146304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2" name="badge-51"/>
          <p:cNvSpPr/>
          <p:nvPr/>
        </p:nvSpPr>
        <p:spPr>
          <a:xfrm>
            <a:off x="3639312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num-52"/>
          <p:cNvSpPr txBox="1"/>
          <p:nvPr/>
        </p:nvSpPr>
        <p:spPr>
          <a:xfrm>
            <a:off x="3639312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14" name="days-53"/>
          <p:cNvSpPr txBox="1"/>
          <p:nvPr/>
        </p:nvSpPr>
        <p:spPr>
          <a:xfrm>
            <a:off x="4462272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Days 8–14</a:t>
            </a:r>
            <a:endParaRPr lang="en-US" sz="1300" dirty="0"/>
          </a:p>
        </p:txBody>
      </p:sp>
      <p:sp>
        <p:nvSpPr>
          <p:cNvPr id="15" name="h-54"/>
          <p:cNvSpPr txBox="1"/>
          <p:nvPr/>
        </p:nvSpPr>
        <p:spPr>
          <a:xfrm>
            <a:off x="3639312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Speed and polish</a:t>
            </a:r>
            <a:endParaRPr lang="en-US" sz="1900" dirty="0"/>
          </a:p>
        </p:txBody>
      </p:sp>
      <p:sp>
        <p:nvSpPr>
          <p:cNvPr id="16" name="b-55"/>
          <p:cNvSpPr txBox="1"/>
          <p:nvPr/>
        </p:nvSpPr>
        <p:spPr>
          <a:xfrm>
            <a:off x="3639312" y="32918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Work faster with shortcuts and templates, and make your clips look and sound better.</a:t>
            </a:r>
            <a:endParaRPr lang="en-US" sz="1400" dirty="0"/>
          </a:p>
        </p:txBody>
      </p:sp>
      <p:sp>
        <p:nvSpPr>
          <p:cNvPr id="17" name="label-56"/>
          <p:cNvSpPr txBox="1"/>
          <p:nvPr/>
        </p:nvSpPr>
        <p:spPr>
          <a:xfrm>
            <a:off x="3639312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UPLOAD</a:t>
            </a:r>
            <a:endParaRPr lang="en-US" sz="1100" dirty="0"/>
          </a:p>
        </p:txBody>
      </p:sp>
      <p:sp>
        <p:nvSpPr>
          <p:cNvPr id="18" name="b-57"/>
          <p:cNvSpPr txBox="1"/>
          <p:nvPr/>
        </p:nvSpPr>
        <p:spPr>
          <a:xfrm>
            <a:off x="3639312" y="48006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Shorts daily, plus your first long video (3–6 min) on Day 14</a:t>
            </a:r>
            <a:endParaRPr lang="en-US" sz="1400" dirty="0"/>
          </a:p>
        </p:txBody>
      </p:sp>
      <p:sp>
        <p:nvSpPr>
          <p:cNvPr id="19" name="card-58"/>
          <p:cNvSpPr/>
          <p:nvPr/>
        </p:nvSpPr>
        <p:spPr>
          <a:xfrm>
            <a:off x="6181344" y="146304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20" name="badge-59"/>
          <p:cNvSpPr/>
          <p:nvPr/>
        </p:nvSpPr>
        <p:spPr>
          <a:xfrm>
            <a:off x="6455664" y="1691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num-60"/>
          <p:cNvSpPr txBox="1"/>
          <p:nvPr/>
        </p:nvSpPr>
        <p:spPr>
          <a:xfrm>
            <a:off x="6455664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22" name="days-61"/>
          <p:cNvSpPr txBox="1"/>
          <p:nvPr/>
        </p:nvSpPr>
        <p:spPr>
          <a:xfrm>
            <a:off x="7278624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Days 15–21</a:t>
            </a:r>
            <a:endParaRPr lang="en-US" sz="1300" dirty="0"/>
          </a:p>
        </p:txBody>
      </p:sp>
      <p:sp>
        <p:nvSpPr>
          <p:cNvPr id="23" name="h-62"/>
          <p:cNvSpPr txBox="1"/>
          <p:nvPr/>
        </p:nvSpPr>
        <p:spPr>
          <a:xfrm>
            <a:off x="6455664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Creative tools</a:t>
            </a:r>
            <a:endParaRPr lang="en-US" sz="1900" dirty="0"/>
          </a:p>
        </p:txBody>
      </p:sp>
      <p:sp>
        <p:nvSpPr>
          <p:cNvPr id="24" name="b-63"/>
          <p:cNvSpPr txBox="1"/>
          <p:nvPr/>
        </p:nvSpPr>
        <p:spPr>
          <a:xfrm>
            <a:off x="6455664" y="32918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Masks, keying, tracking, multicam, music sync and thumbnails.</a:t>
            </a:r>
            <a:endParaRPr lang="en-US" sz="1400" dirty="0"/>
          </a:p>
        </p:txBody>
      </p:sp>
      <p:sp>
        <p:nvSpPr>
          <p:cNvPr id="25" name="label-64"/>
          <p:cNvSpPr txBox="1"/>
          <p:nvPr/>
        </p:nvSpPr>
        <p:spPr>
          <a:xfrm>
            <a:off x="6455664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UPLOAD</a:t>
            </a:r>
            <a:endParaRPr lang="en-US" sz="1100" dirty="0"/>
          </a:p>
        </p:txBody>
      </p:sp>
      <p:sp>
        <p:nvSpPr>
          <p:cNvPr id="26" name="b-65"/>
          <p:cNvSpPr txBox="1"/>
          <p:nvPr/>
        </p:nvSpPr>
        <p:spPr>
          <a:xfrm>
            <a:off x="6455664" y="48006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Short every day, plus long videos on Days 18 and 21</a:t>
            </a:r>
            <a:endParaRPr lang="en-US" sz="1400" dirty="0"/>
          </a:p>
        </p:txBody>
      </p:sp>
      <p:sp>
        <p:nvSpPr>
          <p:cNvPr id="27" name="card-66"/>
          <p:cNvSpPr/>
          <p:nvPr/>
        </p:nvSpPr>
        <p:spPr>
          <a:xfrm>
            <a:off x="8997696" y="1463040"/>
            <a:ext cx="2606040" cy="457200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28" name="badge-67"/>
          <p:cNvSpPr/>
          <p:nvPr/>
        </p:nvSpPr>
        <p:spPr>
          <a:xfrm>
            <a:off x="9272016" y="16916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9" name="num-68"/>
          <p:cNvSpPr txBox="1"/>
          <p:nvPr/>
        </p:nvSpPr>
        <p:spPr>
          <a:xfrm>
            <a:off x="9272016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2600" dirty="0"/>
          </a:p>
        </p:txBody>
      </p:sp>
      <p:sp>
        <p:nvSpPr>
          <p:cNvPr id="30" name="days-69"/>
          <p:cNvSpPr txBox="1"/>
          <p:nvPr/>
        </p:nvSpPr>
        <p:spPr>
          <a:xfrm>
            <a:off x="10094976" y="1783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Days 22–30</a:t>
            </a:r>
            <a:endParaRPr lang="en-US" sz="1300" dirty="0"/>
          </a:p>
        </p:txBody>
      </p:sp>
      <p:sp>
        <p:nvSpPr>
          <p:cNvPr id="31" name="h-70"/>
          <p:cNvSpPr txBox="1"/>
          <p:nvPr/>
        </p:nvSpPr>
        <p:spPr>
          <a:xfrm>
            <a:off x="9272016" y="25603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Real-time daily workflow</a:t>
            </a:r>
            <a:endParaRPr lang="en-US" sz="1900" dirty="0"/>
          </a:p>
        </p:txBody>
      </p:sp>
      <p:sp>
        <p:nvSpPr>
          <p:cNvPr id="32" name="b-71"/>
          <p:cNvSpPr txBox="1"/>
          <p:nvPr/>
        </p:nvSpPr>
        <p:spPr>
          <a:xfrm>
            <a:off x="9272016" y="32918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Batch your work, manage your library, repurpose content and read analytics.</a:t>
            </a:r>
            <a:endParaRPr lang="en-US" sz="1400" dirty="0"/>
          </a:p>
        </p:txBody>
      </p:sp>
      <p:sp>
        <p:nvSpPr>
          <p:cNvPr id="33" name="label-72"/>
          <p:cNvSpPr txBox="1"/>
          <p:nvPr/>
        </p:nvSpPr>
        <p:spPr>
          <a:xfrm>
            <a:off x="9272016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UPLOAD</a:t>
            </a:r>
            <a:endParaRPr lang="en-US" sz="1100" dirty="0"/>
          </a:p>
        </p:txBody>
      </p:sp>
      <p:sp>
        <p:nvSpPr>
          <p:cNvPr id="34" name="b-73"/>
          <p:cNvSpPr txBox="1"/>
          <p:nvPr/>
        </p:nvSpPr>
        <p:spPr>
          <a:xfrm>
            <a:off x="9272016" y="48006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Short daily, plus a long video every 2–3 days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free month: Apple Creator Studio</a:t>
            </a:r>
            <a:endParaRPr lang="en-US" sz="3400" dirty="0"/>
          </a:p>
        </p:txBody>
      </p:sp>
      <p:sp>
        <p:nvSpPr>
          <p:cNvPr id="3" name="card-74"/>
          <p:cNvSpPr/>
          <p:nvPr/>
        </p:nvSpPr>
        <p:spPr>
          <a:xfrm>
            <a:off x="548640" y="146304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4" name="stat-75"/>
          <p:cNvSpPr txBox="1"/>
          <p:nvPr/>
        </p:nvSpPr>
        <p:spPr>
          <a:xfrm>
            <a:off x="86868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6</a:t>
            </a:r>
            <a:endParaRPr lang="en-US" sz="5400" dirty="0"/>
          </a:p>
        </p:txBody>
      </p:sp>
      <p:sp>
        <p:nvSpPr>
          <p:cNvPr id="5" name="b-76"/>
          <p:cNvSpPr txBox="1"/>
          <p:nvPr/>
        </p:nvSpPr>
        <p:spPr>
          <a:xfrm>
            <a:off x="868680" y="26060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apps included: Final Cut Pro, Motion, Compressor, Pixelmator Pro, Logic Pro, MainStage</a:t>
            </a:r>
            <a:endParaRPr lang="en-US" sz="1400" dirty="0"/>
          </a:p>
        </p:txBody>
      </p:sp>
      <p:sp>
        <p:nvSpPr>
          <p:cNvPr id="6" name="card-77"/>
          <p:cNvSpPr/>
          <p:nvPr/>
        </p:nvSpPr>
        <p:spPr>
          <a:xfrm>
            <a:off x="4297680" y="146304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7" name="stat-78"/>
          <p:cNvSpPr txBox="1"/>
          <p:nvPr/>
        </p:nvSpPr>
        <p:spPr>
          <a:xfrm>
            <a:off x="461772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</a:rPr>
              <a:t>26.6</a:t>
            </a:r>
            <a:endParaRPr lang="en-US" sz="5400" dirty="0"/>
          </a:p>
        </p:txBody>
      </p:sp>
      <p:sp>
        <p:nvSpPr>
          <p:cNvPr id="8" name="b-79"/>
          <p:cNvSpPr txBox="1"/>
          <p:nvPr/>
        </p:nvSpPr>
        <p:spPr>
          <a:xfrm>
            <a:off x="4617720" y="26060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minimum macOS version for FCP 12.4 (p. 6)</a:t>
            </a:r>
            <a:endParaRPr lang="en-US" sz="1400" dirty="0"/>
          </a:p>
        </p:txBody>
      </p:sp>
      <p:sp>
        <p:nvSpPr>
          <p:cNvPr id="9" name="card-80"/>
          <p:cNvSpPr/>
          <p:nvPr/>
        </p:nvSpPr>
        <p:spPr>
          <a:xfrm>
            <a:off x="8046720" y="1463040"/>
            <a:ext cx="35204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10" name="stat-81"/>
          <p:cNvSpPr txBox="1"/>
          <p:nvPr/>
        </p:nvSpPr>
        <p:spPr>
          <a:xfrm>
            <a:off x="836676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M-chip</a:t>
            </a:r>
            <a:endParaRPr lang="en-US" sz="5400" dirty="0"/>
          </a:p>
        </p:txBody>
      </p:sp>
      <p:sp>
        <p:nvSpPr>
          <p:cNvPr id="11" name="b-82"/>
          <p:cNvSpPr txBox="1"/>
          <p:nvPr/>
        </p:nvSpPr>
        <p:spPr>
          <a:xfrm>
            <a:off x="8366760" y="26060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Apple silicon needed for Generate Captions (U.S. English only, p. 385)</a:t>
            </a:r>
            <a:endParaRPr lang="en-US" sz="1400" dirty="0"/>
          </a:p>
        </p:txBody>
      </p:sp>
      <p:sp>
        <p:nvSpPr>
          <p:cNvPr id="12" name="card-83"/>
          <p:cNvSpPr/>
          <p:nvPr/>
        </p:nvSpPr>
        <p:spPr>
          <a:xfrm>
            <a:off x="548640" y="3977640"/>
            <a:ext cx="1106424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sp>
        <p:nvSpPr>
          <p:cNvPr id="13" name="label-84"/>
          <p:cNvSpPr txBox="1"/>
          <p:nvPr/>
        </p:nvSpPr>
        <p:spPr>
          <a:xfrm>
            <a:off x="86868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MAKE THE MOST OF THE TRIAL</a:t>
            </a:r>
            <a:endParaRPr lang="en-US" sz="1100" dirty="0"/>
          </a:p>
        </p:txBody>
      </p:sp>
      <p:sp>
        <p:nvSpPr>
          <p:cNvPr id="14" name="list-85"/>
          <p:cNvSpPr txBox="1"/>
          <p:nvPr/>
        </p:nvSpPr>
        <p:spPr>
          <a:xfrm>
            <a:off x="868680" y="452628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Make thumbnails in Pixelmator Pro (Share &gt; Send Frame to Pixelmator Pro, p. 828)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Use the extra downloadable titles, transitions and generators (p. 18)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Cancel or change it in Final Cut Pro &gt; Manage Subscriptions. You keep access until the billing period ends (p. 18)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Decide on Day 30 whether to continue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0: set up before you start</a:t>
            </a:r>
            <a:endParaRPr lang="en-US" sz="3400" dirty="0"/>
          </a:p>
        </p:txBody>
      </p:sp>
      <p:sp>
        <p:nvSpPr>
          <p:cNvPr id="3" name="card-86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4" name="badge-87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con-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65760" cy="365760"/>
          </a:xfrm>
          <a:prstGeom prst="rect">
            <a:avLst/>
          </a:prstGeom>
        </p:spPr>
      </p:pic>
      <p:sp>
        <p:nvSpPr>
          <p:cNvPr id="6" name="h-89"/>
          <p:cNvSpPr txBox="1"/>
          <p:nvPr/>
        </p:nvSpPr>
        <p:spPr>
          <a:xfrm>
            <a:off x="1600200" y="1737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Verify your channel</a:t>
            </a:r>
            <a:endParaRPr lang="en-US" sz="1800" dirty="0"/>
          </a:p>
        </p:txBody>
      </p:sp>
      <p:sp>
        <p:nvSpPr>
          <p:cNvPr id="7" name="b-90"/>
          <p:cNvSpPr txBox="1"/>
          <p:nvPr/>
        </p:nvSpPr>
        <p:spPr>
          <a:xfrm>
            <a:off x="82296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youtube.com/verify unlocks videos over 15 min and custom thumbnails.</a:t>
            </a:r>
            <a:endParaRPr lang="en-US" sz="1400" dirty="0"/>
          </a:p>
        </p:txBody>
      </p:sp>
      <p:sp>
        <p:nvSpPr>
          <p:cNvPr id="8" name="card-91"/>
          <p:cNvSpPr/>
          <p:nvPr/>
        </p:nvSpPr>
        <p:spPr>
          <a:xfrm>
            <a:off x="429768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9" name="badge-92"/>
          <p:cNvSpPr/>
          <p:nvPr/>
        </p:nvSpPr>
        <p:spPr>
          <a:xfrm>
            <a:off x="4572000" y="17373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-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874520"/>
            <a:ext cx="365760" cy="365760"/>
          </a:xfrm>
          <a:prstGeom prst="rect">
            <a:avLst/>
          </a:prstGeom>
        </p:spPr>
      </p:pic>
      <p:sp>
        <p:nvSpPr>
          <p:cNvPr id="11" name="h-94"/>
          <p:cNvSpPr txBox="1"/>
          <p:nvPr/>
        </p:nvSpPr>
        <p:spPr>
          <a:xfrm>
            <a:off x="5349240" y="1737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Pick one format</a:t>
            </a:r>
            <a:endParaRPr lang="en-US" sz="1800" dirty="0"/>
          </a:p>
        </p:txBody>
      </p:sp>
      <p:sp>
        <p:nvSpPr>
          <p:cNvPr id="12" name="b-95"/>
          <p:cNvSpPr txBox="1"/>
          <p:nvPr/>
        </p:nvSpPr>
        <p:spPr>
          <a:xfrm>
            <a:off x="457200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 example “1 tip in 45 seconds”. A repeatable format makes daily uploads realistic.</a:t>
            </a:r>
            <a:endParaRPr lang="en-US" sz="1400" dirty="0"/>
          </a:p>
        </p:txBody>
      </p:sp>
      <p:sp>
        <p:nvSpPr>
          <p:cNvPr id="13" name="card-96"/>
          <p:cNvSpPr/>
          <p:nvPr/>
        </p:nvSpPr>
        <p:spPr>
          <a:xfrm>
            <a:off x="804672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4" name="badge-97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5" name="icon-9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874520"/>
            <a:ext cx="365760" cy="365760"/>
          </a:xfrm>
          <a:prstGeom prst="rect">
            <a:avLst/>
          </a:prstGeom>
        </p:spPr>
      </p:pic>
      <p:sp>
        <p:nvSpPr>
          <p:cNvPr id="16" name="h-99"/>
          <p:cNvSpPr txBox="1"/>
          <p:nvPr/>
        </p:nvSpPr>
        <p:spPr>
          <a:xfrm>
            <a:off x="9098280" y="1737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Make folders</a:t>
            </a:r>
            <a:endParaRPr lang="en-US" sz="1800" dirty="0"/>
          </a:p>
        </p:txBody>
      </p:sp>
      <p:sp>
        <p:nvSpPr>
          <p:cNvPr id="17" name="b-100"/>
          <p:cNvSpPr txBox="1"/>
          <p:nvPr/>
        </p:nvSpPr>
        <p:spPr>
          <a:xfrm>
            <a:off x="832104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Footage · Music · Graphics · Exports. Keep the same structure every week.</a:t>
            </a:r>
            <a:endParaRPr lang="en-US" sz="1400" dirty="0"/>
          </a:p>
        </p:txBody>
      </p:sp>
      <p:sp>
        <p:nvSpPr>
          <p:cNvPr id="18" name="card-101"/>
          <p:cNvSpPr/>
          <p:nvPr/>
        </p:nvSpPr>
        <p:spPr>
          <a:xfrm>
            <a:off x="548640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9" name="badge-102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-10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06240"/>
            <a:ext cx="365760" cy="365760"/>
          </a:xfrm>
          <a:prstGeom prst="rect">
            <a:avLst/>
          </a:prstGeom>
        </p:spPr>
      </p:pic>
      <p:sp>
        <p:nvSpPr>
          <p:cNvPr id="21" name="h-104"/>
          <p:cNvSpPr txBox="1"/>
          <p:nvPr/>
        </p:nvSpPr>
        <p:spPr>
          <a:xfrm>
            <a:off x="1600200" y="4069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Copyright-safe music</a:t>
            </a:r>
            <a:endParaRPr lang="en-US" sz="1800" dirty="0"/>
          </a:p>
        </p:txBody>
      </p:sp>
      <p:sp>
        <p:nvSpPr>
          <p:cNvPr id="22" name="b-105"/>
          <p:cNvSpPr txBox="1"/>
          <p:nvPr/>
        </p:nvSpPr>
        <p:spPr>
          <a:xfrm>
            <a:off x="822960" y="4846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Download tracks from the YouTube Audio Library.</a:t>
            </a:r>
            <a:endParaRPr lang="en-US" sz="1400" dirty="0"/>
          </a:p>
        </p:txBody>
      </p:sp>
      <p:sp>
        <p:nvSpPr>
          <p:cNvPr id="23" name="card-106"/>
          <p:cNvSpPr/>
          <p:nvPr/>
        </p:nvSpPr>
        <p:spPr>
          <a:xfrm>
            <a:off x="4297680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24" name="badge-107"/>
          <p:cNvSpPr/>
          <p:nvPr/>
        </p:nvSpPr>
        <p:spPr>
          <a:xfrm>
            <a:off x="4572000" y="40690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5" name="icon-10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206240"/>
            <a:ext cx="365760" cy="365760"/>
          </a:xfrm>
          <a:prstGeom prst="rect">
            <a:avLst/>
          </a:prstGeom>
        </p:spPr>
      </p:pic>
      <p:sp>
        <p:nvSpPr>
          <p:cNvPr id="26" name="h-109"/>
          <p:cNvSpPr txBox="1"/>
          <p:nvPr/>
        </p:nvSpPr>
        <p:spPr>
          <a:xfrm>
            <a:off x="5349240" y="4069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Shoot on your phone</a:t>
            </a:r>
            <a:endParaRPr lang="en-US" sz="1800" dirty="0"/>
          </a:p>
        </p:txBody>
      </p:sp>
      <p:sp>
        <p:nvSpPr>
          <p:cNvPr id="27" name="b-110"/>
          <p:cNvSpPr txBox="1"/>
          <p:nvPr/>
        </p:nvSpPr>
        <p:spPr>
          <a:xfrm>
            <a:off x="4572000" y="4846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4K or 1080p at 30 fps. Apple’s Final Cut Camera app works with FCP (p. 42).</a:t>
            </a:r>
            <a:endParaRPr lang="en-US" sz="1400" dirty="0"/>
          </a:p>
        </p:txBody>
      </p:sp>
      <p:sp>
        <p:nvSpPr>
          <p:cNvPr id="28" name="card-111"/>
          <p:cNvSpPr/>
          <p:nvPr/>
        </p:nvSpPr>
        <p:spPr>
          <a:xfrm>
            <a:off x="8046720" y="37947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29" name="badge-112"/>
          <p:cNvSpPr/>
          <p:nvPr/>
        </p:nvSpPr>
        <p:spPr>
          <a:xfrm>
            <a:off x="8321040" y="40690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0" name="icon-11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4206240"/>
            <a:ext cx="365760" cy="365760"/>
          </a:xfrm>
          <a:prstGeom prst="rect">
            <a:avLst/>
          </a:prstGeom>
        </p:spPr>
      </p:pic>
      <p:sp>
        <p:nvSpPr>
          <p:cNvPr id="31" name="h-114"/>
          <p:cNvSpPr txBox="1"/>
          <p:nvPr/>
        </p:nvSpPr>
        <p:spPr>
          <a:xfrm>
            <a:off x="9098280" y="4069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Keep a clip stock</a:t>
            </a:r>
            <a:endParaRPr lang="en-US" sz="1800" dirty="0"/>
          </a:p>
        </p:txBody>
      </p:sp>
      <p:sp>
        <p:nvSpPr>
          <p:cNvPr id="32" name="b-115"/>
          <p:cNvSpPr txBox="1"/>
          <p:nvPr/>
        </p:nvSpPr>
        <p:spPr>
          <a:xfrm>
            <a:off x="8321040" y="4846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Have 5–10 spare clips ready so you never start from zero.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learn</a:t>
            </a:r>
            <a:endParaRPr lang="en-US" sz="3400" dirty="0"/>
          </a:p>
        </p:txBody>
      </p:sp>
      <p:sp>
        <p:nvSpPr>
          <p:cNvPr id="3" name="card-116"/>
          <p:cNvSpPr/>
          <p:nvPr/>
        </p:nvSpPr>
        <p:spPr>
          <a:xfrm>
            <a:off x="548640" y="146304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pic>
        <p:nvPicPr>
          <p:cNvPr id="4" name="icon-11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47088"/>
            <a:ext cx="548640" cy="548640"/>
          </a:xfrm>
          <a:prstGeom prst="rect">
            <a:avLst/>
          </a:prstGeom>
        </p:spPr>
      </p:pic>
      <p:sp>
        <p:nvSpPr>
          <p:cNvPr id="5" name="tag-118"/>
          <p:cNvSpPr txBox="1"/>
          <p:nvPr/>
        </p:nvSpPr>
        <p:spPr>
          <a:xfrm>
            <a:off x="1600200" y="16276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FREE</a:t>
            </a:r>
            <a:endParaRPr lang="en-US" sz="1100" dirty="0"/>
          </a:p>
        </p:txBody>
      </p:sp>
      <p:sp>
        <p:nvSpPr>
          <p:cNvPr id="6" name="h-119"/>
          <p:cNvSpPr txBox="1"/>
          <p:nvPr/>
        </p:nvSpPr>
        <p:spPr>
          <a:xfrm>
            <a:off x="1600200" y="1874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FCP User Guide</a:t>
            </a:r>
            <a:endParaRPr lang="en-US" sz="1800" dirty="0"/>
          </a:p>
        </p:txBody>
      </p:sp>
      <p:sp>
        <p:nvSpPr>
          <p:cNvPr id="7" name="b-120"/>
          <p:cNvSpPr txBox="1"/>
          <p:nvPr/>
        </p:nvSpPr>
        <p:spPr>
          <a:xfrm>
            <a:off x="1600200" y="2240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Help &gt; Final Cut Pro Help, or support.apple.com/guide/final-cut-pro. Start with p. 7–15.</a:t>
            </a:r>
            <a:endParaRPr lang="en-US" sz="1400" dirty="0"/>
          </a:p>
        </p:txBody>
      </p:sp>
      <p:sp>
        <p:nvSpPr>
          <p:cNvPr id="8" name="card-121"/>
          <p:cNvSpPr/>
          <p:nvPr/>
        </p:nvSpPr>
        <p:spPr>
          <a:xfrm>
            <a:off x="6172200" y="146304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pic>
        <p:nvPicPr>
          <p:cNvPr id="9" name="icon-1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847088"/>
            <a:ext cx="548640" cy="548640"/>
          </a:xfrm>
          <a:prstGeom prst="rect">
            <a:avLst/>
          </a:prstGeom>
        </p:spPr>
      </p:pic>
      <p:sp>
        <p:nvSpPr>
          <p:cNvPr id="10" name="tag-123"/>
          <p:cNvSpPr txBox="1"/>
          <p:nvPr/>
        </p:nvSpPr>
        <p:spPr>
          <a:xfrm>
            <a:off x="7223760" y="16276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FREE</a:t>
            </a:r>
            <a:endParaRPr lang="en-US" sz="1100" dirty="0"/>
          </a:p>
        </p:txBody>
      </p:sp>
      <p:sp>
        <p:nvSpPr>
          <p:cNvPr id="11" name="h-124"/>
          <p:cNvSpPr txBox="1"/>
          <p:nvPr/>
        </p:nvSpPr>
        <p:spPr>
          <a:xfrm>
            <a:off x="7223760" y="1874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Built-in demo project</a:t>
            </a:r>
            <a:endParaRPr lang="en-US" sz="1800" dirty="0"/>
          </a:p>
        </p:txBody>
      </p:sp>
      <p:sp>
        <p:nvSpPr>
          <p:cNvPr id="12" name="b-125"/>
          <p:cNvSpPr txBox="1"/>
          <p:nvPr/>
        </p:nvSpPr>
        <p:spPr>
          <a:xfrm>
            <a:off x="7223760" y="2240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Practise on Apple’s footage before your own (p. 19).</a:t>
            </a:r>
            <a:endParaRPr lang="en-US" sz="1400" dirty="0"/>
          </a:p>
        </p:txBody>
      </p:sp>
      <p:sp>
        <p:nvSpPr>
          <p:cNvPr id="13" name="card-126"/>
          <p:cNvSpPr/>
          <p:nvPr/>
        </p:nvSpPr>
        <p:spPr>
          <a:xfrm>
            <a:off x="548640" y="301752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pic>
        <p:nvPicPr>
          <p:cNvPr id="14" name="icon-12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01568"/>
            <a:ext cx="548640" cy="548640"/>
          </a:xfrm>
          <a:prstGeom prst="rect">
            <a:avLst/>
          </a:prstGeom>
        </p:spPr>
      </p:pic>
      <p:sp>
        <p:nvSpPr>
          <p:cNvPr id="15" name="tag-128"/>
          <p:cNvSpPr txBox="1"/>
          <p:nvPr/>
        </p:nvSpPr>
        <p:spPr>
          <a:xfrm>
            <a:off x="1600200" y="3182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FREE · YOUTUBE</a:t>
            </a:r>
            <a:endParaRPr lang="en-US" sz="1100" dirty="0"/>
          </a:p>
        </p:txBody>
      </p:sp>
      <p:sp>
        <p:nvSpPr>
          <p:cNvPr id="16" name="h-129"/>
          <p:cNvSpPr txBox="1"/>
          <p:nvPr/>
        </p:nvSpPr>
        <p:spPr>
          <a:xfrm>
            <a:off x="160020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Ripple Training</a:t>
            </a:r>
            <a:endParaRPr lang="en-US" sz="1800" dirty="0"/>
          </a:p>
        </p:txBody>
      </p:sp>
      <p:sp>
        <p:nvSpPr>
          <p:cNvPr id="17" name="b-130"/>
          <p:cNvSpPr txBox="1"/>
          <p:nvPr/>
        </p:nvSpPr>
        <p:spPr>
          <a:xfrm>
            <a:off x="1600200" y="3794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Clear, structured FCP lessons and “what’s new” videos.</a:t>
            </a:r>
            <a:endParaRPr lang="en-US" sz="1400" dirty="0"/>
          </a:p>
        </p:txBody>
      </p:sp>
      <p:sp>
        <p:nvSpPr>
          <p:cNvPr id="18" name="card-131"/>
          <p:cNvSpPr/>
          <p:nvPr/>
        </p:nvSpPr>
        <p:spPr>
          <a:xfrm>
            <a:off x="6172200" y="301752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pic>
        <p:nvPicPr>
          <p:cNvPr id="19" name="icon-13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401568"/>
            <a:ext cx="548640" cy="548640"/>
          </a:xfrm>
          <a:prstGeom prst="rect">
            <a:avLst/>
          </a:prstGeom>
        </p:spPr>
      </p:pic>
      <p:sp>
        <p:nvSpPr>
          <p:cNvPr id="20" name="tag-133"/>
          <p:cNvSpPr txBox="1"/>
          <p:nvPr/>
        </p:nvSpPr>
        <p:spPr>
          <a:xfrm>
            <a:off x="7223760" y="3182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FREE · YOUTUBE</a:t>
            </a:r>
            <a:endParaRPr lang="en-US" sz="1100" dirty="0"/>
          </a:p>
        </p:txBody>
      </p:sp>
      <p:sp>
        <p:nvSpPr>
          <p:cNvPr id="21" name="h-134"/>
          <p:cNvSpPr txBox="1"/>
          <p:nvPr/>
        </p:nvSpPr>
        <p:spPr>
          <a:xfrm>
            <a:off x="722376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Dylan Bates (The Final Cut Bro)</a:t>
            </a:r>
            <a:endParaRPr lang="en-US" sz="1800" dirty="0"/>
          </a:p>
        </p:txBody>
      </p:sp>
      <p:sp>
        <p:nvSpPr>
          <p:cNvPr id="22" name="b-135"/>
          <p:cNvSpPr txBox="1"/>
          <p:nvPr/>
        </p:nvSpPr>
        <p:spPr>
          <a:xfrm>
            <a:off x="7223760" y="3794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Practical tips, workflows and shortcuts.</a:t>
            </a:r>
            <a:endParaRPr lang="en-US" sz="1400" dirty="0"/>
          </a:p>
        </p:txBody>
      </p:sp>
      <p:sp>
        <p:nvSpPr>
          <p:cNvPr id="23" name="card-136"/>
          <p:cNvSpPr/>
          <p:nvPr/>
        </p:nvSpPr>
        <p:spPr>
          <a:xfrm>
            <a:off x="548640" y="457200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pic>
        <p:nvPicPr>
          <p:cNvPr id="24" name="icon-13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56048"/>
            <a:ext cx="548640" cy="548640"/>
          </a:xfrm>
          <a:prstGeom prst="rect">
            <a:avLst/>
          </a:prstGeom>
        </p:spPr>
      </p:pic>
      <p:sp>
        <p:nvSpPr>
          <p:cNvPr id="25" name="tag-138"/>
          <p:cNvSpPr txBox="1"/>
          <p:nvPr/>
        </p:nvSpPr>
        <p:spPr>
          <a:xfrm>
            <a:off x="1600200" y="4736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FREE · YOUTUBE</a:t>
            </a:r>
            <a:endParaRPr lang="en-US" sz="1100" dirty="0"/>
          </a:p>
        </p:txBody>
      </p:sp>
      <p:sp>
        <p:nvSpPr>
          <p:cNvPr id="26" name="h-139"/>
          <p:cNvSpPr txBox="1"/>
          <p:nvPr/>
        </p:nvSpPr>
        <p:spPr>
          <a:xfrm>
            <a:off x="1600200" y="4983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Primal Video</a:t>
            </a:r>
            <a:endParaRPr lang="en-US" sz="1800" dirty="0"/>
          </a:p>
        </p:txBody>
      </p:sp>
      <p:sp>
        <p:nvSpPr>
          <p:cNvPr id="27" name="b-140"/>
          <p:cNvSpPr txBox="1"/>
          <p:nvPr/>
        </p:nvSpPr>
        <p:spPr>
          <a:xfrm>
            <a:off x="1600200" y="5349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Beginner FCP guides plus YouTube growth advice.</a:t>
            </a:r>
            <a:endParaRPr lang="en-US" sz="1400" dirty="0"/>
          </a:p>
        </p:txBody>
      </p:sp>
      <p:sp>
        <p:nvSpPr>
          <p:cNvPr id="28" name="card-141"/>
          <p:cNvSpPr/>
          <p:nvPr/>
        </p:nvSpPr>
        <p:spPr>
          <a:xfrm>
            <a:off x="6172200" y="457200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pic>
        <p:nvPicPr>
          <p:cNvPr id="29" name="icon-14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4956048"/>
            <a:ext cx="548640" cy="548640"/>
          </a:xfrm>
          <a:prstGeom prst="rect">
            <a:avLst/>
          </a:prstGeom>
        </p:spPr>
      </p:pic>
      <p:sp>
        <p:nvSpPr>
          <p:cNvPr id="30" name="tag-143"/>
          <p:cNvSpPr txBox="1"/>
          <p:nvPr/>
        </p:nvSpPr>
        <p:spPr>
          <a:xfrm>
            <a:off x="7223760" y="4736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PAID · OPTIONAL</a:t>
            </a:r>
            <a:endParaRPr lang="en-US" sz="1100" dirty="0"/>
          </a:p>
        </p:txBody>
      </p:sp>
      <p:sp>
        <p:nvSpPr>
          <p:cNvPr id="31" name="h-144"/>
          <p:cNvSpPr txBox="1"/>
          <p:nvPr/>
        </p:nvSpPr>
        <p:spPr>
          <a:xfrm>
            <a:off x="7223760" y="4983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Apple Pro Training Series</a:t>
            </a:r>
            <a:endParaRPr lang="en-US" sz="1800" dirty="0"/>
          </a:p>
        </p:txBody>
      </p:sp>
      <p:sp>
        <p:nvSpPr>
          <p:cNvPr id="32" name="b-145"/>
          <p:cNvSpPr txBox="1"/>
          <p:nvPr/>
        </p:nvSpPr>
        <p:spPr>
          <a:xfrm>
            <a:off x="7223760" y="5349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Official Peachpit book with practice media. LinkedIn Learning is another option.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146"/>
          <p:cNvSpPr txBox="1"/>
          <p:nvPr/>
        </p:nvSpPr>
        <p:spPr>
          <a:xfrm>
            <a:off x="54864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1"/>
                </a:solidFill>
              </a:rPr>
              <a:t>WEEK 1 · DAYS 1–7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editing</a:t>
            </a:r>
            <a:endParaRPr lang="en-US" sz="4400" dirty="0"/>
          </a:p>
        </p:txBody>
      </p:sp>
      <p:sp>
        <p:nvSpPr>
          <p:cNvPr id="4" name="goal-147"/>
          <p:cNvSpPr txBox="1"/>
          <p:nvPr/>
        </p:nvSpPr>
        <p:spPr>
          <a:xfrm>
            <a:off x="548640" y="36118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Learn the interface and the basic edit: import, cut, audio, captions, export.</a:t>
            </a:r>
            <a:endParaRPr lang="en-US" sz="1800" dirty="0"/>
          </a:p>
        </p:txBody>
      </p:sp>
      <p:sp>
        <p:nvSpPr>
          <p:cNvPr id="5" name="card-148"/>
          <p:cNvSpPr/>
          <p:nvPr/>
        </p:nvSpPr>
        <p:spPr>
          <a:xfrm>
            <a:off x="7772400" y="146304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6" name="label-149"/>
          <p:cNvSpPr txBox="1"/>
          <p:nvPr/>
        </p:nvSpPr>
        <p:spPr>
          <a:xfrm>
            <a:off x="809244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UPLOAD TARGET</a:t>
            </a:r>
            <a:endParaRPr lang="en-US" sz="1100" dirty="0"/>
          </a:p>
        </p:txBody>
      </p:sp>
      <p:sp>
        <p:nvSpPr>
          <p:cNvPr id="7" name="b-150"/>
          <p:cNvSpPr txBox="1"/>
          <p:nvPr/>
        </p:nvSpPr>
        <p:spPr>
          <a:xfrm>
            <a:off x="809244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simple vertical Short every day (15–60 sec)</a:t>
            </a:r>
            <a:endParaRPr lang="en-US" sz="1600" dirty="0"/>
          </a:p>
        </p:txBody>
      </p:sp>
      <p:sp>
        <p:nvSpPr>
          <p:cNvPr id="8" name="card-151"/>
          <p:cNvSpPr/>
          <p:nvPr/>
        </p:nvSpPr>
        <p:spPr>
          <a:xfrm>
            <a:off x="7772400" y="361188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9" name="label-152"/>
          <p:cNvSpPr txBox="1"/>
          <p:nvPr/>
        </p:nvSpPr>
        <p:spPr>
          <a:xfrm>
            <a:off x="809244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END-OF-WEEK CHECK</a:t>
            </a:r>
            <a:endParaRPr lang="en-US" sz="1100" dirty="0"/>
          </a:p>
        </p:txBody>
      </p:sp>
      <p:sp>
        <p:nvSpPr>
          <p:cNvPr id="10" name="b-153"/>
          <p:cNvSpPr txBox="1"/>
          <p:nvPr/>
        </p:nvSpPr>
        <p:spPr>
          <a:xfrm>
            <a:off x="8092440" y="4160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You can make a 30-second captioned Short in under 45 minutes</a:t>
            </a:r>
            <a:endParaRPr lang="en-US" sz="1600" dirty="0"/>
          </a:p>
        </p:txBody>
      </p:sp>
      <p:sp>
        <p:nvSpPr>
          <p:cNvPr id="11" name="daylist-154"/>
          <p:cNvSpPr txBox="1"/>
          <p:nvPr/>
        </p:nvSpPr>
        <p:spPr>
          <a:xfrm>
            <a:off x="548640" y="4526280"/>
            <a:ext cx="6766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  Meet the Final Cut Pro interface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  Import, organise and create a vertical project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3  Add clips to the magnetic timeline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4  Cut and trim like a pro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5  Clean, balanced audio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6  Titles and automatic captions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7  Export and upload to YouTube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155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156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Final Cut Pro interface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everything lives before you edit anything.</a:t>
            </a:r>
            <a:endParaRPr lang="en-US" sz="1600" dirty="0"/>
          </a:p>
        </p:txBody>
      </p:sp>
      <p:sp>
        <p:nvSpPr>
          <p:cNvPr id="6" name="label-157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158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Open FCP and create a library (File &gt; New &gt; Library)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Find the four main areas: browser, viewer, timeline, inspector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Open the demo project (p. 19) and play it with the Spacebar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Show or hide the inspector with Cmd+4 and the Libraries sidebar with Cmd+1</a:t>
            </a:r>
            <a:endParaRPr lang="en-US" sz="1500" dirty="0"/>
          </a:p>
        </p:txBody>
      </p:sp>
      <p:sp>
        <p:nvSpPr>
          <p:cNvPr id="8" name="tryit-card-159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160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161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Skim the demo footage by moving the pointer over clips, then play the timeline.</a:t>
            </a:r>
            <a:endParaRPr lang="en-US" sz="1400" dirty="0"/>
          </a:p>
        </p:txBody>
      </p:sp>
      <p:sp>
        <p:nvSpPr>
          <p:cNvPr id="11" name="chip-162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163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164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Short: a talking-head intro to your channel</a:t>
            </a:r>
            <a:endParaRPr lang="en-US" sz="1200" dirty="0"/>
          </a:p>
        </p:txBody>
      </p:sp>
      <p:sp>
        <p:nvSpPr>
          <p:cNvPr id="14" name="chip-165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166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167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Space · Cmd+4 · Cmd+1</a:t>
            </a:r>
            <a:endParaRPr lang="en-US" sz="1200" dirty="0"/>
          </a:p>
        </p:txBody>
      </p:sp>
      <p:sp>
        <p:nvSpPr>
          <p:cNvPr id="17" name="chip-168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169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170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7–19</a:t>
            </a:r>
            <a:endParaRPr lang="en-US" sz="1200" dirty="0"/>
          </a:p>
        </p:txBody>
      </p:sp>
      <p:sp>
        <p:nvSpPr>
          <p:cNvPr id="20" name="image-frame-171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172" descr="Screenshot from the Final Cut Pro User Guide,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0895" y="1737360"/>
            <a:ext cx="3534770" cy="2743200"/>
          </a:xfrm>
          <a:prstGeom prst="rect">
            <a:avLst/>
          </a:prstGeom>
        </p:spPr>
      </p:pic>
      <p:sp>
        <p:nvSpPr>
          <p:cNvPr id="22" name="caption-173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14</a:t>
            </a:r>
            <a:endParaRPr lang="en-US" sz="1000" dirty="0"/>
          </a:p>
        </p:txBody>
      </p:sp>
      <p:sp>
        <p:nvSpPr>
          <p:cNvPr id="23" name="notes-card-174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175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176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177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178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Import, organise and create a vertical project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footage in, keep it tidy, and set up a 9:16 timeline.</a:t>
            </a:r>
            <a:endParaRPr lang="en-US" sz="1600" dirty="0"/>
          </a:p>
        </p:txBody>
      </p:sp>
      <p:sp>
        <p:nvSpPr>
          <p:cNvPr id="6" name="label-179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180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Import with Cmd+I, or drag files from Finder into an event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Mark good takes as Favourite (F) and add keywords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New project (Cmd+N) &gt; Use Custom Settings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Set the resolution to Vertical 1080×1920 at 30 fps for Shorts</a:t>
            </a:r>
            <a:endParaRPr lang="en-US" sz="1500" dirty="0"/>
          </a:p>
        </p:txBody>
      </p:sp>
      <p:sp>
        <p:nvSpPr>
          <p:cNvPr id="8" name="tryit-card-181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182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183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Import 10 clips, favourite your 3 best, and create a project called “Short-Template”.</a:t>
            </a:r>
            <a:endParaRPr lang="en-US" sz="1400" dirty="0"/>
          </a:p>
        </p:txBody>
      </p:sp>
      <p:sp>
        <p:nvSpPr>
          <p:cNvPr id="11" name="chip-184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185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186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187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188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189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Cmd+I · Cmd+N · F</a:t>
            </a:r>
            <a:endParaRPr lang="en-US" sz="1200" dirty="0"/>
          </a:p>
        </p:txBody>
      </p:sp>
      <p:sp>
        <p:nvSpPr>
          <p:cNvPr id="17" name="chip-190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191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192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21–38, 89, 120–127</a:t>
            </a:r>
            <a:endParaRPr lang="en-US" sz="1200" dirty="0"/>
          </a:p>
        </p:txBody>
      </p:sp>
      <p:sp>
        <p:nvSpPr>
          <p:cNvPr id="20" name="image-frame-193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194" descr="Screenshot from the Final Cut Pro User Guide,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0710" y="1737360"/>
            <a:ext cx="4515140" cy="2743200"/>
          </a:xfrm>
          <a:prstGeom prst="rect">
            <a:avLst/>
          </a:prstGeom>
        </p:spPr>
      </p:pic>
      <p:sp>
        <p:nvSpPr>
          <p:cNvPr id="22" name="caption-195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21</a:t>
            </a:r>
            <a:endParaRPr lang="en-US" sz="1000" dirty="0"/>
          </a:p>
        </p:txBody>
      </p:sp>
      <p:sp>
        <p:nvSpPr>
          <p:cNvPr id="23" name="notes-card-196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197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198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199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200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clips to the magnetic timeline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rough cut with the four basic edit types.</a:t>
            </a:r>
            <a:endParaRPr lang="en-US" sz="1600" dirty="0"/>
          </a:p>
        </p:txBody>
      </p:sp>
      <p:sp>
        <p:nvSpPr>
          <p:cNvPr id="6" name="label-201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202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E appends the selection to the end of the timeline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W inserts at the playhead; D overwrites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Q connects B-roll above the main storyline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I and O to choose only part of a clip before you add it</a:t>
            </a:r>
            <a:endParaRPr lang="en-US" sz="1500" dirty="0"/>
          </a:p>
        </p:txBody>
      </p:sp>
      <p:sp>
        <p:nvSpPr>
          <p:cNvPr id="8" name="tryit-card-203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204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205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Make a 30-second rough cut using only the keyboard: I, O, E, W, Q.</a:t>
            </a:r>
            <a:endParaRPr lang="en-US" sz="1400" dirty="0"/>
          </a:p>
        </p:txBody>
      </p:sp>
      <p:sp>
        <p:nvSpPr>
          <p:cNvPr id="11" name="chip-206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207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208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209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210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211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 · W · Q · D · I · O</a:t>
            </a:r>
            <a:endParaRPr lang="en-US" sz="1200" dirty="0"/>
          </a:p>
        </p:txBody>
      </p:sp>
      <p:sp>
        <p:nvSpPr>
          <p:cNvPr id="17" name="chip-212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213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214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70, 136–155</a:t>
            </a:r>
            <a:endParaRPr lang="en-US" sz="1200" dirty="0"/>
          </a:p>
        </p:txBody>
      </p:sp>
      <p:sp>
        <p:nvSpPr>
          <p:cNvPr id="20" name="image-frame-215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216" descr="Screenshot from the Final Cut Pro User Guide, page 1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3512" y="1737360"/>
            <a:ext cx="4169535" cy="2743200"/>
          </a:xfrm>
          <a:prstGeom prst="rect">
            <a:avLst/>
          </a:prstGeom>
        </p:spPr>
      </p:pic>
      <p:sp>
        <p:nvSpPr>
          <p:cNvPr id="22" name="caption-217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137</a:t>
            </a:r>
            <a:endParaRPr lang="en-US" sz="1000" dirty="0"/>
          </a:p>
        </p:txBody>
      </p:sp>
      <p:sp>
        <p:nvSpPr>
          <p:cNvPr id="23" name="notes-card-218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219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220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22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22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and trim like a pro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pacing with jump cuts and precise trims.</a:t>
            </a:r>
            <a:endParaRPr lang="en-US" sz="1600" dirty="0"/>
          </a:p>
        </p:txBody>
      </p:sp>
      <p:sp>
        <p:nvSpPr>
          <p:cNvPr id="6" name="label-223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224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Cmd+B cuts at the playhead; B switches to the Blade tool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Opt+[ and Opt+] trim a clip’s start or end to the playhead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the Trim tool (T) for roll, slip and slide edits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Play with J, K, L; tap L twice for double speed</a:t>
            </a:r>
            <a:endParaRPr lang="en-US" sz="1500" dirty="0"/>
          </a:p>
        </p:txBody>
      </p:sp>
      <p:sp>
        <p:nvSpPr>
          <p:cNvPr id="8" name="tryit-card-225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226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227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Remove every pause and “um” from a 1-minute talking clip.</a:t>
            </a:r>
            <a:endParaRPr lang="en-US" sz="1400" dirty="0"/>
          </a:p>
        </p:txBody>
      </p:sp>
      <p:sp>
        <p:nvSpPr>
          <p:cNvPr id="11" name="chip-228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229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230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with tight jump cuts</a:t>
            </a:r>
            <a:endParaRPr lang="en-US" sz="1200" dirty="0"/>
          </a:p>
        </p:txBody>
      </p:sp>
      <p:sp>
        <p:nvSpPr>
          <p:cNvPr id="14" name="chip-231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232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233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Cmd+B · Opt+[ · Opt+] · T</a:t>
            </a:r>
            <a:endParaRPr lang="en-US" sz="1200" dirty="0"/>
          </a:p>
        </p:txBody>
      </p:sp>
      <p:sp>
        <p:nvSpPr>
          <p:cNvPr id="17" name="chip-234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235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236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162–187</a:t>
            </a:r>
            <a:endParaRPr lang="en-US" sz="1200" dirty="0"/>
          </a:p>
        </p:txBody>
      </p:sp>
      <p:sp>
        <p:nvSpPr>
          <p:cNvPr id="20" name="image-frame-237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238" descr="Screenshot from the Final Cut Pro User Guide, page 16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378287"/>
            <a:ext cx="4754880" cy="1461345"/>
          </a:xfrm>
          <a:prstGeom prst="rect">
            <a:avLst/>
          </a:prstGeom>
        </p:spPr>
      </p:pic>
      <p:sp>
        <p:nvSpPr>
          <p:cNvPr id="22" name="caption-239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169</a:t>
            </a:r>
            <a:endParaRPr lang="en-US" sz="1000" dirty="0"/>
          </a:p>
        </p:txBody>
      </p:sp>
      <p:sp>
        <p:nvSpPr>
          <p:cNvPr id="23" name="notes-card-240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241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242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243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244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5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balanced audio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sound matters more than good picture.</a:t>
            </a:r>
            <a:endParaRPr lang="en-US" sz="1600" dirty="0"/>
          </a:p>
        </p:txBody>
      </p:sp>
      <p:sp>
        <p:nvSpPr>
          <p:cNvPr id="6" name="label-245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246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Drag the volume line on a clip to set its level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Drag the fade handles at the edges for smooth fades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Inspector &gt; Audio &gt; Voice Isolation removes background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Opt+Cmd+A runs Enhance Audio; keep music around −20 dB under voice</a:t>
            </a:r>
            <a:endParaRPr lang="en-US" sz="1500" dirty="0"/>
          </a:p>
        </p:txBody>
      </p:sp>
      <p:sp>
        <p:nvSpPr>
          <p:cNvPr id="8" name="tryit-card-247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248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249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Add music under your voice and fade it in and out.</a:t>
            </a:r>
            <a:endParaRPr lang="en-US" sz="1400" dirty="0"/>
          </a:p>
        </p:txBody>
      </p:sp>
      <p:sp>
        <p:nvSpPr>
          <p:cNvPr id="11" name="chip-250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251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252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with music under the voice</a:t>
            </a:r>
            <a:endParaRPr lang="en-US" sz="1200" dirty="0"/>
          </a:p>
        </p:txBody>
      </p:sp>
      <p:sp>
        <p:nvSpPr>
          <p:cNvPr id="14" name="chip-253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254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255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Opt+Cmd+A · Ctrl+S</a:t>
            </a:r>
            <a:endParaRPr lang="en-US" sz="1200" dirty="0"/>
          </a:p>
        </p:txBody>
      </p:sp>
      <p:sp>
        <p:nvSpPr>
          <p:cNvPr id="17" name="chip-256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257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258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220–251, 276–278</a:t>
            </a:r>
            <a:endParaRPr lang="en-US" sz="1200" dirty="0"/>
          </a:p>
        </p:txBody>
      </p:sp>
      <p:sp>
        <p:nvSpPr>
          <p:cNvPr id="20" name="image-frame-259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260" descr="Screenshot from the Final Cut Pro User Guide, page 27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4975" y="1737360"/>
            <a:ext cx="3846610" cy="2743200"/>
          </a:xfrm>
          <a:prstGeom prst="rect">
            <a:avLst/>
          </a:prstGeom>
        </p:spPr>
      </p:pic>
      <p:sp>
        <p:nvSpPr>
          <p:cNvPr id="22" name="caption-261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277</a:t>
            </a:r>
            <a:endParaRPr lang="en-US" sz="1000" dirty="0"/>
          </a:p>
        </p:txBody>
      </p:sp>
      <p:sp>
        <p:nvSpPr>
          <p:cNvPr id="23" name="notes-card-262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263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264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265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266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6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Titles and automatic captions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Shorts are watched without sound, so add captions.</a:t>
            </a:r>
            <a:endParaRPr lang="en-US" sz="1600" dirty="0"/>
          </a:p>
        </p:txBody>
      </p:sp>
      <p:sp>
        <p:nvSpPr>
          <p:cNvPr id="6" name="label-267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268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Ctrl+T adds a basic title; Ctrl+Shift+T a lower third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Select speech clips, then press Shift+Cmd+S (Generate Captions &gt; Subtitles)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Edit the text in the inspector and fix any wrong words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Captions need an Apple silicon Mac and U.S. English (p. 385)</a:t>
            </a:r>
            <a:endParaRPr lang="en-US" sz="1500" dirty="0"/>
          </a:p>
        </p:txBody>
      </p:sp>
      <p:sp>
        <p:nvSpPr>
          <p:cNvPr id="8" name="tryit-card-269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270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271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Generate captions for a Short and restyle them big and bold.</a:t>
            </a:r>
            <a:endParaRPr lang="en-US" sz="1400" dirty="0"/>
          </a:p>
        </p:txBody>
      </p:sp>
      <p:sp>
        <p:nvSpPr>
          <p:cNvPr id="11" name="chip-272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273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274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with captions</a:t>
            </a:r>
            <a:endParaRPr lang="en-US" sz="1200" dirty="0"/>
          </a:p>
        </p:txBody>
      </p:sp>
      <p:sp>
        <p:nvSpPr>
          <p:cNvPr id="14" name="chip-275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276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277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Ctrl+T · Shift+Cmd+S</a:t>
            </a:r>
            <a:endParaRPr lang="en-US" sz="1200" dirty="0"/>
          </a:p>
        </p:txBody>
      </p:sp>
      <p:sp>
        <p:nvSpPr>
          <p:cNvPr id="17" name="chip-278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279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280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287, 355, 385–387</a:t>
            </a:r>
            <a:endParaRPr lang="en-US" sz="1200" dirty="0"/>
          </a:p>
        </p:txBody>
      </p:sp>
      <p:sp>
        <p:nvSpPr>
          <p:cNvPr id="20" name="image-frame-281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282" descr="Screenshot from the Final Cut Pro User Guide, page 38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7151" y="1737360"/>
            <a:ext cx="3842257" cy="2743200"/>
          </a:xfrm>
          <a:prstGeom prst="rect">
            <a:avLst/>
          </a:prstGeom>
        </p:spPr>
      </p:pic>
      <p:sp>
        <p:nvSpPr>
          <p:cNvPr id="22" name="caption-283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385</a:t>
            </a:r>
            <a:endParaRPr lang="en-US" sz="1000" dirty="0"/>
          </a:p>
        </p:txBody>
      </p:sp>
      <p:sp>
        <p:nvSpPr>
          <p:cNvPr id="23" name="notes-card-284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285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286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287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day-num-288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and upload to YouTube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loop: from timeline to YouTube.</a:t>
            </a:r>
            <a:endParaRPr lang="en-US" sz="1600" dirty="0"/>
          </a:p>
        </p:txBody>
      </p:sp>
      <p:sp>
        <p:nvSpPr>
          <p:cNvPr id="6" name="label-289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290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Click the Share button &gt; Social Platforms (p. 894)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For Shorts, turn on Burn in captions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Choose Multi-pass for quality, or Single-pass for speed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Upload the file in YouTube Studio and add #Shorts</a:t>
            </a:r>
            <a:endParaRPr lang="en-US" sz="1500" dirty="0"/>
          </a:p>
        </p:txBody>
      </p:sp>
      <p:sp>
        <p:nvSpPr>
          <p:cNvPr id="8" name="tryit-card-291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292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293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Export and upload today’s Short, then review the whole week.</a:t>
            </a:r>
            <a:endParaRPr lang="en-US" sz="1400" dirty="0"/>
          </a:p>
        </p:txBody>
      </p:sp>
      <p:sp>
        <p:nvSpPr>
          <p:cNvPr id="11" name="chip-294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295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296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Short, plus a review of your week</a:t>
            </a:r>
            <a:endParaRPr lang="en-US" sz="1200" dirty="0"/>
          </a:p>
        </p:txBody>
      </p:sp>
      <p:sp>
        <p:nvSpPr>
          <p:cNvPr id="14" name="chip-297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298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299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Cmd+E (default share)</a:t>
            </a:r>
            <a:endParaRPr lang="en-US" sz="1200" dirty="0"/>
          </a:p>
        </p:txBody>
      </p:sp>
      <p:sp>
        <p:nvSpPr>
          <p:cNvPr id="17" name="chip-300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301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302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806–810, 894</a:t>
            </a:r>
            <a:endParaRPr lang="en-US" sz="1200" dirty="0"/>
          </a:p>
        </p:txBody>
      </p:sp>
      <p:sp>
        <p:nvSpPr>
          <p:cNvPr id="20" name="image-frame-303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304" descr="Screenshot from the Final Cut Pro User Guide, page 8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6887" y="1737360"/>
            <a:ext cx="1882787" cy="2743200"/>
          </a:xfrm>
          <a:prstGeom prst="rect">
            <a:avLst/>
          </a:prstGeom>
        </p:spPr>
      </p:pic>
      <p:sp>
        <p:nvSpPr>
          <p:cNvPr id="22" name="caption-305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806</a:t>
            </a:r>
            <a:endParaRPr lang="en-US" sz="1000" dirty="0"/>
          </a:p>
        </p:txBody>
      </p:sp>
      <p:sp>
        <p:nvSpPr>
          <p:cNvPr id="23" name="notes-card-306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307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308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309"/>
          <p:cNvSpPr txBox="1"/>
          <p:nvPr/>
        </p:nvSpPr>
        <p:spPr>
          <a:xfrm>
            <a:off x="54864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2"/>
                </a:solidFill>
              </a:rPr>
              <a:t>WEEK 2 · DAYS 8–14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and polish</a:t>
            </a:r>
            <a:endParaRPr lang="en-US" sz="4400" dirty="0"/>
          </a:p>
        </p:txBody>
      </p:sp>
      <p:sp>
        <p:nvSpPr>
          <p:cNvPr id="4" name="goal-310"/>
          <p:cNvSpPr txBox="1"/>
          <p:nvPr/>
        </p:nvSpPr>
        <p:spPr>
          <a:xfrm>
            <a:off x="548640" y="36118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Work faster with shortcuts and templates, and make your clips look and sound better.</a:t>
            </a:r>
            <a:endParaRPr lang="en-US" sz="1800" dirty="0"/>
          </a:p>
        </p:txBody>
      </p:sp>
      <p:sp>
        <p:nvSpPr>
          <p:cNvPr id="5" name="card-311"/>
          <p:cNvSpPr/>
          <p:nvPr/>
        </p:nvSpPr>
        <p:spPr>
          <a:xfrm>
            <a:off x="7772400" y="146304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6" name="label-312"/>
          <p:cNvSpPr txBox="1"/>
          <p:nvPr/>
        </p:nvSpPr>
        <p:spPr>
          <a:xfrm>
            <a:off x="809244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UPLOAD TARGET</a:t>
            </a:r>
            <a:endParaRPr lang="en-US" sz="1100" dirty="0"/>
          </a:p>
        </p:txBody>
      </p:sp>
      <p:sp>
        <p:nvSpPr>
          <p:cNvPr id="7" name="b-313"/>
          <p:cNvSpPr txBox="1"/>
          <p:nvPr/>
        </p:nvSpPr>
        <p:spPr>
          <a:xfrm>
            <a:off x="809244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Shorts daily, plus your first long video (3–6 min) on Day 14</a:t>
            </a:r>
            <a:endParaRPr lang="en-US" sz="1600" dirty="0"/>
          </a:p>
        </p:txBody>
      </p:sp>
      <p:sp>
        <p:nvSpPr>
          <p:cNvPr id="8" name="card-314"/>
          <p:cNvSpPr/>
          <p:nvPr/>
        </p:nvSpPr>
        <p:spPr>
          <a:xfrm>
            <a:off x="7772400" y="361188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9" name="label-315"/>
          <p:cNvSpPr txBox="1"/>
          <p:nvPr/>
        </p:nvSpPr>
        <p:spPr>
          <a:xfrm>
            <a:off x="809244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END-OF-WEEK CHECK</a:t>
            </a:r>
            <a:endParaRPr lang="en-US" sz="1100" dirty="0"/>
          </a:p>
        </p:txBody>
      </p:sp>
      <p:sp>
        <p:nvSpPr>
          <p:cNvPr id="10" name="b-316"/>
          <p:cNvSpPr txBox="1"/>
          <p:nvPr/>
        </p:nvSpPr>
        <p:spPr>
          <a:xfrm>
            <a:off x="8092440" y="4160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Short takes under 30 minutes using your template</a:t>
            </a:r>
            <a:endParaRPr lang="en-US" sz="1600" dirty="0"/>
          </a:p>
        </p:txBody>
      </p:sp>
      <p:sp>
        <p:nvSpPr>
          <p:cNvPr id="11" name="daylist-317"/>
          <p:cNvSpPr txBox="1"/>
          <p:nvPr/>
        </p:nvSpPr>
        <p:spPr>
          <a:xfrm>
            <a:off x="548640" y="4526280"/>
            <a:ext cx="6766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8  Keyboard shortcuts and the Command Editor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9  Transitions and effects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10  Speed ramps, holds and freeze frames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11  Transform, crop and Smart Conform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12  Colour basics: Enhance Light and Color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13  Compound clips and your Short template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14  Roles, markers and YouTube chapters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318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319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 and the Command Editor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speed comes from your hands, not the mouse.</a:t>
            </a:r>
            <a:endParaRPr lang="en-US" sz="1600" dirty="0"/>
          </a:p>
        </p:txBody>
      </p:sp>
      <p:sp>
        <p:nvSpPr>
          <p:cNvPr id="6" name="label-320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321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Open the Command Editor with Opt+Cmd+K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Click a key to see what it does; search for any command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Learn the tools: A select, B blade, T trim, P position, R range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Shift+Z fits the timeline; Cmd+ + and Cmd+ − zoom</a:t>
            </a:r>
            <a:endParaRPr lang="en-US" sz="1500" dirty="0"/>
          </a:p>
        </p:txBody>
      </p:sp>
      <p:sp>
        <p:nvSpPr>
          <p:cNvPr id="8" name="tryit-card-322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323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324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Edit today’s Short without touching a menu.</a:t>
            </a:r>
            <a:endParaRPr lang="en-US" sz="1400" dirty="0"/>
          </a:p>
        </p:txBody>
      </p:sp>
      <p:sp>
        <p:nvSpPr>
          <p:cNvPr id="11" name="chip-325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326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327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328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329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330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Opt+Cmd+K · Shift+Z · A B T P R</a:t>
            </a:r>
            <a:endParaRPr lang="en-US" sz="1200" dirty="0"/>
          </a:p>
        </p:txBody>
      </p:sp>
      <p:sp>
        <p:nvSpPr>
          <p:cNvPr id="17" name="chip-331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332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333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897–928</a:t>
            </a:r>
            <a:endParaRPr lang="en-US" sz="1200" dirty="0"/>
          </a:p>
        </p:txBody>
      </p:sp>
      <p:sp>
        <p:nvSpPr>
          <p:cNvPr id="20" name="image-frame-334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335" descr="Screenshot from the Final Cut Pro User Guide, page 9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853" y="1737360"/>
            <a:ext cx="3356854" cy="2743200"/>
          </a:xfrm>
          <a:prstGeom prst="rect">
            <a:avLst/>
          </a:prstGeom>
        </p:spPr>
      </p:pic>
      <p:sp>
        <p:nvSpPr>
          <p:cNvPr id="22" name="caption-336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924</a:t>
            </a:r>
            <a:endParaRPr lang="en-US" sz="1000" dirty="0"/>
          </a:p>
        </p:txBody>
      </p:sp>
      <p:sp>
        <p:nvSpPr>
          <p:cNvPr id="23" name="notes-card-337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338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339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340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341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9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 and effects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effects on purpose, not everywhere.</a:t>
            </a:r>
            <a:endParaRPr lang="en-US" sz="1600" dirty="0"/>
          </a:p>
        </p:txBody>
      </p:sp>
      <p:sp>
        <p:nvSpPr>
          <p:cNvPr id="6" name="label-342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343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Cmd+T adds the default Cross Dissolve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Ctrl+Cmd+5 opens the Transitions browser; Cmd+5 opens Effects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Drag an effect onto a clip, then adjust it in the inspector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Rule: one transition style per video, used rarely</a:t>
            </a:r>
            <a:endParaRPr lang="en-US" sz="1500" dirty="0"/>
          </a:p>
        </p:txBody>
      </p:sp>
      <p:sp>
        <p:nvSpPr>
          <p:cNvPr id="8" name="tryit-card-344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345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346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Try 5 transitions, then keep only the one that fits your style.</a:t>
            </a:r>
            <a:endParaRPr lang="en-US" sz="1400" dirty="0"/>
          </a:p>
        </p:txBody>
      </p:sp>
      <p:sp>
        <p:nvSpPr>
          <p:cNvPr id="11" name="chip-347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348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349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350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351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352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Cmd+T · Cmd+5 · Ctrl+Cmd+5</a:t>
            </a:r>
            <a:endParaRPr lang="en-US" sz="1200" dirty="0"/>
          </a:p>
        </p:txBody>
      </p:sp>
      <p:sp>
        <p:nvSpPr>
          <p:cNvPr id="17" name="chip-353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354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355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388–400, 418</a:t>
            </a:r>
            <a:endParaRPr lang="en-US" sz="1200" dirty="0"/>
          </a:p>
        </p:txBody>
      </p:sp>
      <p:sp>
        <p:nvSpPr>
          <p:cNvPr id="20" name="image-frame-356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357" descr="Screenshot from the Final Cut Pro User Guide, page 39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8169" y="1737360"/>
            <a:ext cx="3600221" cy="2743200"/>
          </a:xfrm>
          <a:prstGeom prst="rect">
            <a:avLst/>
          </a:prstGeom>
        </p:spPr>
      </p:pic>
      <p:sp>
        <p:nvSpPr>
          <p:cNvPr id="22" name="caption-358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390</a:t>
            </a:r>
            <a:endParaRPr lang="en-US" sz="1000" dirty="0"/>
          </a:p>
        </p:txBody>
      </p:sp>
      <p:sp>
        <p:nvSpPr>
          <p:cNvPr id="23" name="notes-card-359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360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361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362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363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ramps, holds and freeze frames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changes add energy to Shorts.</a:t>
            </a:r>
            <a:endParaRPr lang="en-US" sz="1600" dirty="0"/>
          </a:p>
        </p:txBody>
      </p:sp>
      <p:sp>
        <p:nvSpPr>
          <p:cNvPr id="6" name="label-364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365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Cmd+R shows the retime editor above a clip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Choose Slow, Fast or Custom from the retime menu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Shift+H adds a 2-second hold; Opt+F makes a freeze frame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Shift+N returns a range to normal (100%) speed</a:t>
            </a:r>
            <a:endParaRPr lang="en-US" sz="1500" dirty="0"/>
          </a:p>
        </p:txBody>
      </p:sp>
      <p:sp>
        <p:nvSpPr>
          <p:cNvPr id="8" name="tryit-card-366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367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368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Make a speed ramp: normal → fast → slow-motion on the key moment.</a:t>
            </a:r>
            <a:endParaRPr lang="en-US" sz="1400" dirty="0"/>
          </a:p>
        </p:txBody>
      </p:sp>
      <p:sp>
        <p:nvSpPr>
          <p:cNvPr id="11" name="chip-369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370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371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with a speed ramp</a:t>
            </a:r>
            <a:endParaRPr lang="en-US" sz="1200" dirty="0"/>
          </a:p>
        </p:txBody>
      </p:sp>
      <p:sp>
        <p:nvSpPr>
          <p:cNvPr id="14" name="chip-372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373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374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Cmd+R · Shift+H · Opt+F · Shift+N</a:t>
            </a:r>
            <a:endParaRPr lang="en-US" sz="1200" dirty="0"/>
          </a:p>
        </p:txBody>
      </p:sp>
      <p:sp>
        <p:nvSpPr>
          <p:cNvPr id="17" name="chip-375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376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377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151, 558–574</a:t>
            </a:r>
            <a:endParaRPr lang="en-US" sz="1200" dirty="0"/>
          </a:p>
        </p:txBody>
      </p:sp>
      <p:sp>
        <p:nvSpPr>
          <p:cNvPr id="20" name="image-frame-378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379" descr="Screenshot from the Final Cut Pro User Guide, page 55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525" y="1737360"/>
            <a:ext cx="3991510" cy="2743200"/>
          </a:xfrm>
          <a:prstGeom prst="rect">
            <a:avLst/>
          </a:prstGeom>
        </p:spPr>
      </p:pic>
      <p:sp>
        <p:nvSpPr>
          <p:cNvPr id="22" name="caption-380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559</a:t>
            </a:r>
            <a:endParaRPr lang="en-US" sz="1000" dirty="0"/>
          </a:p>
        </p:txBody>
      </p:sp>
      <p:sp>
        <p:nvSpPr>
          <p:cNvPr id="23" name="notes-card-381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382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383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384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385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Transform, crop and Smart Conform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 horizontal footage for vertical video.</a:t>
            </a:r>
            <a:endParaRPr lang="en-US" sz="1600" dirty="0"/>
          </a:p>
        </p:txBody>
      </p:sp>
      <p:sp>
        <p:nvSpPr>
          <p:cNvPr id="6" name="label-386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387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Transform in the viewer to move, scale and rotate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Crop or use Ken Burns for slow zoom movement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Select horizontal clips in a vertical project &gt; Modify &gt; Smart Conform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Adjust Transform &gt; Position if a face is still off-centre</a:t>
            </a:r>
            <a:endParaRPr lang="en-US" sz="1500" dirty="0"/>
          </a:p>
        </p:txBody>
      </p:sp>
      <p:sp>
        <p:nvSpPr>
          <p:cNvPr id="8" name="tryit-card-388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389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390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Turn a horizontal clip into a vertical Short with Smart Conform.</a:t>
            </a:r>
            <a:endParaRPr lang="en-US" sz="1400" dirty="0"/>
          </a:p>
        </p:txBody>
      </p:sp>
      <p:sp>
        <p:nvSpPr>
          <p:cNvPr id="11" name="chip-391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392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393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made from horizontal footage</a:t>
            </a:r>
            <a:endParaRPr lang="en-US" sz="1200" dirty="0"/>
          </a:p>
        </p:txBody>
      </p:sp>
      <p:sp>
        <p:nvSpPr>
          <p:cNvPr id="14" name="chip-394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395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396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Shift+T (transform)</a:t>
            </a:r>
            <a:endParaRPr lang="en-US" sz="1200" dirty="0"/>
          </a:p>
        </p:txBody>
      </p:sp>
      <p:sp>
        <p:nvSpPr>
          <p:cNvPr id="17" name="chip-397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398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399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401–405</a:t>
            </a:r>
            <a:endParaRPr lang="en-US" sz="1200" dirty="0"/>
          </a:p>
        </p:txBody>
      </p:sp>
      <p:sp>
        <p:nvSpPr>
          <p:cNvPr id="20" name="image-frame-400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401" descr="Screenshot from the Final Cut Pro User Guide, page 4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1768" y="1737360"/>
            <a:ext cx="1013025" cy="2743200"/>
          </a:xfrm>
          <a:prstGeom prst="rect">
            <a:avLst/>
          </a:prstGeom>
        </p:spPr>
      </p:pic>
      <p:sp>
        <p:nvSpPr>
          <p:cNvPr id="22" name="caption-402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405</a:t>
            </a:r>
            <a:endParaRPr lang="en-US" sz="1000" dirty="0"/>
          </a:p>
        </p:txBody>
      </p:sp>
      <p:sp>
        <p:nvSpPr>
          <p:cNvPr id="23" name="notes-card-403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404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405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406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407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basics: Enhance Light and Color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every clip look clean and consistent.</a:t>
            </a:r>
            <a:endParaRPr lang="en-US" sz="1600" dirty="0"/>
          </a:p>
        </p:txBody>
      </p:sp>
      <p:sp>
        <p:nvSpPr>
          <p:cNvPr id="6" name="label-408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409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Ctrl+Opt+Cmd+O applies Enhance Light and Color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Opt+Cmd+B turns Balance Color on or off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Opt+Cmd+M matches colour between two clips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Cmd+6 opens the Color inspector for fine tuning</a:t>
            </a:r>
            <a:endParaRPr lang="en-US" sz="1500" dirty="0"/>
          </a:p>
        </p:txBody>
      </p:sp>
      <p:sp>
        <p:nvSpPr>
          <p:cNvPr id="8" name="tryit-card-410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411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412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 one dark clip and one too-blue clip, then match them.</a:t>
            </a:r>
            <a:endParaRPr lang="en-US" sz="1400" dirty="0"/>
          </a:p>
        </p:txBody>
      </p:sp>
      <p:sp>
        <p:nvSpPr>
          <p:cNvPr id="11" name="chip-413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414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415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416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417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418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Ctrl+Opt+Cmd+O · Opt+Cmd+M · Cmd+6</a:t>
            </a:r>
            <a:endParaRPr lang="en-US" sz="1200" dirty="0"/>
          </a:p>
        </p:txBody>
      </p:sp>
      <p:sp>
        <p:nvSpPr>
          <p:cNvPr id="17" name="chip-419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420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421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708–715, 746–749</a:t>
            </a:r>
            <a:endParaRPr lang="en-US" sz="1200" dirty="0"/>
          </a:p>
        </p:txBody>
      </p:sp>
      <p:sp>
        <p:nvSpPr>
          <p:cNvPr id="20" name="image-frame-422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423" descr="Screenshot from the Final Cut Pro User Guide, page 70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9071" y="1737360"/>
            <a:ext cx="4518417" cy="2743200"/>
          </a:xfrm>
          <a:prstGeom prst="rect">
            <a:avLst/>
          </a:prstGeom>
        </p:spPr>
      </p:pic>
      <p:sp>
        <p:nvSpPr>
          <p:cNvPr id="22" name="caption-424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708</a:t>
            </a:r>
            <a:endParaRPr lang="en-US" sz="1000" dirty="0"/>
          </a:p>
        </p:txBody>
      </p:sp>
      <p:sp>
        <p:nvSpPr>
          <p:cNvPr id="23" name="notes-card-425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426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427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428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429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13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clips and your Short template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once and reuse every day.</a:t>
            </a:r>
            <a:endParaRPr lang="en-US" sz="1600" dirty="0"/>
          </a:p>
        </p:txBody>
      </p:sp>
      <p:sp>
        <p:nvSpPr>
          <p:cNvPr id="6" name="label-430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431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Select clips and press Opt+G to make a compound clip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Build a template: hook title, caption style, music, end card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Duplicate the project for each new Short (Cmd+D in the browser)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Save a favourite title style so it’s always one click away</a:t>
            </a:r>
            <a:endParaRPr lang="en-US" sz="1500" dirty="0"/>
          </a:p>
        </p:txBody>
      </p:sp>
      <p:sp>
        <p:nvSpPr>
          <p:cNvPr id="8" name="tryit-card-432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433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434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Build your “Short-Template” project and make today’s Short from it.</a:t>
            </a:r>
            <a:endParaRPr lang="en-US" sz="1400" dirty="0"/>
          </a:p>
        </p:txBody>
      </p:sp>
      <p:sp>
        <p:nvSpPr>
          <p:cNvPr id="11" name="chip-435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436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437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made from your template</a:t>
            </a:r>
            <a:endParaRPr lang="en-US" sz="1200" dirty="0"/>
          </a:p>
        </p:txBody>
      </p:sp>
      <p:sp>
        <p:nvSpPr>
          <p:cNvPr id="14" name="chip-438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439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440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Opt+G · Cmd+D</a:t>
            </a:r>
            <a:endParaRPr lang="en-US" sz="1200" dirty="0"/>
          </a:p>
        </p:txBody>
      </p:sp>
      <p:sp>
        <p:nvSpPr>
          <p:cNvPr id="17" name="chip-441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442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443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504–512</a:t>
            </a:r>
            <a:endParaRPr lang="en-US" sz="1200" dirty="0"/>
          </a:p>
        </p:txBody>
      </p:sp>
      <p:sp>
        <p:nvSpPr>
          <p:cNvPr id="20" name="image-frame-444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445" descr="Screenshot from the Final Cut Pro User Guide, page 5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9701" y="1737360"/>
            <a:ext cx="4217158" cy="2743200"/>
          </a:xfrm>
          <a:prstGeom prst="rect">
            <a:avLst/>
          </a:prstGeom>
        </p:spPr>
      </p:pic>
      <p:sp>
        <p:nvSpPr>
          <p:cNvPr id="22" name="caption-446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505</a:t>
            </a:r>
            <a:endParaRPr lang="en-US" sz="1000" dirty="0"/>
          </a:p>
        </p:txBody>
      </p:sp>
      <p:sp>
        <p:nvSpPr>
          <p:cNvPr id="23" name="notes-card-447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448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449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450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day-num-451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14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Roles, markers and YouTube chapters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longer videos and add chapters.</a:t>
            </a:r>
            <a:endParaRPr lang="en-US" sz="1600" dirty="0"/>
          </a:p>
        </p:txBody>
      </p:sp>
      <p:sp>
        <p:nvSpPr>
          <p:cNvPr id="6" name="label-452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453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M adds a marker; press M again to rename 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Change a marker to a chapter marker for YouTube chapters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Roles colour-code clips: dialogue, music, effects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the timeline index to find and hide roles</a:t>
            </a:r>
            <a:endParaRPr lang="en-US" sz="1500" dirty="0"/>
          </a:p>
        </p:txBody>
      </p:sp>
      <p:sp>
        <p:nvSpPr>
          <p:cNvPr id="8" name="tryit-card-454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455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456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Edit a 3–6 minute video with at least 3 chapter markers.</a:t>
            </a:r>
            <a:endParaRPr lang="en-US" sz="1400" dirty="0"/>
          </a:p>
        </p:txBody>
      </p:sp>
      <p:sp>
        <p:nvSpPr>
          <p:cNvPr id="11" name="chip-457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458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459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First long video</a:t>
            </a:r>
            <a:endParaRPr lang="en-US" sz="1200" dirty="0"/>
          </a:p>
        </p:txBody>
      </p:sp>
      <p:sp>
        <p:nvSpPr>
          <p:cNvPr id="14" name="chip-460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461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462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 · Opt+M</a:t>
            </a:r>
            <a:endParaRPr lang="en-US" sz="1200" dirty="0"/>
          </a:p>
        </p:txBody>
      </p:sp>
      <p:sp>
        <p:nvSpPr>
          <p:cNvPr id="17" name="chip-463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464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465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205–209, 478</a:t>
            </a:r>
            <a:endParaRPr lang="en-US" sz="1200" dirty="0"/>
          </a:p>
        </p:txBody>
      </p:sp>
      <p:sp>
        <p:nvSpPr>
          <p:cNvPr id="20" name="image-frame-466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467" descr="Screenshot from the Final Cut Pro User Guide, page 2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809342"/>
            <a:ext cx="4754880" cy="2599237"/>
          </a:xfrm>
          <a:prstGeom prst="rect">
            <a:avLst/>
          </a:prstGeom>
        </p:spPr>
      </p:pic>
      <p:sp>
        <p:nvSpPr>
          <p:cNvPr id="22" name="caption-468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205</a:t>
            </a:r>
            <a:endParaRPr lang="en-US" sz="1000" dirty="0"/>
          </a:p>
        </p:txBody>
      </p:sp>
      <p:sp>
        <p:nvSpPr>
          <p:cNvPr id="23" name="notes-card-469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470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471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472"/>
          <p:cNvSpPr txBox="1"/>
          <p:nvPr/>
        </p:nvSpPr>
        <p:spPr>
          <a:xfrm>
            <a:off x="54864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3"/>
                </a:solidFill>
              </a:rPr>
              <a:t>WEEK 3 · DAYS 15–21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tools</a:t>
            </a:r>
            <a:endParaRPr lang="en-US" sz="4400" dirty="0"/>
          </a:p>
        </p:txBody>
      </p:sp>
      <p:sp>
        <p:nvSpPr>
          <p:cNvPr id="4" name="goal-473"/>
          <p:cNvSpPr txBox="1"/>
          <p:nvPr/>
        </p:nvSpPr>
        <p:spPr>
          <a:xfrm>
            <a:off x="548640" y="36118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Masks, keying, tracking, multicam, music sync and thumbnails.</a:t>
            </a:r>
            <a:endParaRPr lang="en-US" sz="1800" dirty="0"/>
          </a:p>
        </p:txBody>
      </p:sp>
      <p:sp>
        <p:nvSpPr>
          <p:cNvPr id="5" name="card-474"/>
          <p:cNvSpPr/>
          <p:nvPr/>
        </p:nvSpPr>
        <p:spPr>
          <a:xfrm>
            <a:off x="7772400" y="146304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6" name="label-475"/>
          <p:cNvSpPr txBox="1"/>
          <p:nvPr/>
        </p:nvSpPr>
        <p:spPr>
          <a:xfrm>
            <a:off x="809244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UPLOAD TARGET</a:t>
            </a:r>
            <a:endParaRPr lang="en-US" sz="1100" dirty="0"/>
          </a:p>
        </p:txBody>
      </p:sp>
      <p:sp>
        <p:nvSpPr>
          <p:cNvPr id="7" name="b-476"/>
          <p:cNvSpPr txBox="1"/>
          <p:nvPr/>
        </p:nvSpPr>
        <p:spPr>
          <a:xfrm>
            <a:off x="809244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Short every day, plus long videos on Days 18 and 21</a:t>
            </a:r>
            <a:endParaRPr lang="en-US" sz="1600" dirty="0"/>
          </a:p>
        </p:txBody>
      </p:sp>
      <p:sp>
        <p:nvSpPr>
          <p:cNvPr id="8" name="card-477"/>
          <p:cNvSpPr/>
          <p:nvPr/>
        </p:nvSpPr>
        <p:spPr>
          <a:xfrm>
            <a:off x="7772400" y="361188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9" name="label-478"/>
          <p:cNvSpPr txBox="1"/>
          <p:nvPr/>
        </p:nvSpPr>
        <p:spPr>
          <a:xfrm>
            <a:off x="809244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END-OF-WEEK CHECK</a:t>
            </a:r>
            <a:endParaRPr lang="en-US" sz="1100" dirty="0"/>
          </a:p>
        </p:txBody>
      </p:sp>
      <p:sp>
        <p:nvSpPr>
          <p:cNvPr id="10" name="b-479"/>
          <p:cNvSpPr txBox="1"/>
          <p:nvPr/>
        </p:nvSpPr>
        <p:spPr>
          <a:xfrm>
            <a:off x="8092440" y="4160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You can use one creative effect per video without looking it up</a:t>
            </a:r>
            <a:endParaRPr lang="en-US" sz="1600" dirty="0"/>
          </a:p>
        </p:txBody>
      </p:sp>
      <p:sp>
        <p:nvSpPr>
          <p:cNvPr id="11" name="daylist-480"/>
          <p:cNvSpPr txBox="1"/>
          <p:nvPr/>
        </p:nvSpPr>
        <p:spPr>
          <a:xfrm>
            <a:off x="548640" y="4526280"/>
            <a:ext cx="6766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15  Green screen and Magnetic Mask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16  Object tracking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17  Better audio: effects, voiceover, crossfades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18  Multicam and stabilisation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19  Adjustment clips, LUTs and video scopes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20  Edit to the beat and animate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21  Thumbnails and B-roll storytelling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48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48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15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screen and Magnetic Mask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yourself anywhere, with or without a green screen.</a:t>
            </a:r>
            <a:endParaRPr lang="en-US" sz="1600" dirty="0"/>
          </a:p>
        </p:txBody>
      </p:sp>
      <p:sp>
        <p:nvSpPr>
          <p:cNvPr id="6" name="label-483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484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Drag the Keyer effect onto a green-screen clip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Place the background clip below as the main storyline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Magnetic Mask to cut out a person without a green screen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Refine the edges with the mask’s add and remove points</a:t>
            </a:r>
            <a:endParaRPr lang="en-US" sz="1500" dirty="0"/>
          </a:p>
        </p:txBody>
      </p:sp>
      <p:sp>
        <p:nvSpPr>
          <p:cNvPr id="8" name="tryit-card-485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486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487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Put yourself in front of a different background.</a:t>
            </a:r>
            <a:endParaRPr lang="en-US" sz="1400" dirty="0"/>
          </a:p>
        </p:txBody>
      </p:sp>
      <p:sp>
        <p:nvSpPr>
          <p:cNvPr id="11" name="chip-488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489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490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491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492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493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Cmd+5 (Effects)</a:t>
            </a:r>
            <a:endParaRPr lang="en-US" sz="1200" dirty="0"/>
          </a:p>
        </p:txBody>
      </p:sp>
      <p:sp>
        <p:nvSpPr>
          <p:cNvPr id="17" name="chip-494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495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496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623–677</a:t>
            </a:r>
            <a:endParaRPr lang="en-US" sz="1200" dirty="0"/>
          </a:p>
        </p:txBody>
      </p:sp>
      <p:sp>
        <p:nvSpPr>
          <p:cNvPr id="20" name="image-frame-497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498" descr="Screenshot from the Final Cut Pro User Guide, page 6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1629" y="1737360"/>
            <a:ext cx="3853302" cy="2743200"/>
          </a:xfrm>
          <a:prstGeom prst="rect">
            <a:avLst/>
          </a:prstGeom>
        </p:spPr>
      </p:pic>
      <p:sp>
        <p:nvSpPr>
          <p:cNvPr id="22" name="caption-499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646</a:t>
            </a:r>
            <a:endParaRPr lang="en-US" sz="1000" dirty="0"/>
          </a:p>
        </p:txBody>
      </p:sp>
      <p:sp>
        <p:nvSpPr>
          <p:cNvPr id="23" name="notes-card-500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501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502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503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504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16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tracking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text or graphics follow something that moves.</a:t>
            </a:r>
            <a:endParaRPr lang="en-US" sz="1600" dirty="0"/>
          </a:p>
        </p:txBody>
      </p:sp>
      <p:sp>
        <p:nvSpPr>
          <p:cNvPr id="6" name="label-505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506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Add a title or image above the moving clip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Open the tracker and drag it onto the object in the viewer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Click Analyze and let FCP follow the object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Fix any drift with tracking keyframes (p. 703)</a:t>
            </a:r>
            <a:endParaRPr lang="en-US" sz="1500" dirty="0"/>
          </a:p>
        </p:txBody>
      </p:sp>
      <p:sp>
        <p:nvSpPr>
          <p:cNvPr id="8" name="tryit-card-507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508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509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Attach a name label to a moving person or car.</a:t>
            </a:r>
            <a:endParaRPr lang="en-US" sz="1400" dirty="0"/>
          </a:p>
        </p:txBody>
      </p:sp>
      <p:sp>
        <p:nvSpPr>
          <p:cNvPr id="11" name="chip-510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511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512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513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514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515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—</a:t>
            </a:r>
            <a:endParaRPr lang="en-US" sz="1200" dirty="0"/>
          </a:p>
        </p:txBody>
      </p:sp>
      <p:sp>
        <p:nvSpPr>
          <p:cNvPr id="17" name="chip-516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517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518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693–707</a:t>
            </a:r>
            <a:endParaRPr lang="en-US" sz="1200" dirty="0"/>
          </a:p>
        </p:txBody>
      </p:sp>
      <p:sp>
        <p:nvSpPr>
          <p:cNvPr id="20" name="image-frame-519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520" descr="Screenshot from the Final Cut Pro User Guide, page 69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161" y="1737360"/>
            <a:ext cx="4042238" cy="2743200"/>
          </a:xfrm>
          <a:prstGeom prst="rect">
            <a:avLst/>
          </a:prstGeom>
        </p:spPr>
      </p:pic>
      <p:sp>
        <p:nvSpPr>
          <p:cNvPr id="22" name="caption-521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697</a:t>
            </a:r>
            <a:endParaRPr lang="en-US" sz="1000" dirty="0"/>
          </a:p>
        </p:txBody>
      </p:sp>
      <p:sp>
        <p:nvSpPr>
          <p:cNvPr id="23" name="notes-card-522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523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524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525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526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17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audio: effects, voiceover, crossfades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your voice clear and confident.</a:t>
            </a:r>
            <a:endParaRPr lang="en-US" sz="1600" dirty="0"/>
          </a:p>
        </p:txBody>
      </p:sp>
      <p:sp>
        <p:nvSpPr>
          <p:cNvPr id="6" name="label-527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528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Opt+Cmd+8 opens Record Voiceover; Opt+Shift+A starts recording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Add EQ and compression from the Audio effects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Opt+T adds a crossfade at the selected audio edit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Shift+Cmd+M matches audio between clips</a:t>
            </a:r>
            <a:endParaRPr lang="en-US" sz="1500" dirty="0"/>
          </a:p>
        </p:txBody>
      </p:sp>
      <p:sp>
        <p:nvSpPr>
          <p:cNvPr id="8" name="tryit-card-529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530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531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Record a voiceover over B-roll, then clean it up.</a:t>
            </a:r>
            <a:endParaRPr lang="en-US" sz="1400" dirty="0"/>
          </a:p>
        </p:txBody>
      </p:sp>
      <p:sp>
        <p:nvSpPr>
          <p:cNvPr id="11" name="chip-532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533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534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535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536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537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Opt+Cmd+8 · Opt+T · Shift+Cmd+M</a:t>
            </a:r>
            <a:endParaRPr lang="en-US" sz="1200" dirty="0"/>
          </a:p>
        </p:txBody>
      </p:sp>
      <p:sp>
        <p:nvSpPr>
          <p:cNvPr id="17" name="chip-538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539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540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232, 248, 261–275</a:t>
            </a:r>
            <a:endParaRPr lang="en-US" sz="1200" dirty="0"/>
          </a:p>
        </p:txBody>
      </p:sp>
      <p:sp>
        <p:nvSpPr>
          <p:cNvPr id="20" name="image-frame-541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542" descr="Screenshot from the Final Cut Pro User Guide, page 2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6838" y="1737360"/>
            <a:ext cx="1742883" cy="2743200"/>
          </a:xfrm>
          <a:prstGeom prst="rect">
            <a:avLst/>
          </a:prstGeom>
        </p:spPr>
      </p:pic>
      <p:sp>
        <p:nvSpPr>
          <p:cNvPr id="22" name="caption-543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232</a:t>
            </a:r>
            <a:endParaRPr lang="en-US" sz="1000" dirty="0"/>
          </a:p>
        </p:txBody>
      </p:sp>
      <p:sp>
        <p:nvSpPr>
          <p:cNvPr id="23" name="notes-card-544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545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546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547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548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18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Multicam and stabilisation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cameras as easily as one.</a:t>
            </a:r>
            <a:endParaRPr lang="en-US" sz="1600" dirty="0"/>
          </a:p>
        </p:txBody>
      </p:sp>
      <p:sp>
        <p:nvSpPr>
          <p:cNvPr id="6" name="label-549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550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Select the angles &gt; New Multicam Clip; FCP syncs them by audio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Open the angle viewer and switch angles while it plays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Press 1, 2, 3 to cut to that angle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Stabilise shaky shots in the Video inspector</a:t>
            </a:r>
            <a:endParaRPr lang="en-US" sz="1500" dirty="0"/>
          </a:p>
        </p:txBody>
      </p:sp>
      <p:sp>
        <p:nvSpPr>
          <p:cNvPr id="8" name="tryit-card-551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552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553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Film with your phone and webcam at once, then cut between them.</a:t>
            </a:r>
            <a:endParaRPr lang="en-US" sz="1400" dirty="0"/>
          </a:p>
        </p:txBody>
      </p:sp>
      <p:sp>
        <p:nvSpPr>
          <p:cNvPr id="11" name="chip-554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555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556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Long video</a:t>
            </a:r>
            <a:endParaRPr lang="en-US" sz="1200" dirty="0"/>
          </a:p>
        </p:txBody>
      </p:sp>
      <p:sp>
        <p:nvSpPr>
          <p:cNvPr id="14" name="chip-557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558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559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 · 2 · 3 (angles)</a:t>
            </a:r>
            <a:endParaRPr lang="en-US" sz="1200" dirty="0"/>
          </a:p>
        </p:txBody>
      </p:sp>
      <p:sp>
        <p:nvSpPr>
          <p:cNvPr id="17" name="chip-560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561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562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213–219, 513–541</a:t>
            </a:r>
            <a:endParaRPr lang="en-US" sz="1200" dirty="0"/>
          </a:p>
        </p:txBody>
      </p:sp>
      <p:sp>
        <p:nvSpPr>
          <p:cNvPr id="20" name="image-frame-563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564" descr="Screenshot from the Final Cut Pro User Guide, page 5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916834"/>
            <a:ext cx="4754880" cy="2384252"/>
          </a:xfrm>
          <a:prstGeom prst="rect">
            <a:avLst/>
          </a:prstGeom>
        </p:spPr>
      </p:pic>
      <p:sp>
        <p:nvSpPr>
          <p:cNvPr id="22" name="caption-565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514</a:t>
            </a:r>
            <a:endParaRPr lang="en-US" sz="1000" dirty="0"/>
          </a:p>
        </p:txBody>
      </p:sp>
      <p:sp>
        <p:nvSpPr>
          <p:cNvPr id="23" name="notes-card-566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567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568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569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570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19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Adjustment clips, LUTs and video scopes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channel a consistent look.</a:t>
            </a:r>
            <a:endParaRPr lang="en-US" sz="1600" dirty="0"/>
          </a:p>
        </p:txBody>
      </p:sp>
      <p:sp>
        <p:nvSpPr>
          <p:cNvPr id="6" name="label-571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572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Add an adjustment clip over your whole edit for one look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Apply a LUT or Custom LUT effect for a style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Cmd+7 shows the video scopes to check exposure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Keep skin tones natural (on the vectorscope skin-tone line)</a:t>
            </a:r>
            <a:endParaRPr lang="en-US" sz="1500" dirty="0"/>
          </a:p>
        </p:txBody>
      </p:sp>
      <p:sp>
        <p:nvSpPr>
          <p:cNvPr id="8" name="tryit-card-573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574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575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Create one colour look and save it as a preset.</a:t>
            </a:r>
            <a:endParaRPr lang="en-US" sz="1400" dirty="0"/>
          </a:p>
        </p:txBody>
      </p:sp>
      <p:sp>
        <p:nvSpPr>
          <p:cNvPr id="11" name="chip-576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577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578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579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580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581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Cmd+7</a:t>
            </a:r>
            <a:endParaRPr lang="en-US" sz="1200" dirty="0"/>
          </a:p>
        </p:txBody>
      </p:sp>
      <p:sp>
        <p:nvSpPr>
          <p:cNvPr id="17" name="chip-582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583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584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449, 783–800</a:t>
            </a:r>
            <a:endParaRPr lang="en-US" sz="1200" dirty="0"/>
          </a:p>
        </p:txBody>
      </p:sp>
      <p:sp>
        <p:nvSpPr>
          <p:cNvPr id="20" name="image-frame-585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586" descr="Screenshot from the Final Cut Pro User Guide, page 79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2258" y="1737360"/>
            <a:ext cx="4712043" cy="2743200"/>
          </a:xfrm>
          <a:prstGeom prst="rect">
            <a:avLst/>
          </a:prstGeom>
        </p:spPr>
      </p:pic>
      <p:sp>
        <p:nvSpPr>
          <p:cNvPr id="22" name="caption-587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791</a:t>
            </a:r>
            <a:endParaRPr lang="en-US" sz="1000" dirty="0"/>
          </a:p>
        </p:txBody>
      </p:sp>
      <p:sp>
        <p:nvSpPr>
          <p:cNvPr id="23" name="notes-card-588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589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590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59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59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20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to the beat and animate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cuts to music and add movement.</a:t>
            </a:r>
            <a:endParaRPr lang="en-US" sz="1600" dirty="0"/>
          </a:p>
        </p:txBody>
      </p:sp>
      <p:sp>
        <p:nvSpPr>
          <p:cNvPr id="6" name="label-593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594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Select the music clip and press Opt+B for Beat Detection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Snap cuts to the beat grid with snapping on (N)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Add keyframes in the inspector to animate position or scale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generators for backgrounds and shapes</a:t>
            </a:r>
            <a:endParaRPr lang="en-US" sz="1500" dirty="0"/>
          </a:p>
        </p:txBody>
      </p:sp>
      <p:sp>
        <p:nvSpPr>
          <p:cNvPr id="8" name="tryit-card-595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596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597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Cut a 15-second montage exactly on the beat.</a:t>
            </a:r>
            <a:endParaRPr lang="en-US" sz="1400" dirty="0"/>
          </a:p>
        </p:txBody>
      </p:sp>
      <p:sp>
        <p:nvSpPr>
          <p:cNvPr id="11" name="chip-598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599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600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Music-synced Short</a:t>
            </a:r>
            <a:endParaRPr lang="en-US" sz="1200" dirty="0"/>
          </a:p>
        </p:txBody>
      </p:sp>
      <p:sp>
        <p:nvSpPr>
          <p:cNvPr id="14" name="chip-601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602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603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Opt+B · N</a:t>
            </a:r>
            <a:endParaRPr lang="en-US" sz="1200" dirty="0"/>
          </a:p>
        </p:txBody>
      </p:sp>
      <p:sp>
        <p:nvSpPr>
          <p:cNvPr id="17" name="chip-604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605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606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210–214, 451, 467</a:t>
            </a:r>
            <a:endParaRPr lang="en-US" sz="1200" dirty="0"/>
          </a:p>
        </p:txBody>
      </p:sp>
      <p:sp>
        <p:nvSpPr>
          <p:cNvPr id="20" name="image-frame-607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608" descr="Screenshot from the Final Cut Pro User Guide, page 4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9980" y="1737360"/>
            <a:ext cx="3276600" cy="2743200"/>
          </a:xfrm>
          <a:prstGeom prst="rect">
            <a:avLst/>
          </a:prstGeom>
        </p:spPr>
      </p:pic>
      <p:sp>
        <p:nvSpPr>
          <p:cNvPr id="22" name="caption-609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468</a:t>
            </a:r>
            <a:endParaRPr lang="en-US" sz="1000" dirty="0"/>
          </a:p>
        </p:txBody>
      </p:sp>
      <p:sp>
        <p:nvSpPr>
          <p:cNvPr id="23" name="notes-card-610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611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612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613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" name="day-num-614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21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Thumbnails and B-roll storytelling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thumbnail decides whether people click.</a:t>
            </a:r>
            <a:endParaRPr lang="en-US" sz="1600" dirty="0"/>
          </a:p>
        </p:txBody>
      </p:sp>
      <p:sp>
        <p:nvSpPr>
          <p:cNvPr id="6" name="label-615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616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Share &gt; Send Frame to Pixelmator Pro for thumbnails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Or add the Save Current Frame destination (p. 894)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Big face, 3–4 words, high contrast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Cover every jump cut with B-roll that shows what you say</a:t>
            </a:r>
            <a:endParaRPr lang="en-US" sz="1500" dirty="0"/>
          </a:p>
        </p:txBody>
      </p:sp>
      <p:sp>
        <p:nvSpPr>
          <p:cNvPr id="8" name="tryit-card-617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618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619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Make 2 thumbnail options and pick the clearer one.</a:t>
            </a:r>
            <a:endParaRPr lang="en-US" sz="1400" dirty="0"/>
          </a:p>
        </p:txBody>
      </p:sp>
      <p:sp>
        <p:nvSpPr>
          <p:cNvPr id="11" name="chip-620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621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622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Long video</a:t>
            </a:r>
            <a:endParaRPr lang="en-US" sz="1200" dirty="0"/>
          </a:p>
        </p:txBody>
      </p:sp>
      <p:sp>
        <p:nvSpPr>
          <p:cNvPr id="14" name="chip-623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624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625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Cmd+E</a:t>
            </a:r>
            <a:endParaRPr lang="en-US" sz="1200" dirty="0"/>
          </a:p>
        </p:txBody>
      </p:sp>
      <p:sp>
        <p:nvSpPr>
          <p:cNvPr id="17" name="chip-626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627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628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828, 894–895</a:t>
            </a:r>
            <a:endParaRPr lang="en-US" sz="1200" dirty="0"/>
          </a:p>
        </p:txBody>
      </p:sp>
      <p:sp>
        <p:nvSpPr>
          <p:cNvPr id="20" name="image-frame-629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630" descr="Screenshot from the Final Cut Pro User Guide, page 8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771765"/>
            <a:ext cx="4754880" cy="2674389"/>
          </a:xfrm>
          <a:prstGeom prst="rect">
            <a:avLst/>
          </a:prstGeom>
        </p:spPr>
      </p:pic>
      <p:sp>
        <p:nvSpPr>
          <p:cNvPr id="22" name="caption-631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828</a:t>
            </a:r>
            <a:endParaRPr lang="en-US" sz="1000" dirty="0"/>
          </a:p>
        </p:txBody>
      </p:sp>
      <p:sp>
        <p:nvSpPr>
          <p:cNvPr id="23" name="notes-card-632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633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634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635"/>
          <p:cNvSpPr txBox="1"/>
          <p:nvPr/>
        </p:nvSpPr>
        <p:spPr>
          <a:xfrm>
            <a:off x="54864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5"/>
                </a:solidFill>
              </a:rPr>
              <a:t>WEEK 4 · DAYS 22–30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daily workflow</a:t>
            </a:r>
            <a:endParaRPr lang="en-US" sz="4400" dirty="0"/>
          </a:p>
        </p:txBody>
      </p:sp>
      <p:sp>
        <p:nvSpPr>
          <p:cNvPr id="4" name="goal-636"/>
          <p:cNvSpPr txBox="1"/>
          <p:nvPr/>
        </p:nvSpPr>
        <p:spPr>
          <a:xfrm>
            <a:off x="548640" y="36118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Batch your work, manage your library, repurpose content and read analytics.</a:t>
            </a:r>
            <a:endParaRPr lang="en-US" sz="1800" dirty="0"/>
          </a:p>
        </p:txBody>
      </p:sp>
      <p:sp>
        <p:nvSpPr>
          <p:cNvPr id="5" name="card-637"/>
          <p:cNvSpPr/>
          <p:nvPr/>
        </p:nvSpPr>
        <p:spPr>
          <a:xfrm>
            <a:off x="7772400" y="146304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6" name="label-638"/>
          <p:cNvSpPr txBox="1"/>
          <p:nvPr/>
        </p:nvSpPr>
        <p:spPr>
          <a:xfrm>
            <a:off x="809244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UPLOAD TARGET</a:t>
            </a:r>
            <a:endParaRPr lang="en-US" sz="1100" dirty="0"/>
          </a:p>
        </p:txBody>
      </p:sp>
      <p:sp>
        <p:nvSpPr>
          <p:cNvPr id="7" name="b-639"/>
          <p:cNvSpPr txBox="1"/>
          <p:nvPr/>
        </p:nvSpPr>
        <p:spPr>
          <a:xfrm>
            <a:off x="809244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Short daily, plus a long video every 2–3 days</a:t>
            </a:r>
            <a:endParaRPr lang="en-US" sz="1600" dirty="0"/>
          </a:p>
        </p:txBody>
      </p:sp>
      <p:sp>
        <p:nvSpPr>
          <p:cNvPr id="8" name="card-640"/>
          <p:cNvSpPr/>
          <p:nvPr/>
        </p:nvSpPr>
        <p:spPr>
          <a:xfrm>
            <a:off x="7772400" y="3611880"/>
            <a:ext cx="384048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</p:sp>
      <p:sp>
        <p:nvSpPr>
          <p:cNvPr id="9" name="label-641"/>
          <p:cNvSpPr txBox="1"/>
          <p:nvPr/>
        </p:nvSpPr>
        <p:spPr>
          <a:xfrm>
            <a:off x="809244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END-OF-WEEK CHECK</a:t>
            </a:r>
            <a:endParaRPr lang="en-US" sz="1100" dirty="0"/>
          </a:p>
        </p:txBody>
      </p:sp>
      <p:sp>
        <p:nvSpPr>
          <p:cNvPr id="10" name="b-642"/>
          <p:cNvSpPr txBox="1"/>
          <p:nvPr/>
        </p:nvSpPr>
        <p:spPr>
          <a:xfrm>
            <a:off x="8092440" y="4160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Shoot, edit and upload a Short in under 30 minutes</a:t>
            </a:r>
            <a:endParaRPr lang="en-US" sz="1600" dirty="0"/>
          </a:p>
        </p:txBody>
      </p:sp>
      <p:sp>
        <p:nvSpPr>
          <p:cNvPr id="11" name="daylist-643"/>
          <p:cNvSpPr txBox="1"/>
          <p:nvPr/>
        </p:nvSpPr>
        <p:spPr>
          <a:xfrm>
            <a:off x="548640" y="4526280"/>
            <a:ext cx="6766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22  Batch day: shoot 5 Shorts at once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23  Edit fast with your template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24  Library management, proxies and backups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25  Turn one long video into three Shorts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26  Faster exports and YouTube SEO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27  Read your analytics and fix your hooks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28  Speed challenge: Short in under 30 minutes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29  Make your best long video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Day 30  Review and plan the next month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644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645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22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day: shoot 5 Shorts at once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 is how daily uploads stay sustainable.</a:t>
            </a:r>
            <a:endParaRPr lang="en-US" sz="1600" dirty="0"/>
          </a:p>
        </p:txBody>
      </p:sp>
      <p:sp>
        <p:nvSpPr>
          <p:cNvPr id="6" name="label-646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647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Write 5 hooks (the first line of each Short)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Set up light and mic once, then film all 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Import into one event; add a keyword for each Short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Rate the best take of each with F</a:t>
            </a:r>
            <a:endParaRPr lang="en-US" sz="1500" dirty="0"/>
          </a:p>
        </p:txBody>
      </p:sp>
      <p:sp>
        <p:nvSpPr>
          <p:cNvPr id="8" name="tryit-card-648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649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650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Finish the day with 5 Shorts filmed and organised.</a:t>
            </a:r>
            <a:endParaRPr lang="en-US" sz="1400" dirty="0"/>
          </a:p>
        </p:txBody>
      </p:sp>
      <p:sp>
        <p:nvSpPr>
          <p:cNvPr id="11" name="chip-651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652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653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654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655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656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Cmd+I · F</a:t>
            </a:r>
            <a:endParaRPr lang="en-US" sz="1200" dirty="0"/>
          </a:p>
        </p:txBody>
      </p:sp>
      <p:sp>
        <p:nvSpPr>
          <p:cNvPr id="17" name="chip-657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658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659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21–38, 89</a:t>
            </a:r>
            <a:endParaRPr lang="en-US" sz="1200" dirty="0"/>
          </a:p>
        </p:txBody>
      </p:sp>
      <p:sp>
        <p:nvSpPr>
          <p:cNvPr id="20" name="image-frame-660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sp>
        <p:nvSpPr>
          <p:cNvPr id="21" name="icon-circle-661"/>
          <p:cNvSpPr/>
          <p:nvPr/>
        </p:nvSpPr>
        <p:spPr>
          <a:xfrm>
            <a:off x="8458200" y="2148840"/>
            <a:ext cx="1280160" cy="12801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con-66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468880"/>
            <a:ext cx="640080" cy="640080"/>
          </a:xfrm>
          <a:prstGeom prst="rect">
            <a:avLst/>
          </a:prstGeom>
        </p:spPr>
      </p:pic>
      <p:sp>
        <p:nvSpPr>
          <p:cNvPr id="23" name="icon-cap-663"/>
          <p:cNvSpPr txBox="1"/>
          <p:nvPr/>
        </p:nvSpPr>
        <p:spPr>
          <a:xfrm>
            <a:off x="6949440" y="3611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Batching is how daily uploads stay sustainable.</a:t>
            </a:r>
            <a:endParaRPr lang="en-US" sz="1500" dirty="0"/>
          </a:p>
        </p:txBody>
      </p:sp>
      <p:sp>
        <p:nvSpPr>
          <p:cNvPr id="24" name="notes-card-664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5" name="label-665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6" name="my-notes-666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667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668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23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fast with your template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15 minutes per Short.</a:t>
            </a:r>
            <a:endParaRPr lang="en-US" sz="1600" dirty="0"/>
          </a:p>
        </p:txBody>
      </p:sp>
      <p:sp>
        <p:nvSpPr>
          <p:cNvPr id="6" name="label-669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670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Duplicate the template project for each Short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auditions (Cmd+Y) to compare takes quickly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the precision editor (Ctrl+E) for perfect cuts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Set a timer and stop at 15 minutes</a:t>
            </a:r>
            <a:endParaRPr lang="en-US" sz="1500" dirty="0"/>
          </a:p>
        </p:txBody>
      </p:sp>
      <p:sp>
        <p:nvSpPr>
          <p:cNvPr id="8" name="tryit-card-671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672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673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Edit 3 of yesterday’s Shorts with a timer running.</a:t>
            </a:r>
            <a:endParaRPr lang="en-US" sz="1400" dirty="0"/>
          </a:p>
        </p:txBody>
      </p:sp>
      <p:sp>
        <p:nvSpPr>
          <p:cNvPr id="11" name="chip-674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675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676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677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678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679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Cmd+Y · Ctrl+E</a:t>
            </a:r>
            <a:endParaRPr lang="en-US" sz="1200" dirty="0"/>
          </a:p>
        </p:txBody>
      </p:sp>
      <p:sp>
        <p:nvSpPr>
          <p:cNvPr id="17" name="chip-680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681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682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547–557</a:t>
            </a:r>
            <a:endParaRPr lang="en-US" sz="1200" dirty="0"/>
          </a:p>
        </p:txBody>
      </p:sp>
      <p:sp>
        <p:nvSpPr>
          <p:cNvPr id="20" name="image-frame-683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684" descr="Screenshot from the Final Cut Pro User Guide, page 5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9619" y="1737360"/>
            <a:ext cx="3757322" cy="2743200"/>
          </a:xfrm>
          <a:prstGeom prst="rect">
            <a:avLst/>
          </a:prstGeom>
        </p:spPr>
      </p:pic>
      <p:sp>
        <p:nvSpPr>
          <p:cNvPr id="22" name="caption-685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551</a:t>
            </a:r>
            <a:endParaRPr lang="en-US" sz="1000" dirty="0"/>
          </a:p>
        </p:txBody>
      </p:sp>
      <p:sp>
        <p:nvSpPr>
          <p:cNvPr id="23" name="notes-card-686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687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688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689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690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24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management, proxies and backups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FCP fast and your work safe.</a:t>
            </a:r>
            <a:endParaRPr lang="en-US" sz="1600" dirty="0"/>
          </a:p>
        </p:txBody>
      </p:sp>
      <p:sp>
        <p:nvSpPr>
          <p:cNvPr id="6" name="label-691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692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Create proxy media for smoother editing of 4K files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Delete render files you don’t need to free disk space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Consolidate media so the library contains everything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Back up the library to an external drive weekly</a:t>
            </a:r>
            <a:endParaRPr lang="en-US" sz="1500" dirty="0"/>
          </a:p>
        </p:txBody>
      </p:sp>
      <p:sp>
        <p:nvSpPr>
          <p:cNvPr id="8" name="tryit-card-693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694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695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Clean up your library and check your free disk space.</a:t>
            </a:r>
            <a:endParaRPr lang="en-US" sz="1400" dirty="0"/>
          </a:p>
        </p:txBody>
      </p:sp>
      <p:sp>
        <p:nvSpPr>
          <p:cNvPr id="11" name="chip-696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697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698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699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700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701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—</a:t>
            </a:r>
            <a:endParaRPr lang="en-US" sz="1200" dirty="0"/>
          </a:p>
        </p:txBody>
      </p:sp>
      <p:sp>
        <p:nvSpPr>
          <p:cNvPr id="17" name="chip-702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703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704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850–876</a:t>
            </a:r>
            <a:endParaRPr lang="en-US" sz="1200" dirty="0"/>
          </a:p>
        </p:txBody>
      </p:sp>
      <p:sp>
        <p:nvSpPr>
          <p:cNvPr id="20" name="image-frame-705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706" descr="Screenshot from the Final Cut Pro User Guide, page 8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43123" y="1737360"/>
            <a:ext cx="3510314" cy="2743200"/>
          </a:xfrm>
          <a:prstGeom prst="rect">
            <a:avLst/>
          </a:prstGeom>
        </p:spPr>
      </p:pic>
      <p:sp>
        <p:nvSpPr>
          <p:cNvPr id="22" name="caption-707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868</a:t>
            </a:r>
            <a:endParaRPr lang="en-US" sz="1000" dirty="0"/>
          </a:p>
        </p:txBody>
      </p:sp>
      <p:sp>
        <p:nvSpPr>
          <p:cNvPr id="23" name="notes-card-708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709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710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71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71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25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long video into three Shorts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more content from every recording.</a:t>
            </a:r>
            <a:endParaRPr lang="en-US" sz="1600" dirty="0"/>
          </a:p>
        </p:txBody>
      </p:sp>
      <p:sp>
        <p:nvSpPr>
          <p:cNvPr id="6" name="label-713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714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Select the long project &gt; Duplicate Project As (p. 123)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Choose a vertical format for the copy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Use Smart Conform to reframe each clip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Cut the 3 best 30–60 second moments</a:t>
            </a:r>
            <a:endParaRPr lang="en-US" sz="1500" dirty="0"/>
          </a:p>
        </p:txBody>
      </p:sp>
      <p:sp>
        <p:nvSpPr>
          <p:cNvPr id="8" name="tryit-card-715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716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717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Make 3 Shorts from your Day 14 or Day 21 video.</a:t>
            </a:r>
            <a:endParaRPr lang="en-US" sz="1400" dirty="0"/>
          </a:p>
        </p:txBody>
      </p:sp>
      <p:sp>
        <p:nvSpPr>
          <p:cNvPr id="11" name="chip-718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719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720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(repurposed)</a:t>
            </a:r>
            <a:endParaRPr lang="en-US" sz="1200" dirty="0"/>
          </a:p>
        </p:txBody>
      </p:sp>
      <p:sp>
        <p:nvSpPr>
          <p:cNvPr id="14" name="chip-721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722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723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Cmd+D</a:t>
            </a:r>
            <a:endParaRPr lang="en-US" sz="1200" dirty="0"/>
          </a:p>
        </p:txBody>
      </p:sp>
      <p:sp>
        <p:nvSpPr>
          <p:cNvPr id="17" name="chip-724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725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726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122–123, 404</a:t>
            </a:r>
            <a:endParaRPr lang="en-US" sz="1200" dirty="0"/>
          </a:p>
        </p:txBody>
      </p:sp>
      <p:sp>
        <p:nvSpPr>
          <p:cNvPr id="20" name="image-frame-727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728" descr="Screenshot from the Final Cut Pro User Guide, page 4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0384" y="1737360"/>
            <a:ext cx="3375791" cy="2743200"/>
          </a:xfrm>
          <a:prstGeom prst="rect">
            <a:avLst/>
          </a:prstGeom>
        </p:spPr>
      </p:pic>
      <p:sp>
        <p:nvSpPr>
          <p:cNvPr id="22" name="caption-729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403</a:t>
            </a:r>
            <a:endParaRPr lang="en-US" sz="1000" dirty="0"/>
          </a:p>
        </p:txBody>
      </p:sp>
      <p:sp>
        <p:nvSpPr>
          <p:cNvPr id="23" name="notes-card-730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731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732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733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734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26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exports and YouTube SEO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less time waiting and more time being found.</a:t>
            </a:r>
            <a:endParaRPr lang="en-US" sz="1600" dirty="0"/>
          </a:p>
        </p:txBody>
      </p:sp>
      <p:sp>
        <p:nvSpPr>
          <p:cNvPr id="6" name="label-735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736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Turn on Allow export segmentation for faster H.264 exports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Batch-share several Shorts at once (p. 833)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Title: keyword first and under 60 characters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Schedule uploads in YouTube Studio for a consistent time</a:t>
            </a:r>
            <a:endParaRPr lang="en-US" sz="1500" dirty="0"/>
          </a:p>
        </p:txBody>
      </p:sp>
      <p:sp>
        <p:nvSpPr>
          <p:cNvPr id="8" name="tryit-card-737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738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739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Export 3 Shorts in one batch and schedule them for 3 days.</a:t>
            </a:r>
            <a:endParaRPr lang="en-US" sz="1400" dirty="0"/>
          </a:p>
        </p:txBody>
      </p:sp>
      <p:sp>
        <p:nvSpPr>
          <p:cNvPr id="11" name="chip-740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741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742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 (scheduled)</a:t>
            </a:r>
            <a:endParaRPr lang="en-US" sz="1200" dirty="0"/>
          </a:p>
        </p:txBody>
      </p:sp>
      <p:sp>
        <p:nvSpPr>
          <p:cNvPr id="14" name="chip-743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744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745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Cmd+E</a:t>
            </a:r>
            <a:endParaRPr lang="en-US" sz="1200" dirty="0"/>
          </a:p>
        </p:txBody>
      </p:sp>
      <p:sp>
        <p:nvSpPr>
          <p:cNvPr id="17" name="chip-746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747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748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833, 843, 848</a:t>
            </a:r>
            <a:endParaRPr lang="en-US" sz="1200" dirty="0"/>
          </a:p>
        </p:txBody>
      </p:sp>
      <p:sp>
        <p:nvSpPr>
          <p:cNvPr id="20" name="image-frame-749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pic>
        <p:nvPicPr>
          <p:cNvPr id="21" name="screenshot-750" descr="Screenshot from the Final Cut Pro User Guide, page 8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4919" y="1737360"/>
            <a:ext cx="3686721" cy="2743200"/>
          </a:xfrm>
          <a:prstGeom prst="rect">
            <a:avLst/>
          </a:prstGeom>
        </p:spPr>
      </p:pic>
      <p:sp>
        <p:nvSpPr>
          <p:cNvPr id="22" name="caption-751"/>
          <p:cNvSpPr txBox="1"/>
          <p:nvPr/>
        </p:nvSpPr>
        <p:spPr>
          <a:xfrm>
            <a:off x="6720840" y="4526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From the FCP User Guide, p. 848</a:t>
            </a:r>
            <a:endParaRPr lang="en-US" sz="1000" dirty="0"/>
          </a:p>
        </p:txBody>
      </p:sp>
      <p:sp>
        <p:nvSpPr>
          <p:cNvPr id="23" name="notes-card-752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4" name="label-753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5" name="my-notes-754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755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756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your analytics and fix your hooks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your audience tell you what works.</a:t>
            </a:r>
            <a:endParaRPr lang="en-US" sz="1600" dirty="0"/>
          </a:p>
        </p:txBody>
      </p:sp>
      <p:sp>
        <p:nvSpPr>
          <p:cNvPr id="6" name="label-757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758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YouTube Studio &gt; Analytics &gt; Content &gt; Shorts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Check average view duration and the swipe-away rate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Find the second where viewers leave, and cut there next time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Rewrite your 3 weakest hooks</a:t>
            </a:r>
            <a:endParaRPr lang="en-US" sz="1500" dirty="0"/>
          </a:p>
        </p:txBody>
      </p:sp>
      <p:sp>
        <p:nvSpPr>
          <p:cNvPr id="8" name="tryit-card-759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760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761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Re-edit one Short with a stronger first 2 seconds.</a:t>
            </a:r>
            <a:endParaRPr lang="en-US" sz="1400" dirty="0"/>
          </a:p>
        </p:txBody>
      </p:sp>
      <p:sp>
        <p:nvSpPr>
          <p:cNvPr id="11" name="chip-762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763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764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765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766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767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—</a:t>
            </a:r>
            <a:endParaRPr lang="en-US" sz="1200" dirty="0"/>
          </a:p>
        </p:txBody>
      </p:sp>
      <p:sp>
        <p:nvSpPr>
          <p:cNvPr id="17" name="chip-768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769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770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—</a:t>
            </a:r>
            <a:endParaRPr lang="en-US" sz="1200" dirty="0"/>
          </a:p>
        </p:txBody>
      </p:sp>
      <p:sp>
        <p:nvSpPr>
          <p:cNvPr id="20" name="image-frame-771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sp>
        <p:nvSpPr>
          <p:cNvPr id="21" name="icon-circle-772"/>
          <p:cNvSpPr/>
          <p:nvPr/>
        </p:nvSpPr>
        <p:spPr>
          <a:xfrm>
            <a:off x="8458200" y="2148840"/>
            <a:ext cx="1280160" cy="12801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con-7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468880"/>
            <a:ext cx="640080" cy="640080"/>
          </a:xfrm>
          <a:prstGeom prst="rect">
            <a:avLst/>
          </a:prstGeom>
        </p:spPr>
      </p:pic>
      <p:sp>
        <p:nvSpPr>
          <p:cNvPr id="23" name="icon-cap-774"/>
          <p:cNvSpPr txBox="1"/>
          <p:nvPr/>
        </p:nvSpPr>
        <p:spPr>
          <a:xfrm>
            <a:off x="6949440" y="3611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Let your audience tell you what works.</a:t>
            </a:r>
            <a:endParaRPr lang="en-US" sz="1500" dirty="0"/>
          </a:p>
        </p:txBody>
      </p:sp>
      <p:sp>
        <p:nvSpPr>
          <p:cNvPr id="24" name="notes-card-775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5" name="label-776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6" name="my-notes-777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778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779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28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challenge: Short in under 30 minutes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your workflow end to end.</a:t>
            </a:r>
            <a:endParaRPr lang="en-US" sz="1600" dirty="0"/>
          </a:p>
        </p:txBody>
      </p:sp>
      <p:sp>
        <p:nvSpPr>
          <p:cNvPr id="6" name="label-780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781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Start a timer before you film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Shoot, import, edit, caption and export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Upload with title, description and #Shorts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Write down which step was slowest</a:t>
            </a:r>
            <a:endParaRPr lang="en-US" sz="1500" dirty="0"/>
          </a:p>
        </p:txBody>
      </p:sp>
      <p:sp>
        <p:nvSpPr>
          <p:cNvPr id="8" name="tryit-card-782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783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784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Total time under 30 minutes. Note your time here.</a:t>
            </a:r>
            <a:endParaRPr lang="en-US" sz="1400" dirty="0"/>
          </a:p>
        </p:txBody>
      </p:sp>
      <p:sp>
        <p:nvSpPr>
          <p:cNvPr id="11" name="chip-785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786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787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788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789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790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Your fastest shortcuts</a:t>
            </a:r>
            <a:endParaRPr lang="en-US" sz="1200" dirty="0"/>
          </a:p>
        </p:txBody>
      </p:sp>
      <p:sp>
        <p:nvSpPr>
          <p:cNvPr id="17" name="chip-791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792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793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—</a:t>
            </a:r>
            <a:endParaRPr lang="en-US" sz="1200" dirty="0"/>
          </a:p>
        </p:txBody>
      </p:sp>
      <p:sp>
        <p:nvSpPr>
          <p:cNvPr id="20" name="image-frame-794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sp>
        <p:nvSpPr>
          <p:cNvPr id="21" name="icon-circle-795"/>
          <p:cNvSpPr/>
          <p:nvPr/>
        </p:nvSpPr>
        <p:spPr>
          <a:xfrm>
            <a:off x="8458200" y="2148840"/>
            <a:ext cx="1280160" cy="12801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con-7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468880"/>
            <a:ext cx="640080" cy="640080"/>
          </a:xfrm>
          <a:prstGeom prst="rect">
            <a:avLst/>
          </a:prstGeom>
        </p:spPr>
      </p:pic>
      <p:sp>
        <p:nvSpPr>
          <p:cNvPr id="23" name="icon-cap-797"/>
          <p:cNvSpPr txBox="1"/>
          <p:nvPr/>
        </p:nvSpPr>
        <p:spPr>
          <a:xfrm>
            <a:off x="6949440" y="3611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Prove your workflow end to end.</a:t>
            </a:r>
            <a:endParaRPr lang="en-US" sz="1500" dirty="0"/>
          </a:p>
        </p:txBody>
      </p:sp>
      <p:sp>
        <p:nvSpPr>
          <p:cNvPr id="24" name="notes-card-798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5" name="label-799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6" name="my-notes-800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801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802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29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your best long video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every skill from the month in one video.</a:t>
            </a:r>
            <a:endParaRPr lang="en-US" sz="1600" dirty="0"/>
          </a:p>
        </p:txBody>
      </p:sp>
      <p:sp>
        <p:nvSpPr>
          <p:cNvPr id="6" name="label-803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804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Plan: hook, 3 main points, call to action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Multicam or B-roll, captions, chapters, colour look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Clean audio with a music bed and crossfades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Custom thumbnail made in Pixelmator Pro</a:t>
            </a:r>
            <a:endParaRPr lang="en-US" sz="1500" dirty="0"/>
          </a:p>
        </p:txBody>
      </p:sp>
      <p:sp>
        <p:nvSpPr>
          <p:cNvPr id="8" name="tryit-card-805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806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807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Publish the video you’re proudest of.</a:t>
            </a:r>
            <a:endParaRPr lang="en-US" sz="1400" dirty="0"/>
          </a:p>
        </p:txBody>
      </p:sp>
      <p:sp>
        <p:nvSpPr>
          <p:cNvPr id="11" name="chip-808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809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810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Long video</a:t>
            </a:r>
            <a:endParaRPr lang="en-US" sz="1200" dirty="0"/>
          </a:p>
        </p:txBody>
      </p:sp>
      <p:sp>
        <p:nvSpPr>
          <p:cNvPr id="14" name="chip-811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812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813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All of them</a:t>
            </a:r>
            <a:endParaRPr lang="en-US" sz="1200" dirty="0"/>
          </a:p>
        </p:txBody>
      </p:sp>
      <p:sp>
        <p:nvSpPr>
          <p:cNvPr id="17" name="chip-814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815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816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Whole guide</a:t>
            </a:r>
            <a:endParaRPr lang="en-US" sz="1200" dirty="0"/>
          </a:p>
        </p:txBody>
      </p:sp>
      <p:sp>
        <p:nvSpPr>
          <p:cNvPr id="20" name="image-frame-817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sp>
        <p:nvSpPr>
          <p:cNvPr id="21" name="icon-circle-818"/>
          <p:cNvSpPr/>
          <p:nvPr/>
        </p:nvSpPr>
        <p:spPr>
          <a:xfrm>
            <a:off x="8458200" y="2148840"/>
            <a:ext cx="1280160" cy="12801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con-8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468880"/>
            <a:ext cx="640080" cy="640080"/>
          </a:xfrm>
          <a:prstGeom prst="rect">
            <a:avLst/>
          </a:prstGeom>
        </p:spPr>
      </p:pic>
      <p:sp>
        <p:nvSpPr>
          <p:cNvPr id="23" name="icon-cap-820"/>
          <p:cNvSpPr txBox="1"/>
          <p:nvPr/>
        </p:nvSpPr>
        <p:spPr>
          <a:xfrm>
            <a:off x="6949440" y="3611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Use every skill from the month in one video.</a:t>
            </a:r>
            <a:endParaRPr lang="en-US" sz="1500" dirty="0"/>
          </a:p>
        </p:txBody>
      </p:sp>
      <p:sp>
        <p:nvSpPr>
          <p:cNvPr id="24" name="notes-card-821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5" name="label-822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6" name="my-notes-823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y-badge-824"/>
          <p:cNvSpPr/>
          <p:nvPr/>
        </p:nvSpPr>
        <p:spPr>
          <a:xfrm>
            <a:off x="548640" y="365760"/>
            <a:ext cx="868680" cy="8686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3" name="day-num-825"/>
          <p:cNvSpPr txBox="1"/>
          <p:nvPr/>
        </p:nvSpPr>
        <p:spPr>
          <a:xfrm>
            <a:off x="548640" y="365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1"/>
                </a:solidFill>
              </a:rPr>
              <a:t>DAY</a:t>
            </a:r>
            <a:endParaRPr lang="en-US" sz="1000" dirty="0"/>
          </a:p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30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plan the next month</a:t>
            </a:r>
            <a:endParaRPr lang="en-US" sz="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1600200" y="914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back, then make a plan to keep going.</a:t>
            </a:r>
            <a:endParaRPr lang="en-US" sz="1600" dirty="0"/>
          </a:p>
        </p:txBody>
      </p:sp>
      <p:sp>
        <p:nvSpPr>
          <p:cNvPr id="6" name="label-826"/>
          <p:cNvSpPr txBox="1"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LEARN: STEP BY STEP</a:t>
            </a:r>
            <a:endParaRPr lang="en-US" sz="1100" dirty="0"/>
          </a:p>
        </p:txBody>
      </p:sp>
      <p:sp>
        <p:nvSpPr>
          <p:cNvPr id="7" name="list-827"/>
          <p:cNvSpPr txBox="1"/>
          <p:nvPr/>
        </p:nvSpPr>
        <p:spPr>
          <a:xfrm>
            <a:off x="548640" y="1920240"/>
            <a:ext cx="5760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Watch your Day 1 and Day 29 videos one after the other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Update your template with what you’ve learned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Plan next month’s content calendar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Decide whether to keep Apple Creator Studio (p. 18)</a:t>
            </a:r>
            <a:endParaRPr lang="en-US" sz="1500" dirty="0"/>
          </a:p>
        </p:txBody>
      </p:sp>
      <p:sp>
        <p:nvSpPr>
          <p:cNvPr id="8" name="tryit-card-828"/>
          <p:cNvSpPr/>
          <p:nvPr/>
        </p:nvSpPr>
        <p:spPr>
          <a:xfrm>
            <a:off x="548640" y="4206240"/>
            <a:ext cx="5760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</p:sp>
      <p:sp>
        <p:nvSpPr>
          <p:cNvPr id="9" name="label-829"/>
          <p:cNvSpPr txBox="1"/>
          <p:nvPr/>
        </p:nvSpPr>
        <p:spPr>
          <a:xfrm>
            <a:off x="777240" y="4315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TRY IT</a:t>
            </a:r>
            <a:endParaRPr lang="en-US" sz="1100" dirty="0"/>
          </a:p>
        </p:txBody>
      </p:sp>
      <p:sp>
        <p:nvSpPr>
          <p:cNvPr id="10" name="tryit-830"/>
          <p:cNvSpPr txBox="1"/>
          <p:nvPr/>
        </p:nvSpPr>
        <p:spPr>
          <a:xfrm>
            <a:off x="777240" y="45902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Write your top 5 lessons from this month in the notes box.</a:t>
            </a:r>
            <a:endParaRPr lang="en-US" sz="1400" dirty="0"/>
          </a:p>
        </p:txBody>
      </p:sp>
      <p:sp>
        <p:nvSpPr>
          <p:cNvPr id="11" name="chip-831"/>
          <p:cNvSpPr/>
          <p:nvPr/>
        </p:nvSpPr>
        <p:spPr>
          <a:xfrm>
            <a:off x="54864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" name="chip-h-832"/>
          <p:cNvSpPr txBox="1"/>
          <p:nvPr/>
        </p:nvSpPr>
        <p:spPr>
          <a:xfrm>
            <a:off x="71323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PUBLISH TODAY</a:t>
            </a:r>
            <a:endParaRPr lang="en-US" sz="1000" dirty="0"/>
          </a:p>
        </p:txBody>
      </p:sp>
      <p:sp>
        <p:nvSpPr>
          <p:cNvPr id="13" name="chip-v-833"/>
          <p:cNvSpPr txBox="1"/>
          <p:nvPr/>
        </p:nvSpPr>
        <p:spPr>
          <a:xfrm>
            <a:off x="71323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Short</a:t>
            </a:r>
            <a:endParaRPr lang="en-US" sz="1200" dirty="0"/>
          </a:p>
        </p:txBody>
      </p:sp>
      <p:sp>
        <p:nvSpPr>
          <p:cNvPr id="14" name="chip-834"/>
          <p:cNvSpPr/>
          <p:nvPr/>
        </p:nvSpPr>
        <p:spPr>
          <a:xfrm>
            <a:off x="251460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" name="chip-h-835"/>
          <p:cNvSpPr txBox="1"/>
          <p:nvPr/>
        </p:nvSpPr>
        <p:spPr>
          <a:xfrm>
            <a:off x="267919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KEY SHORTCUTS</a:t>
            </a:r>
            <a:endParaRPr lang="en-US" sz="1000" dirty="0"/>
          </a:p>
        </p:txBody>
      </p:sp>
      <p:sp>
        <p:nvSpPr>
          <p:cNvPr id="16" name="chip-v-836"/>
          <p:cNvSpPr txBox="1"/>
          <p:nvPr/>
        </p:nvSpPr>
        <p:spPr>
          <a:xfrm>
            <a:off x="267919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—</a:t>
            </a:r>
            <a:endParaRPr lang="en-US" sz="1200" dirty="0"/>
          </a:p>
        </p:txBody>
      </p:sp>
      <p:sp>
        <p:nvSpPr>
          <p:cNvPr id="17" name="chip-837"/>
          <p:cNvSpPr/>
          <p:nvPr/>
        </p:nvSpPr>
        <p:spPr>
          <a:xfrm>
            <a:off x="4480560" y="5257800"/>
            <a:ext cx="182880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8" name="chip-h-838"/>
          <p:cNvSpPr txBox="1"/>
          <p:nvPr/>
        </p:nvSpPr>
        <p:spPr>
          <a:xfrm>
            <a:off x="4645152" y="53492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MANUAL PAGES</a:t>
            </a:r>
            <a:endParaRPr lang="en-US" sz="1000" dirty="0"/>
          </a:p>
        </p:txBody>
      </p:sp>
      <p:sp>
        <p:nvSpPr>
          <p:cNvPr id="19" name="chip-v-839"/>
          <p:cNvSpPr txBox="1"/>
          <p:nvPr/>
        </p:nvSpPr>
        <p:spPr>
          <a:xfrm>
            <a:off x="4645152" y="5596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p. 16–18</a:t>
            </a:r>
            <a:endParaRPr lang="en-US" sz="1200" dirty="0"/>
          </a:p>
        </p:txBody>
      </p:sp>
      <p:sp>
        <p:nvSpPr>
          <p:cNvPr id="20" name="image-frame-840"/>
          <p:cNvSpPr/>
          <p:nvPr/>
        </p:nvSpPr>
        <p:spPr>
          <a:xfrm>
            <a:off x="6583680" y="1600200"/>
            <a:ext cx="5029200" cy="3246120"/>
          </a:xfrm>
          <a:prstGeom prst="roundRect">
            <a:avLst>
              <a:gd name="adj" fmla="val 3380"/>
            </a:avLst>
          </a:prstGeom>
          <a:solidFill>
            <a:schemeClr val="tx2"/>
          </a:solidFill>
          <a:ln/>
        </p:spPr>
      </p:sp>
      <p:sp>
        <p:nvSpPr>
          <p:cNvPr id="21" name="icon-circle-841"/>
          <p:cNvSpPr/>
          <p:nvPr/>
        </p:nvSpPr>
        <p:spPr>
          <a:xfrm>
            <a:off x="8458200" y="2148840"/>
            <a:ext cx="1280160" cy="12801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con-8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468880"/>
            <a:ext cx="640080" cy="640080"/>
          </a:xfrm>
          <a:prstGeom prst="rect">
            <a:avLst/>
          </a:prstGeom>
        </p:spPr>
      </p:pic>
      <p:sp>
        <p:nvSpPr>
          <p:cNvPr id="23" name="icon-cap-843"/>
          <p:cNvSpPr txBox="1"/>
          <p:nvPr/>
        </p:nvSpPr>
        <p:spPr>
          <a:xfrm>
            <a:off x="6949440" y="36118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bg2"/>
                </a:solidFill>
              </a:rPr>
              <a:t>Look back, then make a plan to keep going.</a:t>
            </a:r>
            <a:endParaRPr lang="en-US" sz="1500" dirty="0"/>
          </a:p>
        </p:txBody>
      </p:sp>
      <p:sp>
        <p:nvSpPr>
          <p:cNvPr id="24" name="notes-card-844"/>
          <p:cNvSpPr/>
          <p:nvPr/>
        </p:nvSpPr>
        <p:spPr>
          <a:xfrm>
            <a:off x="6583680" y="49834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5" name="label-845"/>
          <p:cNvSpPr txBox="1"/>
          <p:nvPr/>
        </p:nvSpPr>
        <p:spPr>
          <a:xfrm>
            <a:off x="68122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MY NOTES</a:t>
            </a:r>
            <a:endParaRPr lang="en-US" sz="1100" dirty="0"/>
          </a:p>
        </p:txBody>
      </p:sp>
      <p:sp>
        <p:nvSpPr>
          <p:cNvPr id="26" name="my-notes-846"/>
          <p:cNvSpPr txBox="1"/>
          <p:nvPr/>
        </p:nvSpPr>
        <p:spPr>
          <a:xfrm>
            <a:off x="6812280" y="53492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Click here and type what you learned today…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847"/>
          <p:cNvSpPr txBox="1"/>
          <p:nvPr/>
        </p:nvSpPr>
        <p:spPr>
          <a:xfrm>
            <a:off x="54864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4"/>
                </a:solidFill>
              </a:rPr>
              <a:t>REFERENCE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reference</a:t>
            </a:r>
            <a:endParaRPr lang="en-US" sz="4400" dirty="0"/>
          </a:p>
        </p:txBody>
      </p:sp>
      <p:sp>
        <p:nvSpPr>
          <p:cNvPr id="4" name="goal-848"/>
          <p:cNvSpPr txBox="1"/>
          <p:nvPr/>
        </p:nvSpPr>
        <p:spPr>
          <a:xfrm>
            <a:off x="548640" y="36118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Daily workflow · export settings · shortcuts · feature finder · progress tracker. Come back here whenever you forget something.</a:t>
            </a:r>
            <a:endParaRPr lang="en-US" sz="1800" dirty="0"/>
          </a:p>
        </p:txBody>
      </p:sp>
      <p:pic>
        <p:nvPicPr>
          <p:cNvPr id="5" name="screenshot-849" descr="Screenshot from the Final Cut Pro User Guide, page 9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951232"/>
            <a:ext cx="3840480" cy="31384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daily 40-minute workflow</a:t>
            </a:r>
            <a:endParaRPr lang="en-US" sz="3400" dirty="0"/>
          </a:p>
        </p:txBody>
      </p:sp>
      <p:sp>
        <p:nvSpPr>
          <p:cNvPr id="3" name="card-850"/>
          <p:cNvSpPr/>
          <p:nvPr/>
        </p:nvSpPr>
        <p:spPr>
          <a:xfrm>
            <a:off x="548640" y="164592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/>
        </p:spPr>
      </p:sp>
      <p:sp>
        <p:nvSpPr>
          <p:cNvPr id="4" name="badge-851"/>
          <p:cNvSpPr/>
          <p:nvPr/>
        </p:nvSpPr>
        <p:spPr>
          <a:xfrm>
            <a:off x="1051560" y="1874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num-852"/>
          <p:cNvSpPr txBox="1"/>
          <p:nvPr/>
        </p:nvSpPr>
        <p:spPr>
          <a:xfrm>
            <a:off x="10515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h-853"/>
          <p:cNvSpPr txBox="1"/>
          <p:nvPr/>
        </p:nvSpPr>
        <p:spPr>
          <a:xfrm>
            <a:off x="68580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Shoot</a:t>
            </a:r>
            <a:endParaRPr lang="en-US" sz="1900" dirty="0"/>
          </a:p>
        </p:txBody>
      </p:sp>
      <p:sp>
        <p:nvSpPr>
          <p:cNvPr id="7" name="t-854"/>
          <p:cNvSpPr txBox="1"/>
          <p:nvPr/>
        </p:nvSpPr>
        <p:spPr>
          <a:xfrm>
            <a:off x="685800" y="3154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10 min</a:t>
            </a:r>
            <a:endParaRPr lang="en-US" sz="1400" dirty="0"/>
          </a:p>
        </p:txBody>
      </p:sp>
      <p:sp>
        <p:nvSpPr>
          <p:cNvPr id="8" name="b-855"/>
          <p:cNvSpPr txBox="1"/>
          <p:nvPr/>
        </p:nvSpPr>
        <p:spPr>
          <a:xfrm>
            <a:off x="68580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Phone, vertical, good light, clip-on mic</a:t>
            </a:r>
            <a:endParaRPr lang="en-US" sz="1300" dirty="0"/>
          </a:p>
        </p:txBody>
      </p:sp>
      <p:sp>
        <p:nvSpPr>
          <p:cNvPr id="9" name="card-856"/>
          <p:cNvSpPr/>
          <p:nvPr/>
        </p:nvSpPr>
        <p:spPr>
          <a:xfrm>
            <a:off x="2423160" y="164592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/>
        </p:spPr>
      </p:sp>
      <p:sp>
        <p:nvSpPr>
          <p:cNvPr id="10" name="badge-857"/>
          <p:cNvSpPr/>
          <p:nvPr/>
        </p:nvSpPr>
        <p:spPr>
          <a:xfrm>
            <a:off x="2926080" y="18745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num-858"/>
          <p:cNvSpPr txBox="1"/>
          <p:nvPr/>
        </p:nvSpPr>
        <p:spPr>
          <a:xfrm>
            <a:off x="292608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h-859"/>
          <p:cNvSpPr txBox="1"/>
          <p:nvPr/>
        </p:nvSpPr>
        <p:spPr>
          <a:xfrm>
            <a:off x="256032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Import</a:t>
            </a:r>
            <a:endParaRPr lang="en-US" sz="1900" dirty="0"/>
          </a:p>
        </p:txBody>
      </p:sp>
      <p:sp>
        <p:nvSpPr>
          <p:cNvPr id="13" name="t-860"/>
          <p:cNvSpPr txBox="1"/>
          <p:nvPr/>
        </p:nvSpPr>
        <p:spPr>
          <a:xfrm>
            <a:off x="2560320" y="3154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2 min</a:t>
            </a:r>
            <a:endParaRPr lang="en-US" sz="1400" dirty="0"/>
          </a:p>
        </p:txBody>
      </p:sp>
      <p:sp>
        <p:nvSpPr>
          <p:cNvPr id="14" name="b-861"/>
          <p:cNvSpPr txBox="1"/>
          <p:nvPr/>
        </p:nvSpPr>
        <p:spPr>
          <a:xfrm>
            <a:off x="256032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AirDrop to Mac &gt; FCP &gt; keyword the clips</a:t>
            </a:r>
            <a:endParaRPr lang="en-US" sz="1300" dirty="0"/>
          </a:p>
        </p:txBody>
      </p:sp>
      <p:sp>
        <p:nvSpPr>
          <p:cNvPr id="15" name="card-862"/>
          <p:cNvSpPr/>
          <p:nvPr/>
        </p:nvSpPr>
        <p:spPr>
          <a:xfrm>
            <a:off x="4297680" y="164592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/>
        </p:spPr>
      </p:sp>
      <p:sp>
        <p:nvSpPr>
          <p:cNvPr id="16" name="badge-863"/>
          <p:cNvSpPr/>
          <p:nvPr/>
        </p:nvSpPr>
        <p:spPr>
          <a:xfrm>
            <a:off x="4800600" y="18745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num-864"/>
          <p:cNvSpPr txBox="1"/>
          <p:nvPr/>
        </p:nvSpPr>
        <p:spPr>
          <a:xfrm>
            <a:off x="480060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8" name="h-865"/>
          <p:cNvSpPr txBox="1"/>
          <p:nvPr/>
        </p:nvSpPr>
        <p:spPr>
          <a:xfrm>
            <a:off x="443484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Edit</a:t>
            </a:r>
            <a:endParaRPr lang="en-US" sz="1900" dirty="0"/>
          </a:p>
        </p:txBody>
      </p:sp>
      <p:sp>
        <p:nvSpPr>
          <p:cNvPr id="19" name="t-866"/>
          <p:cNvSpPr txBox="1"/>
          <p:nvPr/>
        </p:nvSpPr>
        <p:spPr>
          <a:xfrm>
            <a:off x="4434840" y="3154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15 min</a:t>
            </a:r>
            <a:endParaRPr lang="en-US" sz="1400" dirty="0"/>
          </a:p>
        </p:txBody>
      </p:sp>
      <p:sp>
        <p:nvSpPr>
          <p:cNvPr id="20" name="b-867"/>
          <p:cNvSpPr txBox="1"/>
          <p:nvPr/>
        </p:nvSpPr>
        <p:spPr>
          <a:xfrm>
            <a:off x="443484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Duplicate template, cut, Generate Captions, music</a:t>
            </a:r>
            <a:endParaRPr lang="en-US" sz="1300" dirty="0"/>
          </a:p>
        </p:txBody>
      </p:sp>
      <p:sp>
        <p:nvSpPr>
          <p:cNvPr id="21" name="card-868"/>
          <p:cNvSpPr/>
          <p:nvPr/>
        </p:nvSpPr>
        <p:spPr>
          <a:xfrm>
            <a:off x="6172200" y="164592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/>
        </p:spPr>
      </p:sp>
      <p:sp>
        <p:nvSpPr>
          <p:cNvPr id="22" name="badge-869"/>
          <p:cNvSpPr/>
          <p:nvPr/>
        </p:nvSpPr>
        <p:spPr>
          <a:xfrm>
            <a:off x="6675120" y="187452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num-870"/>
          <p:cNvSpPr txBox="1"/>
          <p:nvPr/>
        </p:nvSpPr>
        <p:spPr>
          <a:xfrm>
            <a:off x="667512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</a:t>
            </a:r>
            <a:endParaRPr lang="en-US" sz="2400" dirty="0"/>
          </a:p>
        </p:txBody>
      </p:sp>
      <p:sp>
        <p:nvSpPr>
          <p:cNvPr id="24" name="h-871"/>
          <p:cNvSpPr txBox="1"/>
          <p:nvPr/>
        </p:nvSpPr>
        <p:spPr>
          <a:xfrm>
            <a:off x="630936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Polish</a:t>
            </a:r>
            <a:endParaRPr lang="en-US" sz="1900" dirty="0"/>
          </a:p>
        </p:txBody>
      </p:sp>
      <p:sp>
        <p:nvSpPr>
          <p:cNvPr id="25" name="t-872"/>
          <p:cNvSpPr txBox="1"/>
          <p:nvPr/>
        </p:nvSpPr>
        <p:spPr>
          <a:xfrm>
            <a:off x="6309360" y="3154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5 min</a:t>
            </a:r>
            <a:endParaRPr lang="en-US" sz="1400" dirty="0"/>
          </a:p>
        </p:txBody>
      </p:sp>
      <p:sp>
        <p:nvSpPr>
          <p:cNvPr id="26" name="b-873"/>
          <p:cNvSpPr txBox="1"/>
          <p:nvPr/>
        </p:nvSpPr>
        <p:spPr>
          <a:xfrm>
            <a:off x="630936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Enhance Light and Color, Voice Isolation, hook title</a:t>
            </a:r>
            <a:endParaRPr lang="en-US" sz="1300" dirty="0"/>
          </a:p>
        </p:txBody>
      </p:sp>
      <p:sp>
        <p:nvSpPr>
          <p:cNvPr id="27" name="card-874"/>
          <p:cNvSpPr/>
          <p:nvPr/>
        </p:nvSpPr>
        <p:spPr>
          <a:xfrm>
            <a:off x="8046720" y="164592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/>
        </p:spPr>
      </p:sp>
      <p:sp>
        <p:nvSpPr>
          <p:cNvPr id="28" name="badge-875"/>
          <p:cNvSpPr/>
          <p:nvPr/>
        </p:nvSpPr>
        <p:spPr>
          <a:xfrm>
            <a:off x="8549640" y="187452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9" name="num-876"/>
          <p:cNvSpPr txBox="1"/>
          <p:nvPr/>
        </p:nvSpPr>
        <p:spPr>
          <a:xfrm>
            <a:off x="854964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</a:t>
            </a:r>
            <a:endParaRPr lang="en-US" sz="2400" dirty="0"/>
          </a:p>
        </p:txBody>
      </p:sp>
      <p:sp>
        <p:nvSpPr>
          <p:cNvPr id="30" name="h-877"/>
          <p:cNvSpPr txBox="1"/>
          <p:nvPr/>
        </p:nvSpPr>
        <p:spPr>
          <a:xfrm>
            <a:off x="818388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Export</a:t>
            </a:r>
            <a:endParaRPr lang="en-US" sz="1900" dirty="0"/>
          </a:p>
        </p:txBody>
      </p:sp>
      <p:sp>
        <p:nvSpPr>
          <p:cNvPr id="31" name="t-878"/>
          <p:cNvSpPr txBox="1"/>
          <p:nvPr/>
        </p:nvSpPr>
        <p:spPr>
          <a:xfrm>
            <a:off x="8183880" y="3154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 min</a:t>
            </a:r>
            <a:endParaRPr lang="en-US" sz="1400" dirty="0"/>
          </a:p>
        </p:txBody>
      </p:sp>
      <p:sp>
        <p:nvSpPr>
          <p:cNvPr id="32" name="b-879"/>
          <p:cNvSpPr txBox="1"/>
          <p:nvPr/>
        </p:nvSpPr>
        <p:spPr>
          <a:xfrm>
            <a:off x="818388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Share &gt; Social Platforms, captions burned in</a:t>
            </a:r>
            <a:endParaRPr lang="en-US" sz="1300" dirty="0"/>
          </a:p>
        </p:txBody>
      </p:sp>
      <p:sp>
        <p:nvSpPr>
          <p:cNvPr id="33" name="card-880"/>
          <p:cNvSpPr/>
          <p:nvPr/>
        </p:nvSpPr>
        <p:spPr>
          <a:xfrm>
            <a:off x="9921240" y="1645920"/>
            <a:ext cx="1691640" cy="3291840"/>
          </a:xfrm>
          <a:prstGeom prst="roundRect">
            <a:avLst>
              <a:gd name="adj" fmla="val 6486"/>
            </a:avLst>
          </a:prstGeom>
          <a:solidFill>
            <a:schemeClr val="tx2"/>
          </a:solidFill>
          <a:ln/>
        </p:spPr>
      </p:sp>
      <p:sp>
        <p:nvSpPr>
          <p:cNvPr id="34" name="badge-881"/>
          <p:cNvSpPr/>
          <p:nvPr/>
        </p:nvSpPr>
        <p:spPr>
          <a:xfrm>
            <a:off x="10424160" y="187452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5" name="num-882"/>
          <p:cNvSpPr txBox="1"/>
          <p:nvPr/>
        </p:nvSpPr>
        <p:spPr>
          <a:xfrm>
            <a:off x="104241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</a:t>
            </a:r>
            <a:endParaRPr lang="en-US" sz="2400" dirty="0"/>
          </a:p>
        </p:txBody>
      </p:sp>
      <p:sp>
        <p:nvSpPr>
          <p:cNvPr id="36" name="h-883"/>
          <p:cNvSpPr txBox="1"/>
          <p:nvPr/>
        </p:nvSpPr>
        <p:spPr>
          <a:xfrm>
            <a:off x="1005840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Upload</a:t>
            </a:r>
            <a:endParaRPr lang="en-US" sz="1900" dirty="0"/>
          </a:p>
        </p:txBody>
      </p:sp>
      <p:sp>
        <p:nvSpPr>
          <p:cNvPr id="37" name="t-884"/>
          <p:cNvSpPr txBox="1"/>
          <p:nvPr/>
        </p:nvSpPr>
        <p:spPr>
          <a:xfrm>
            <a:off x="10058400" y="31546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5 min</a:t>
            </a:r>
            <a:endParaRPr lang="en-US" sz="1400" dirty="0"/>
          </a:p>
        </p:txBody>
      </p:sp>
      <p:sp>
        <p:nvSpPr>
          <p:cNvPr id="38" name="b-885"/>
          <p:cNvSpPr txBox="1"/>
          <p:nvPr/>
        </p:nvSpPr>
        <p:spPr>
          <a:xfrm>
            <a:off x="10058400" y="356616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YouTube Studio: title, #Shorts, schedule</a:t>
            </a:r>
            <a:endParaRPr lang="en-US" sz="1300" dirty="0"/>
          </a:p>
        </p:txBody>
      </p:sp>
      <p:sp>
        <p:nvSpPr>
          <p:cNvPr id="39" name="card-886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pic>
        <p:nvPicPr>
          <p:cNvPr id="40" name="icon-8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13248"/>
            <a:ext cx="457200" cy="457200"/>
          </a:xfrm>
          <a:prstGeom prst="rect">
            <a:avLst/>
          </a:prstGeom>
        </p:spPr>
      </p:pic>
      <p:sp>
        <p:nvSpPr>
          <p:cNvPr id="41" name="b-888"/>
          <p:cNvSpPr txBox="1"/>
          <p:nvPr/>
        </p:nvSpPr>
        <p:spPr>
          <a:xfrm>
            <a:off x="1463040" y="530352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Batch it: film 5 Shorts in one session (Day 22), edit a few at a time, and schedule them. You don’t have to make each one on the day it goes out.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settings cheat sheet</a:t>
            </a:r>
            <a:endParaRPr lang="en-US" sz="3400" dirty="0"/>
          </a:p>
        </p:txBody>
      </p:sp>
      <p:graphicFrame>
        <p:nvGraphicFramePr>
          <p:cNvPr id="45" name="table-8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72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YouTube Short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Long video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Project format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Vertical 1080×1920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1920×1080 (HD) or 3840×2160 (4K)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Frame rate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Same as your footage (usually 30 fps)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Same as your footage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Length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Up to 3 minutes; 15–60 sec works best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Any length (over 15 min needs a verified account)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FCP destination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Share &gt; Social Platforms (p. 894)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Social Platforms, or Export File for a master copy (p. 810)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Captions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Burn in captions (always visible)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Export as a separate caption file, or burn in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Compression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Single-pass (faster)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Multi-pass (better quality)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Speed tip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Allow export segmentation (p. 848)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Allow export segmentation; batch share (p. 833)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 YouTube Studio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Add #Shorts, hook in the title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Chapters from markers, custom thumbnail, end screen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Shortcuts: editing</a:t>
            </a:r>
            <a:endParaRPr lang="en-US" sz="3400" dirty="0"/>
          </a:p>
        </p:txBody>
      </p:sp>
      <p:graphicFrame>
        <p:nvGraphicFramePr>
          <p:cNvPr id="46" name="table-8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03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Keys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Space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Play or pause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J / K / L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Reverse / stop / forward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 / 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Set range start / end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X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Select the whole clip range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Append to the end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W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Insert at playhead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Q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Connect above storyline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Overwrite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-8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03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Keys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Cmd+B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Cut at playhead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Opt+[ / Opt+]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Trim start / end to playhead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A / B / 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Select / Blade / Trim tool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P / 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Position / Range tool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Snapping on or off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V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Enable or disable a clip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Shift+Z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Fit timeline to window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Cmd+Z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Undo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Shortcuts: audio, titles, colour, speed, export</a:t>
            </a:r>
            <a:endParaRPr lang="en-US" sz="3400" dirty="0"/>
          </a:p>
        </p:txBody>
      </p:sp>
      <p:graphicFrame>
        <p:nvGraphicFramePr>
          <p:cNvPr id="47" name="table-8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03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Keys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Opt+Cmd+A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Enhance Audio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Shift+Cmd+M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Match audio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Ctrl+S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Expand audio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Opt+S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Solo clip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Ctrl+T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Add basic title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Ctrl+Shift+T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Add lower third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Shift+Cmd+S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Generate captions (subtitles)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Cmd+T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Default transition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3" name="table-8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03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Keys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Ctrl+Opt+Cmd+O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Enhance Light and Color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Opt+Cmd+M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Match colour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Cmd+7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Video scopes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Cmd+R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Retime editor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Shift+H / Opt+F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Hold / freeze frame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M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Add marker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Opt+G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New compound clip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Cmd+E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Share to default destination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finder: where is it in the manual?</a:t>
            </a:r>
            <a:endParaRPr lang="en-US" sz="3400" dirty="0"/>
          </a:p>
        </p:txBody>
      </p:sp>
      <p:graphicFrame>
        <p:nvGraphicFramePr>
          <p:cNvPr id="48" name="table-8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35661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en-US" sz="15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Interface and magnetic timeline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9–15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Import media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21–38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Organise (keywords, favourites)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89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New / vertical project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120–127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Add clips (E, W, Q, D)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136–155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Trim and cut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168–187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Markers and chapters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205–209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Edit to the beat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210–214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Stabilise shaky video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216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Audio basics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220–251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Voice Isolation / Enhance Audio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276–278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5" name="table-8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371600"/>
          <a:ext cx="35661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en-US" sz="15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Titles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287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Captions / Generate Captions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355, 385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Transitions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389–400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Transform, crop, Ken Burns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401–403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Smart Conform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404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Keyframe animation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467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478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Compound clips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504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Multicam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513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Retime / speed ramps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558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Green screen keying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623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2" name="table-8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371600"/>
          <a:ext cx="35661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5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en-US" sz="15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Masks / Magnetic Mask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642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Object tracking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693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Colour correction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708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Enhance Light and Color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746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LUTs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783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Video scopes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791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Social Platforms export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894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Thumbnails (Pixelmator Pro)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828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Proxies and media management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850–862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Keyboard shortcuts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897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416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30-day progress tracker</a:t>
            </a:r>
            <a:endParaRPr lang="en-US" sz="3400" dirty="0"/>
          </a:p>
        </p:txBody>
      </p:sp>
      <p:sp>
        <p:nvSpPr>
          <p:cNvPr id="3" name="sub-897"/>
          <p:cNvSpPr txBox="1"/>
          <p:nvPr/>
        </p:nvSpPr>
        <p:spPr>
          <a:xfrm>
            <a:off x="548640" y="1143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Type ✓ in a box when you’ve published that day.</a:t>
            </a:r>
            <a:endParaRPr lang="en-US" sz="1400" dirty="0"/>
          </a:p>
        </p:txBody>
      </p:sp>
      <p:sp>
        <p:nvSpPr>
          <p:cNvPr id="4" name="tracker-card-898"/>
          <p:cNvSpPr/>
          <p:nvPr/>
        </p:nvSpPr>
        <p:spPr>
          <a:xfrm>
            <a:off x="548640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5" name="tnum-899"/>
          <p:cNvSpPr txBox="1"/>
          <p:nvPr/>
        </p:nvSpPr>
        <p:spPr>
          <a:xfrm>
            <a:off x="640080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checkbox-900"/>
          <p:cNvSpPr/>
          <p:nvPr/>
        </p:nvSpPr>
        <p:spPr>
          <a:xfrm>
            <a:off x="822960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check-text-901"/>
          <p:cNvSpPr txBox="1"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8" name="tracker-card-902"/>
          <p:cNvSpPr/>
          <p:nvPr/>
        </p:nvSpPr>
        <p:spPr>
          <a:xfrm>
            <a:off x="1659636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9" name="tnum-903"/>
          <p:cNvSpPr txBox="1"/>
          <p:nvPr/>
        </p:nvSpPr>
        <p:spPr>
          <a:xfrm>
            <a:off x="1751076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checkbox-904"/>
          <p:cNvSpPr/>
          <p:nvPr/>
        </p:nvSpPr>
        <p:spPr>
          <a:xfrm>
            <a:off x="1933956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check-text-905"/>
          <p:cNvSpPr txBox="1"/>
          <p:nvPr/>
        </p:nvSpPr>
        <p:spPr>
          <a:xfrm>
            <a:off x="1933956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2" name="tracker-card-906"/>
          <p:cNvSpPr/>
          <p:nvPr/>
        </p:nvSpPr>
        <p:spPr>
          <a:xfrm>
            <a:off x="2770632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3" name="tnum-907"/>
          <p:cNvSpPr txBox="1"/>
          <p:nvPr/>
        </p:nvSpPr>
        <p:spPr>
          <a:xfrm>
            <a:off x="2862072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checkbox-908"/>
          <p:cNvSpPr/>
          <p:nvPr/>
        </p:nvSpPr>
        <p:spPr>
          <a:xfrm>
            <a:off x="3044952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check-text-909"/>
          <p:cNvSpPr txBox="1"/>
          <p:nvPr/>
        </p:nvSpPr>
        <p:spPr>
          <a:xfrm>
            <a:off x="304495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6" name="tracker-card-910"/>
          <p:cNvSpPr/>
          <p:nvPr/>
        </p:nvSpPr>
        <p:spPr>
          <a:xfrm>
            <a:off x="3881628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7" name="tnum-911"/>
          <p:cNvSpPr txBox="1"/>
          <p:nvPr/>
        </p:nvSpPr>
        <p:spPr>
          <a:xfrm>
            <a:off x="3973068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checkbox-912"/>
          <p:cNvSpPr/>
          <p:nvPr/>
        </p:nvSpPr>
        <p:spPr>
          <a:xfrm>
            <a:off x="4155948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check-text-913"/>
          <p:cNvSpPr txBox="1"/>
          <p:nvPr/>
        </p:nvSpPr>
        <p:spPr>
          <a:xfrm>
            <a:off x="415594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0" name="tracker-card-914"/>
          <p:cNvSpPr/>
          <p:nvPr/>
        </p:nvSpPr>
        <p:spPr>
          <a:xfrm>
            <a:off x="4992624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21" name="tnum-915"/>
          <p:cNvSpPr txBox="1"/>
          <p:nvPr/>
        </p:nvSpPr>
        <p:spPr>
          <a:xfrm>
            <a:off x="5084064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checkbox-916"/>
          <p:cNvSpPr/>
          <p:nvPr/>
        </p:nvSpPr>
        <p:spPr>
          <a:xfrm>
            <a:off x="5266944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check-text-917"/>
          <p:cNvSpPr txBox="1"/>
          <p:nvPr/>
        </p:nvSpPr>
        <p:spPr>
          <a:xfrm>
            <a:off x="526694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4" name="tracker-card-918"/>
          <p:cNvSpPr/>
          <p:nvPr/>
        </p:nvSpPr>
        <p:spPr>
          <a:xfrm>
            <a:off x="6103620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25" name="tnum-919"/>
          <p:cNvSpPr txBox="1"/>
          <p:nvPr/>
        </p:nvSpPr>
        <p:spPr>
          <a:xfrm>
            <a:off x="6195060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</a:t>
            </a:r>
            <a:endParaRPr lang="en-US" sz="1800" dirty="0"/>
          </a:p>
        </p:txBody>
      </p:sp>
      <p:sp>
        <p:nvSpPr>
          <p:cNvPr id="26" name="checkbox-920"/>
          <p:cNvSpPr/>
          <p:nvPr/>
        </p:nvSpPr>
        <p:spPr>
          <a:xfrm>
            <a:off x="6377940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7" name="check-text-921"/>
          <p:cNvSpPr txBox="1"/>
          <p:nvPr/>
        </p:nvSpPr>
        <p:spPr>
          <a:xfrm>
            <a:off x="63779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8" name="tracker-card-922"/>
          <p:cNvSpPr/>
          <p:nvPr/>
        </p:nvSpPr>
        <p:spPr>
          <a:xfrm>
            <a:off x="7214616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29" name="tnum-923"/>
          <p:cNvSpPr txBox="1"/>
          <p:nvPr/>
        </p:nvSpPr>
        <p:spPr>
          <a:xfrm>
            <a:off x="7306056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7</a:t>
            </a:r>
            <a:endParaRPr lang="en-US" sz="1800" dirty="0"/>
          </a:p>
        </p:txBody>
      </p:sp>
      <p:sp>
        <p:nvSpPr>
          <p:cNvPr id="30" name="checkbox-924"/>
          <p:cNvSpPr/>
          <p:nvPr/>
        </p:nvSpPr>
        <p:spPr>
          <a:xfrm>
            <a:off x="7488936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1" name="check-text-925"/>
          <p:cNvSpPr txBox="1"/>
          <p:nvPr/>
        </p:nvSpPr>
        <p:spPr>
          <a:xfrm>
            <a:off x="7488936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32" name="tracker-card-926"/>
          <p:cNvSpPr/>
          <p:nvPr/>
        </p:nvSpPr>
        <p:spPr>
          <a:xfrm>
            <a:off x="8325612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33" name="tnum-927"/>
          <p:cNvSpPr txBox="1"/>
          <p:nvPr/>
        </p:nvSpPr>
        <p:spPr>
          <a:xfrm>
            <a:off x="8417052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</a:t>
            </a:r>
            <a:endParaRPr lang="en-US" sz="1800" dirty="0"/>
          </a:p>
        </p:txBody>
      </p:sp>
      <p:sp>
        <p:nvSpPr>
          <p:cNvPr id="34" name="checkbox-928"/>
          <p:cNvSpPr/>
          <p:nvPr/>
        </p:nvSpPr>
        <p:spPr>
          <a:xfrm>
            <a:off x="8599932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check-text-929"/>
          <p:cNvSpPr txBox="1"/>
          <p:nvPr/>
        </p:nvSpPr>
        <p:spPr>
          <a:xfrm>
            <a:off x="859993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36" name="tracker-card-930"/>
          <p:cNvSpPr/>
          <p:nvPr/>
        </p:nvSpPr>
        <p:spPr>
          <a:xfrm>
            <a:off x="9436608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37" name="tnum-931"/>
          <p:cNvSpPr txBox="1"/>
          <p:nvPr/>
        </p:nvSpPr>
        <p:spPr>
          <a:xfrm>
            <a:off x="9528048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38" name="checkbox-932"/>
          <p:cNvSpPr/>
          <p:nvPr/>
        </p:nvSpPr>
        <p:spPr>
          <a:xfrm>
            <a:off x="9710928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9" name="check-text-933"/>
          <p:cNvSpPr txBox="1"/>
          <p:nvPr/>
        </p:nvSpPr>
        <p:spPr>
          <a:xfrm>
            <a:off x="971092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40" name="tracker-card-934"/>
          <p:cNvSpPr/>
          <p:nvPr/>
        </p:nvSpPr>
        <p:spPr>
          <a:xfrm>
            <a:off x="10547604" y="164592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41" name="tnum-935"/>
          <p:cNvSpPr txBox="1"/>
          <p:nvPr/>
        </p:nvSpPr>
        <p:spPr>
          <a:xfrm>
            <a:off x="10639044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10</a:t>
            </a:r>
            <a:endParaRPr lang="en-US" sz="1800" dirty="0"/>
          </a:p>
        </p:txBody>
      </p:sp>
      <p:sp>
        <p:nvSpPr>
          <p:cNvPr id="42" name="checkbox-936"/>
          <p:cNvSpPr/>
          <p:nvPr/>
        </p:nvSpPr>
        <p:spPr>
          <a:xfrm>
            <a:off x="10821924" y="219456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3" name="check-text-937"/>
          <p:cNvSpPr txBox="1"/>
          <p:nvPr/>
        </p:nvSpPr>
        <p:spPr>
          <a:xfrm>
            <a:off x="1082192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44" name="tracker-card-938"/>
          <p:cNvSpPr/>
          <p:nvPr/>
        </p:nvSpPr>
        <p:spPr>
          <a:xfrm>
            <a:off x="548640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45" name="tnum-939"/>
          <p:cNvSpPr txBox="1"/>
          <p:nvPr/>
        </p:nvSpPr>
        <p:spPr>
          <a:xfrm>
            <a:off x="640080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11</a:t>
            </a:r>
            <a:endParaRPr lang="en-US" sz="1800" dirty="0"/>
          </a:p>
        </p:txBody>
      </p:sp>
      <p:sp>
        <p:nvSpPr>
          <p:cNvPr id="46" name="checkbox-940"/>
          <p:cNvSpPr/>
          <p:nvPr/>
        </p:nvSpPr>
        <p:spPr>
          <a:xfrm>
            <a:off x="822960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7" name="check-text-941"/>
          <p:cNvSpPr txBox="1"/>
          <p:nvPr/>
        </p:nvSpPr>
        <p:spPr>
          <a:xfrm>
            <a:off x="8229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48" name="tracker-card-942"/>
          <p:cNvSpPr/>
          <p:nvPr/>
        </p:nvSpPr>
        <p:spPr>
          <a:xfrm>
            <a:off x="1659636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49" name="tnum-943"/>
          <p:cNvSpPr txBox="1"/>
          <p:nvPr/>
        </p:nvSpPr>
        <p:spPr>
          <a:xfrm>
            <a:off x="1751076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12</a:t>
            </a:r>
            <a:endParaRPr lang="en-US" sz="1800" dirty="0"/>
          </a:p>
        </p:txBody>
      </p:sp>
      <p:sp>
        <p:nvSpPr>
          <p:cNvPr id="50" name="checkbox-944"/>
          <p:cNvSpPr/>
          <p:nvPr/>
        </p:nvSpPr>
        <p:spPr>
          <a:xfrm>
            <a:off x="1933956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51" name="check-text-945"/>
          <p:cNvSpPr txBox="1"/>
          <p:nvPr/>
        </p:nvSpPr>
        <p:spPr>
          <a:xfrm>
            <a:off x="1933956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52" name="tracker-card-946"/>
          <p:cNvSpPr/>
          <p:nvPr/>
        </p:nvSpPr>
        <p:spPr>
          <a:xfrm>
            <a:off x="2770632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53" name="tnum-947"/>
          <p:cNvSpPr txBox="1"/>
          <p:nvPr/>
        </p:nvSpPr>
        <p:spPr>
          <a:xfrm>
            <a:off x="2862072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13</a:t>
            </a:r>
            <a:endParaRPr lang="en-US" sz="1800" dirty="0"/>
          </a:p>
        </p:txBody>
      </p:sp>
      <p:sp>
        <p:nvSpPr>
          <p:cNvPr id="54" name="checkbox-948"/>
          <p:cNvSpPr/>
          <p:nvPr/>
        </p:nvSpPr>
        <p:spPr>
          <a:xfrm>
            <a:off x="3044952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55" name="check-text-949"/>
          <p:cNvSpPr txBox="1"/>
          <p:nvPr/>
        </p:nvSpPr>
        <p:spPr>
          <a:xfrm>
            <a:off x="3044952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56" name="tracker-card-950"/>
          <p:cNvSpPr/>
          <p:nvPr/>
        </p:nvSpPr>
        <p:spPr>
          <a:xfrm>
            <a:off x="3881628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57" name="tnum-951"/>
          <p:cNvSpPr txBox="1"/>
          <p:nvPr/>
        </p:nvSpPr>
        <p:spPr>
          <a:xfrm>
            <a:off x="3973068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14</a:t>
            </a:r>
            <a:endParaRPr lang="en-US" sz="1800" dirty="0"/>
          </a:p>
        </p:txBody>
      </p:sp>
      <p:sp>
        <p:nvSpPr>
          <p:cNvPr id="58" name="checkbox-952"/>
          <p:cNvSpPr/>
          <p:nvPr/>
        </p:nvSpPr>
        <p:spPr>
          <a:xfrm>
            <a:off x="4155948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59" name="check-text-953"/>
          <p:cNvSpPr txBox="1"/>
          <p:nvPr/>
        </p:nvSpPr>
        <p:spPr>
          <a:xfrm>
            <a:off x="4155948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60" name="tracker-card-954"/>
          <p:cNvSpPr/>
          <p:nvPr/>
        </p:nvSpPr>
        <p:spPr>
          <a:xfrm>
            <a:off x="4992624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61" name="tnum-955"/>
          <p:cNvSpPr txBox="1"/>
          <p:nvPr/>
        </p:nvSpPr>
        <p:spPr>
          <a:xfrm>
            <a:off x="5084064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15</a:t>
            </a:r>
            <a:endParaRPr lang="en-US" sz="1800" dirty="0"/>
          </a:p>
        </p:txBody>
      </p:sp>
      <p:sp>
        <p:nvSpPr>
          <p:cNvPr id="62" name="checkbox-956"/>
          <p:cNvSpPr/>
          <p:nvPr/>
        </p:nvSpPr>
        <p:spPr>
          <a:xfrm>
            <a:off x="5266944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3" name="check-text-957"/>
          <p:cNvSpPr txBox="1"/>
          <p:nvPr/>
        </p:nvSpPr>
        <p:spPr>
          <a:xfrm>
            <a:off x="5266944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64" name="tracker-card-958"/>
          <p:cNvSpPr/>
          <p:nvPr/>
        </p:nvSpPr>
        <p:spPr>
          <a:xfrm>
            <a:off x="6103620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65" name="tnum-959"/>
          <p:cNvSpPr txBox="1"/>
          <p:nvPr/>
        </p:nvSpPr>
        <p:spPr>
          <a:xfrm>
            <a:off x="6195060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16</a:t>
            </a:r>
            <a:endParaRPr lang="en-US" sz="1800" dirty="0"/>
          </a:p>
        </p:txBody>
      </p:sp>
      <p:sp>
        <p:nvSpPr>
          <p:cNvPr id="66" name="checkbox-960"/>
          <p:cNvSpPr/>
          <p:nvPr/>
        </p:nvSpPr>
        <p:spPr>
          <a:xfrm>
            <a:off x="6377940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7" name="check-text-961"/>
          <p:cNvSpPr txBox="1"/>
          <p:nvPr/>
        </p:nvSpPr>
        <p:spPr>
          <a:xfrm>
            <a:off x="63779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68" name="tracker-card-962"/>
          <p:cNvSpPr/>
          <p:nvPr/>
        </p:nvSpPr>
        <p:spPr>
          <a:xfrm>
            <a:off x="7214616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69" name="tnum-963"/>
          <p:cNvSpPr txBox="1"/>
          <p:nvPr/>
        </p:nvSpPr>
        <p:spPr>
          <a:xfrm>
            <a:off x="7306056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17</a:t>
            </a:r>
            <a:endParaRPr lang="en-US" sz="1800" dirty="0"/>
          </a:p>
        </p:txBody>
      </p:sp>
      <p:sp>
        <p:nvSpPr>
          <p:cNvPr id="70" name="checkbox-964"/>
          <p:cNvSpPr/>
          <p:nvPr/>
        </p:nvSpPr>
        <p:spPr>
          <a:xfrm>
            <a:off x="7488936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1" name="check-text-965"/>
          <p:cNvSpPr txBox="1"/>
          <p:nvPr/>
        </p:nvSpPr>
        <p:spPr>
          <a:xfrm>
            <a:off x="7488936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72" name="tracker-card-966"/>
          <p:cNvSpPr/>
          <p:nvPr/>
        </p:nvSpPr>
        <p:spPr>
          <a:xfrm>
            <a:off x="8325612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73" name="tnum-967"/>
          <p:cNvSpPr txBox="1"/>
          <p:nvPr/>
        </p:nvSpPr>
        <p:spPr>
          <a:xfrm>
            <a:off x="8417052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18</a:t>
            </a:r>
            <a:endParaRPr lang="en-US" sz="1800" dirty="0"/>
          </a:p>
        </p:txBody>
      </p:sp>
      <p:sp>
        <p:nvSpPr>
          <p:cNvPr id="74" name="checkbox-968"/>
          <p:cNvSpPr/>
          <p:nvPr/>
        </p:nvSpPr>
        <p:spPr>
          <a:xfrm>
            <a:off x="8599932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5" name="check-text-969"/>
          <p:cNvSpPr txBox="1"/>
          <p:nvPr/>
        </p:nvSpPr>
        <p:spPr>
          <a:xfrm>
            <a:off x="8599932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76" name="tracker-card-970"/>
          <p:cNvSpPr/>
          <p:nvPr/>
        </p:nvSpPr>
        <p:spPr>
          <a:xfrm>
            <a:off x="9436608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77" name="tnum-971"/>
          <p:cNvSpPr txBox="1"/>
          <p:nvPr/>
        </p:nvSpPr>
        <p:spPr>
          <a:xfrm>
            <a:off x="9528048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19</a:t>
            </a:r>
            <a:endParaRPr lang="en-US" sz="1800" dirty="0"/>
          </a:p>
        </p:txBody>
      </p:sp>
      <p:sp>
        <p:nvSpPr>
          <p:cNvPr id="78" name="checkbox-972"/>
          <p:cNvSpPr/>
          <p:nvPr/>
        </p:nvSpPr>
        <p:spPr>
          <a:xfrm>
            <a:off x="9710928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9" name="check-text-973"/>
          <p:cNvSpPr txBox="1"/>
          <p:nvPr/>
        </p:nvSpPr>
        <p:spPr>
          <a:xfrm>
            <a:off x="9710928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80" name="tracker-card-974"/>
          <p:cNvSpPr/>
          <p:nvPr/>
        </p:nvSpPr>
        <p:spPr>
          <a:xfrm>
            <a:off x="10547604" y="315468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81" name="tnum-975"/>
          <p:cNvSpPr txBox="1"/>
          <p:nvPr/>
        </p:nvSpPr>
        <p:spPr>
          <a:xfrm>
            <a:off x="10639044" y="322783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20</a:t>
            </a:r>
            <a:endParaRPr lang="en-US" sz="1800" dirty="0"/>
          </a:p>
        </p:txBody>
      </p:sp>
      <p:sp>
        <p:nvSpPr>
          <p:cNvPr id="82" name="checkbox-976"/>
          <p:cNvSpPr/>
          <p:nvPr/>
        </p:nvSpPr>
        <p:spPr>
          <a:xfrm>
            <a:off x="10821924" y="370332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83" name="check-text-977"/>
          <p:cNvSpPr txBox="1"/>
          <p:nvPr/>
        </p:nvSpPr>
        <p:spPr>
          <a:xfrm>
            <a:off x="10821924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84" name="tracker-card-978"/>
          <p:cNvSpPr/>
          <p:nvPr/>
        </p:nvSpPr>
        <p:spPr>
          <a:xfrm>
            <a:off x="548640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85" name="tnum-979"/>
          <p:cNvSpPr txBox="1"/>
          <p:nvPr/>
        </p:nvSpPr>
        <p:spPr>
          <a:xfrm>
            <a:off x="640080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21</a:t>
            </a:r>
            <a:endParaRPr lang="en-US" sz="1800" dirty="0"/>
          </a:p>
        </p:txBody>
      </p:sp>
      <p:sp>
        <p:nvSpPr>
          <p:cNvPr id="86" name="checkbox-980"/>
          <p:cNvSpPr/>
          <p:nvPr/>
        </p:nvSpPr>
        <p:spPr>
          <a:xfrm>
            <a:off x="822960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87" name="check-text-981"/>
          <p:cNvSpPr txBox="1"/>
          <p:nvPr/>
        </p:nvSpPr>
        <p:spPr>
          <a:xfrm>
            <a:off x="82296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88" name="tracker-card-982"/>
          <p:cNvSpPr/>
          <p:nvPr/>
        </p:nvSpPr>
        <p:spPr>
          <a:xfrm>
            <a:off x="1659636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89" name="tnum-983"/>
          <p:cNvSpPr txBox="1"/>
          <p:nvPr/>
        </p:nvSpPr>
        <p:spPr>
          <a:xfrm>
            <a:off x="1751076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22</a:t>
            </a:r>
            <a:endParaRPr lang="en-US" sz="1800" dirty="0"/>
          </a:p>
        </p:txBody>
      </p:sp>
      <p:sp>
        <p:nvSpPr>
          <p:cNvPr id="90" name="checkbox-984"/>
          <p:cNvSpPr/>
          <p:nvPr/>
        </p:nvSpPr>
        <p:spPr>
          <a:xfrm>
            <a:off x="1933956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91" name="check-text-985"/>
          <p:cNvSpPr txBox="1"/>
          <p:nvPr/>
        </p:nvSpPr>
        <p:spPr>
          <a:xfrm>
            <a:off x="1933956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92" name="tracker-card-986"/>
          <p:cNvSpPr/>
          <p:nvPr/>
        </p:nvSpPr>
        <p:spPr>
          <a:xfrm>
            <a:off x="2770632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93" name="tnum-987"/>
          <p:cNvSpPr txBox="1"/>
          <p:nvPr/>
        </p:nvSpPr>
        <p:spPr>
          <a:xfrm>
            <a:off x="2862072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23</a:t>
            </a:r>
            <a:endParaRPr lang="en-US" sz="1800" dirty="0"/>
          </a:p>
        </p:txBody>
      </p:sp>
      <p:sp>
        <p:nvSpPr>
          <p:cNvPr id="94" name="checkbox-988"/>
          <p:cNvSpPr/>
          <p:nvPr/>
        </p:nvSpPr>
        <p:spPr>
          <a:xfrm>
            <a:off x="3044952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95" name="check-text-989"/>
          <p:cNvSpPr txBox="1"/>
          <p:nvPr/>
        </p:nvSpPr>
        <p:spPr>
          <a:xfrm>
            <a:off x="3044952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96" name="tracker-card-990"/>
          <p:cNvSpPr/>
          <p:nvPr/>
        </p:nvSpPr>
        <p:spPr>
          <a:xfrm>
            <a:off x="3881628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97" name="tnum-991"/>
          <p:cNvSpPr txBox="1"/>
          <p:nvPr/>
        </p:nvSpPr>
        <p:spPr>
          <a:xfrm>
            <a:off x="3973068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24</a:t>
            </a:r>
            <a:endParaRPr lang="en-US" sz="1800" dirty="0"/>
          </a:p>
        </p:txBody>
      </p:sp>
      <p:sp>
        <p:nvSpPr>
          <p:cNvPr id="98" name="checkbox-992"/>
          <p:cNvSpPr/>
          <p:nvPr/>
        </p:nvSpPr>
        <p:spPr>
          <a:xfrm>
            <a:off x="4155948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99" name="check-text-993"/>
          <p:cNvSpPr txBox="1"/>
          <p:nvPr/>
        </p:nvSpPr>
        <p:spPr>
          <a:xfrm>
            <a:off x="4155948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00" name="tracker-card-994"/>
          <p:cNvSpPr/>
          <p:nvPr/>
        </p:nvSpPr>
        <p:spPr>
          <a:xfrm>
            <a:off x="4992624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01" name="tnum-995"/>
          <p:cNvSpPr txBox="1"/>
          <p:nvPr/>
        </p:nvSpPr>
        <p:spPr>
          <a:xfrm>
            <a:off x="5084064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25</a:t>
            </a:r>
            <a:endParaRPr lang="en-US" sz="1800" dirty="0"/>
          </a:p>
        </p:txBody>
      </p:sp>
      <p:sp>
        <p:nvSpPr>
          <p:cNvPr id="102" name="checkbox-996"/>
          <p:cNvSpPr/>
          <p:nvPr/>
        </p:nvSpPr>
        <p:spPr>
          <a:xfrm>
            <a:off x="5266944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03" name="check-text-997"/>
          <p:cNvSpPr txBox="1"/>
          <p:nvPr/>
        </p:nvSpPr>
        <p:spPr>
          <a:xfrm>
            <a:off x="5266944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04" name="tracker-card-998"/>
          <p:cNvSpPr/>
          <p:nvPr/>
        </p:nvSpPr>
        <p:spPr>
          <a:xfrm>
            <a:off x="6103620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05" name="tnum-999"/>
          <p:cNvSpPr txBox="1"/>
          <p:nvPr/>
        </p:nvSpPr>
        <p:spPr>
          <a:xfrm>
            <a:off x="6195060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26</a:t>
            </a:r>
            <a:endParaRPr lang="en-US" sz="1800" dirty="0"/>
          </a:p>
        </p:txBody>
      </p:sp>
      <p:sp>
        <p:nvSpPr>
          <p:cNvPr id="106" name="checkbox-1000"/>
          <p:cNvSpPr/>
          <p:nvPr/>
        </p:nvSpPr>
        <p:spPr>
          <a:xfrm>
            <a:off x="6377940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07" name="check-text-1001"/>
          <p:cNvSpPr txBox="1"/>
          <p:nvPr/>
        </p:nvSpPr>
        <p:spPr>
          <a:xfrm>
            <a:off x="63779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08" name="tracker-card-1002"/>
          <p:cNvSpPr/>
          <p:nvPr/>
        </p:nvSpPr>
        <p:spPr>
          <a:xfrm>
            <a:off x="7214616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09" name="tnum-1003"/>
          <p:cNvSpPr txBox="1"/>
          <p:nvPr/>
        </p:nvSpPr>
        <p:spPr>
          <a:xfrm>
            <a:off x="7306056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27</a:t>
            </a:r>
            <a:endParaRPr lang="en-US" sz="1800" dirty="0"/>
          </a:p>
        </p:txBody>
      </p:sp>
      <p:sp>
        <p:nvSpPr>
          <p:cNvPr id="110" name="checkbox-1004"/>
          <p:cNvSpPr/>
          <p:nvPr/>
        </p:nvSpPr>
        <p:spPr>
          <a:xfrm>
            <a:off x="7488936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11" name="check-text-1005"/>
          <p:cNvSpPr txBox="1"/>
          <p:nvPr/>
        </p:nvSpPr>
        <p:spPr>
          <a:xfrm>
            <a:off x="7488936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12" name="tracker-card-1006"/>
          <p:cNvSpPr/>
          <p:nvPr/>
        </p:nvSpPr>
        <p:spPr>
          <a:xfrm>
            <a:off x="8325612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13" name="tnum-1007"/>
          <p:cNvSpPr txBox="1"/>
          <p:nvPr/>
        </p:nvSpPr>
        <p:spPr>
          <a:xfrm>
            <a:off x="8417052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28</a:t>
            </a:r>
            <a:endParaRPr lang="en-US" sz="1800" dirty="0"/>
          </a:p>
        </p:txBody>
      </p:sp>
      <p:sp>
        <p:nvSpPr>
          <p:cNvPr id="114" name="checkbox-1008"/>
          <p:cNvSpPr/>
          <p:nvPr/>
        </p:nvSpPr>
        <p:spPr>
          <a:xfrm>
            <a:off x="8599932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15" name="check-text-1009"/>
          <p:cNvSpPr txBox="1"/>
          <p:nvPr/>
        </p:nvSpPr>
        <p:spPr>
          <a:xfrm>
            <a:off x="8599932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16" name="tracker-card-1010"/>
          <p:cNvSpPr/>
          <p:nvPr/>
        </p:nvSpPr>
        <p:spPr>
          <a:xfrm>
            <a:off x="9436608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17" name="tnum-1011"/>
          <p:cNvSpPr txBox="1"/>
          <p:nvPr/>
        </p:nvSpPr>
        <p:spPr>
          <a:xfrm>
            <a:off x="9528048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29</a:t>
            </a:r>
            <a:endParaRPr lang="en-US" sz="1800" dirty="0"/>
          </a:p>
        </p:txBody>
      </p:sp>
      <p:sp>
        <p:nvSpPr>
          <p:cNvPr id="118" name="checkbox-1012"/>
          <p:cNvSpPr/>
          <p:nvPr/>
        </p:nvSpPr>
        <p:spPr>
          <a:xfrm>
            <a:off x="9710928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19" name="check-text-1013"/>
          <p:cNvSpPr txBox="1"/>
          <p:nvPr/>
        </p:nvSpPr>
        <p:spPr>
          <a:xfrm>
            <a:off x="9710928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20" name="tracker-card-1014"/>
          <p:cNvSpPr/>
          <p:nvPr/>
        </p:nvSpPr>
        <p:spPr>
          <a:xfrm>
            <a:off x="10547604" y="4663440"/>
            <a:ext cx="1005840" cy="132588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121" name="tnum-1015"/>
          <p:cNvSpPr txBox="1"/>
          <p:nvPr/>
        </p:nvSpPr>
        <p:spPr>
          <a:xfrm>
            <a:off x="10639044" y="47365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30</a:t>
            </a:r>
            <a:endParaRPr lang="en-US" sz="1800" dirty="0"/>
          </a:p>
        </p:txBody>
      </p:sp>
      <p:sp>
        <p:nvSpPr>
          <p:cNvPr id="122" name="checkbox-1016"/>
          <p:cNvSpPr/>
          <p:nvPr/>
        </p:nvSpPr>
        <p:spPr>
          <a:xfrm>
            <a:off x="10821924" y="5212080"/>
            <a:ext cx="45720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23" name="check-text-1017"/>
          <p:cNvSpPr txBox="1"/>
          <p:nvPr/>
        </p:nvSpPr>
        <p:spPr>
          <a:xfrm>
            <a:off x="10821924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24" name="legend-dot-1018"/>
          <p:cNvSpPr/>
          <p:nvPr/>
        </p:nvSpPr>
        <p:spPr>
          <a:xfrm>
            <a:off x="548640" y="6199632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5" name="legend-1019"/>
          <p:cNvSpPr txBox="1"/>
          <p:nvPr/>
        </p:nvSpPr>
        <p:spPr>
          <a:xfrm>
            <a:off x="804672" y="612648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Week 1: Core editing</a:t>
            </a:r>
            <a:endParaRPr lang="en-US" sz="1100" dirty="0"/>
          </a:p>
        </p:txBody>
      </p:sp>
      <p:sp>
        <p:nvSpPr>
          <p:cNvPr id="126" name="legend-dot-1020"/>
          <p:cNvSpPr/>
          <p:nvPr/>
        </p:nvSpPr>
        <p:spPr>
          <a:xfrm>
            <a:off x="3364992" y="6199632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7" name="legend-1021"/>
          <p:cNvSpPr txBox="1"/>
          <p:nvPr/>
        </p:nvSpPr>
        <p:spPr>
          <a:xfrm>
            <a:off x="3621024" y="612648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Week 2: Speed and polish</a:t>
            </a:r>
            <a:endParaRPr lang="en-US" sz="1100" dirty="0"/>
          </a:p>
        </p:txBody>
      </p:sp>
      <p:sp>
        <p:nvSpPr>
          <p:cNvPr id="128" name="legend-dot-1022"/>
          <p:cNvSpPr/>
          <p:nvPr/>
        </p:nvSpPr>
        <p:spPr>
          <a:xfrm>
            <a:off x="6181344" y="6199632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9" name="legend-1023"/>
          <p:cNvSpPr txBox="1"/>
          <p:nvPr/>
        </p:nvSpPr>
        <p:spPr>
          <a:xfrm>
            <a:off x="6437376" y="612648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Week 3: Creative tools</a:t>
            </a:r>
            <a:endParaRPr lang="en-US" sz="1100" dirty="0"/>
          </a:p>
        </p:txBody>
      </p:sp>
      <p:sp>
        <p:nvSpPr>
          <p:cNvPr id="130" name="legend-dot-1024"/>
          <p:cNvSpPr/>
          <p:nvPr/>
        </p:nvSpPr>
        <p:spPr>
          <a:xfrm>
            <a:off x="8997696" y="6199632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1" name="legend-1025"/>
          <p:cNvSpPr txBox="1"/>
          <p:nvPr/>
        </p:nvSpPr>
        <p:spPr>
          <a:xfrm>
            <a:off x="9253728" y="612648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Week 4: Real-time daily workflow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-1026"/>
          <p:cNvSpPr txBox="1"/>
          <p:nvPr/>
        </p:nvSpPr>
        <p:spPr>
          <a:xfrm>
            <a:off x="54864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3"/>
                </a:solidFill>
              </a:rPr>
              <a:t>DAY 31 AND BEYOND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going</a:t>
            </a:r>
            <a:endParaRPr lang="en-US" sz="4400" dirty="0"/>
          </a:p>
        </p:txBody>
      </p:sp>
      <p:sp>
        <p:nvSpPr>
          <p:cNvPr id="4" name="list-1027"/>
          <p:cNvSpPr txBox="1"/>
          <p:nvPr/>
        </p:nvSpPr>
        <p:spPr>
          <a:xfrm>
            <a:off x="548640" y="365760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Keep one Short a day, plus one or two long videos a week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Each month, go deeper into one area: colour, sound or motion graphics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Reread your My notes boxes every Sunday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Use the feature finder whenever you forget something</a:t>
            </a:r>
            <a:endParaRPr lang="en-US" sz="1700" dirty="0"/>
          </a:p>
        </p:txBody>
      </p:sp>
      <p:pic>
        <p:nvPicPr>
          <p:cNvPr id="5" name="screenshot-1028" descr="Screenshot from the Final Cut Pro User Guide, page 6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153404"/>
            <a:ext cx="3840480" cy="27340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CP 30 Days">
  <a:themeElements>
    <a:clrScheme name="FCP 30 Days">
      <a:dk1>
        <a:srgbClr val="14161F"/>
      </a:dk1>
      <a:lt1>
        <a:srgbClr val="F4F4F7"/>
      </a:lt1>
      <a:dk2>
        <a:srgbClr val="222636"/>
      </a:dk2>
      <a:lt2>
        <a:srgbClr val="A9ADC1"/>
      </a:lt2>
      <a:accent1>
        <a:srgbClr val="8B6CFF"/>
      </a:accent1>
      <a:accent2>
        <a:srgbClr val="FF6B4A"/>
      </a:accent2>
      <a:accent3>
        <a:srgbClr val="2FD3A7"/>
      </a:accent3>
      <a:accent4>
        <a:srgbClr val="FFB547"/>
      </a:accent4>
      <a:accent5>
        <a:srgbClr val="4FB3FF"/>
      </a:accent5>
      <a:accent6>
        <a:srgbClr val="FF5FA2"/>
      </a:accent6>
      <a:hlink>
        <a:srgbClr val="4FB3FF"/>
      </a:hlink>
      <a:folHlink>
        <a:srgbClr val="8B6CFF"/>
      </a:folHlink>
    </a:clrScheme>
    <a:fontScheme name="FCP 30 Day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Cut Pro in 30 Days</dc:title>
  <dc:subject>PptxGenJS Presentation</dc:subject>
  <dc:creator>My FCP learning plan</dc:creator>
  <cp:lastModifiedBy>My FCP learning plan</cp:lastModifiedBy>
  <cp:revision>1</cp:revision>
  <dcterms:created xsi:type="dcterms:W3CDTF">2026-11-01T11:52:15Z</dcterms:created>
  <dcterms:modified xsi:type="dcterms:W3CDTF">2026-11-01T11:52:15Z</dcterms:modified>
</cp:coreProperties>
</file>