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 here" id="{a8682c1f-2f03-da7f-243e-30129d16e370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Week 1: Core editing" id="{00461e75-d617-1332-bea5-5fbd3d08b57a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Week 2: Speed and polish" id="{3d48e3bd-3450-10ac-91b2-e68ffbddd191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eek 3: Creative tools" id="{e86456db-1941-5038-8234-95a410ac5054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Week 4: Real-time daily workflow" id="{6333f559-02ec-0b88-77be-bbf16c4e6263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Quick reference" id="{5fcd53ed-7106-1bdf-2418-69790bfb5395}">
          <p14:sldIdLst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0350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7764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3172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Cut Pro in 30 Days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Cut Pro in 30 Days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Y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Cut Pro in 30 Days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1w5lalpGmA" TargetMode="External"/><Relationship Id="rId4" Type="http://schemas.openxmlformats.org/officeDocument/2006/relationships/hyperlink" Target="https://www.youtube.com/watch?v=mX4JNRRya3U" TargetMode="External"/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Ch7L5hHAkM" TargetMode="External"/><Relationship Id="rId4" Type="http://schemas.openxmlformats.org/officeDocument/2006/relationships/hyperlink" Target="https://www.youtube.com/watch?v=SMH2MN3I6zg" TargetMode="External"/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nu6FiZ_Vd0" TargetMode="External"/><Relationship Id="rId4" Type="http://schemas.openxmlformats.org/officeDocument/2006/relationships/hyperlink" Target="https://www.youtube.com/watch?v=bjcBYzUoyBw" TargetMode="External"/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a83bWbPQeo" TargetMode="External"/><Relationship Id="rId4" Type="http://schemas.openxmlformats.org/officeDocument/2006/relationships/hyperlink" Target="https://www.youtube.com/watch?v=IHo3vz_5aGs" TargetMode="External"/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Vq28NxZckM" TargetMode="External"/><Relationship Id="rId4" Type="http://schemas.openxmlformats.org/officeDocument/2006/relationships/hyperlink" Target="https://www.youtube.com/watch?v=IyGhfu3i6HY" TargetMode="External"/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PhmMrVYIGY" TargetMode="External"/><Relationship Id="rId4" Type="http://schemas.openxmlformats.org/officeDocument/2006/relationships/hyperlink" Target="https://www.youtube.com/watch?v=O3Ph7VCOBaE" TargetMode="External"/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sepEaDWF0U" TargetMode="External"/><Relationship Id="rId4" Type="http://schemas.openxmlformats.org/officeDocument/2006/relationships/hyperlink" Target="https://www.youtube.com/watch?v=ZGQQDCVrvao" TargetMode="External"/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jiVYTR5Hp4" TargetMode="External"/><Relationship Id="rId4" Type="http://schemas.openxmlformats.org/officeDocument/2006/relationships/hyperlink" Target="https://www.youtube.com/watch?v=79AWL2lMoME" TargetMode="External"/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Q87idx6ZIw" TargetMode="External"/><Relationship Id="rId4" Type="http://schemas.openxmlformats.org/officeDocument/2006/relationships/hyperlink" Target="https://www.youtube.com/watch?v=rzsMq2Fujmc" TargetMode="External"/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nU5CCToDYo" TargetMode="External"/><Relationship Id="rId4" Type="http://schemas.openxmlformats.org/officeDocument/2006/relationships/hyperlink" Target="https://www.youtube.com/watch?v=lQfpl03fWMc" TargetMode="External"/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0OJ_wAnC6I" TargetMode="External"/><Relationship Id="rId4" Type="http://schemas.openxmlformats.org/officeDocument/2006/relationships/hyperlink" Target="https://www.youtube.com/watch?v=6yrA7JHYkdA" TargetMode="External"/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_NnAbIaR1I" TargetMode="External"/><Relationship Id="rId4" Type="http://schemas.openxmlformats.org/officeDocument/2006/relationships/hyperlink" Target="https://www.youtube.com/watch?v=QbINvWI3ZeU" TargetMode="External"/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Lzn3ZIvh20" TargetMode="External"/><Relationship Id="rId4" Type="http://schemas.openxmlformats.org/officeDocument/2006/relationships/hyperlink" Target="https://www.youtube.com/watch?v=dreN2uhpT-w" TargetMode="External"/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xHoXRbgcSY" TargetMode="External"/><Relationship Id="rId4" Type="http://schemas.openxmlformats.org/officeDocument/2006/relationships/hyperlink" Target="https://www.youtube.com/watch?v=uAKeuR0yENs" TargetMode="External"/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8DZgSRsvF4" TargetMode="External"/><Relationship Id="rId4" Type="http://schemas.openxmlformats.org/officeDocument/2006/relationships/hyperlink" Target="https://www.youtube.com/watch?v=KdfFCRaO2h0" TargetMode="External"/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YUKAg-piww" TargetMode="External"/><Relationship Id="rId4" Type="http://schemas.openxmlformats.org/officeDocument/2006/relationships/hyperlink" Target="https://www.youtube.com/watch?v=6y8DjBjUzJs" TargetMode="External"/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DM5rnxtb6Y" TargetMode="External"/><Relationship Id="rId4" Type="http://schemas.openxmlformats.org/officeDocument/2006/relationships/hyperlink" Target="https://www.youtube.com/watch?v=HCMTD9YCZYk" TargetMode="External"/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tPxCxZiqgc" TargetMode="External"/><Relationship Id="rId4" Type="http://schemas.openxmlformats.org/officeDocument/2006/relationships/hyperlink" Target="https://www.youtube.com/watch?v=Dciy-b-oZQg" TargetMode="External"/><Relationship Id="rId1" Type="http://schemas.openxmlformats.org/officeDocument/2006/relationships/image" Target="../media/image-28-1.jpg"/><Relationship Id="rId2" Type="http://schemas.openxmlformats.org/officeDocument/2006/relationships/image" Target="../media/image-28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YEG18HSxqk" TargetMode="External"/><Relationship Id="rId4" Type="http://schemas.openxmlformats.org/officeDocument/2006/relationships/hyperlink" Target="https://www.youtube.com/watch?v=NMc4I1VFIQY" TargetMode="External"/><Relationship Id="rId1" Type="http://schemas.openxmlformats.org/officeDocument/2006/relationships/image" Target="../media/image-29-1.jpg"/><Relationship Id="rId2" Type="http://schemas.openxmlformats.org/officeDocument/2006/relationships/image" Target="../media/image-29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Giw--LD7Os" TargetMode="External"/><Relationship Id="rId4" Type="http://schemas.openxmlformats.org/officeDocument/2006/relationships/hyperlink" Target="https://www.youtube.com/watch?v=c00CWAB25rg" TargetMode="External"/><Relationship Id="rId1" Type="http://schemas.openxmlformats.org/officeDocument/2006/relationships/image" Target="../media/image-30-1.jpg"/><Relationship Id="rId2" Type="http://schemas.openxmlformats.org/officeDocument/2006/relationships/image" Target="../media/image-30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7V8I0PF6FM" TargetMode="External"/><Relationship Id="rId4" Type="http://schemas.openxmlformats.org/officeDocument/2006/relationships/hyperlink" Target="https://www.youtube.com/watch?v=D6SecVZDwBA" TargetMode="External"/><Relationship Id="rId1" Type="http://schemas.openxmlformats.org/officeDocument/2006/relationships/image" Target="../media/image-31-1.jpg"/><Relationship Id="rId2" Type="http://schemas.openxmlformats.org/officeDocument/2006/relationships/image" Target="../media/image-31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piybT-NRCA" TargetMode="External"/><Relationship Id="rId4" Type="http://schemas.openxmlformats.org/officeDocument/2006/relationships/hyperlink" Target="https://www.youtube.com/watch?v=-FiehoOtVOo" TargetMode="External"/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n5PICo3lls" TargetMode="External"/><Relationship Id="rId4" Type="http://schemas.openxmlformats.org/officeDocument/2006/relationships/hyperlink" Target="https://www.youtube.com/watch?v=QJQE4B8ru5s" TargetMode="External"/><Relationship Id="rId1" Type="http://schemas.openxmlformats.org/officeDocument/2006/relationships/image" Target="../media/image-34-1.jpg"/><Relationship Id="rId2" Type="http://schemas.openxmlformats.org/officeDocument/2006/relationships/image" Target="../media/image-34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BlwZ3jVEOI" TargetMode="External"/><Relationship Id="rId4" Type="http://schemas.openxmlformats.org/officeDocument/2006/relationships/hyperlink" Target="https://www.youtube.com/watch?v=kw65kqEWtmQ" TargetMode="External"/><Relationship Id="rId1" Type="http://schemas.openxmlformats.org/officeDocument/2006/relationships/image" Target="../media/image-35-1.jpg"/><Relationship Id="rId2" Type="http://schemas.openxmlformats.org/officeDocument/2006/relationships/image" Target="../media/image-35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03VboO8qHk" TargetMode="External"/><Relationship Id="rId4" Type="http://schemas.openxmlformats.org/officeDocument/2006/relationships/hyperlink" Target="https://www.youtube.com/watch?v=lOcBGZC97mE" TargetMode="External"/><Relationship Id="rId1" Type="http://schemas.openxmlformats.org/officeDocument/2006/relationships/image" Target="../media/image-36-1.jpg"/><Relationship Id="rId2" Type="http://schemas.openxmlformats.org/officeDocument/2006/relationships/image" Target="../media/image-36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MMMgDUj3qQ" TargetMode="External"/><Relationship Id="rId4" Type="http://schemas.openxmlformats.org/officeDocument/2006/relationships/hyperlink" Target="https://www.youtube.com/watch?v=Hu0sZxN2nGw" TargetMode="External"/><Relationship Id="rId1" Type="http://schemas.openxmlformats.org/officeDocument/2006/relationships/image" Target="../media/image-37-1.jpg"/><Relationship Id="rId2" Type="http://schemas.openxmlformats.org/officeDocument/2006/relationships/image" Target="../media/image-37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CW2Ms3Il1A" TargetMode="External"/><Relationship Id="rId4" Type="http://schemas.openxmlformats.org/officeDocument/2006/relationships/hyperlink" Target="https://www.youtube.com/watch?v=-Jjp14CkQIs" TargetMode="External"/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Aa0QiOEtV0" TargetMode="External"/><Relationship Id="rId4" Type="http://schemas.openxmlformats.org/officeDocument/2006/relationships/hyperlink" Target="https://www.youtube.com/watch?v=VMH3wBqE7U4" TargetMode="External"/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Uec2crLL_4" TargetMode="External"/><Relationship Id="rId4" Type="http://schemas.openxmlformats.org/officeDocument/2006/relationships/hyperlink" Target="https://www.youtube.com/watch?v=J9lCj6NjhUo" TargetMode="External"/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aOrWr69nRo" TargetMode="External"/><Relationship Id="rId4" Type="http://schemas.openxmlformats.org/officeDocument/2006/relationships/hyperlink" Target="https://www.youtube.com/creators/grow/optimize-your-content/" TargetMode="External"/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Cut Pro in 30 Days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776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FCP, make Shorts and long videos fast, and upload to YouTube every day. Your go-to reference for the month.</a:t>
            </a:r>
            <a:endParaRPr lang="en-US" sz="2000" dirty="0"/>
          </a:p>
        </p:txBody>
      </p:sp>
      <p:sp>
        <p:nvSpPr>
          <p:cNvPr id="4" name="kicker-1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MY LEARNING PLAYBOOK · FCP 12.4</a:t>
            </a:r>
            <a:endParaRPr lang="en-US" sz="1200" dirty="0"/>
          </a:p>
        </p:txBody>
      </p:sp>
      <p:pic>
        <p:nvPicPr>
          <p:cNvPr id="5" name="cover-image-2" descr="Screenshot from the Final Cut Pro User Guide, pag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004595"/>
            <a:ext cx="4846320" cy="2574491"/>
          </a:xfrm>
          <a:prstGeom prst="rect">
            <a:avLst/>
          </a:prstGeom>
        </p:spPr>
      </p:pic>
      <p:sp>
        <p:nvSpPr>
          <p:cNvPr id="6" name="caption-3"/>
          <p:cNvSpPr txBox="1"/>
          <p:nvPr/>
        </p:nvSpPr>
        <p:spPr>
          <a:xfrm>
            <a:off x="6858000" y="4754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Screenshots: Final Cut Pro User Guide for Mac (Apple)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book</a:t>
            </a:r>
            <a:endParaRPr lang="en-US" sz="3400" dirty="0"/>
          </a:p>
        </p:txBody>
      </p:sp>
      <p:sp>
        <p:nvSpPr>
          <p:cNvPr id="3" name="card-4"/>
          <p:cNvSpPr/>
          <p:nvPr/>
        </p:nvSpPr>
        <p:spPr>
          <a:xfrm>
            <a:off x="548640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badge-5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con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92808"/>
            <a:ext cx="420624" cy="420624"/>
          </a:xfrm>
          <a:prstGeom prst="rect">
            <a:avLst/>
          </a:prstGeom>
        </p:spPr>
      </p:pic>
      <p:sp>
        <p:nvSpPr>
          <p:cNvPr id="6" name="h-7"/>
          <p:cNvSpPr txBox="1"/>
          <p:nvPr/>
        </p:nvSpPr>
        <p:spPr>
          <a:xfrm>
            <a:off x="82296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 · Learn</a:t>
            </a:r>
            <a:endParaRPr lang="en-US" sz="2000" dirty="0"/>
          </a:p>
        </p:txBody>
      </p:sp>
      <p:sp>
        <p:nvSpPr>
          <p:cNvPr id="7" name="b-8"/>
          <p:cNvSpPr txBox="1"/>
          <p:nvPr/>
        </p:nvSpPr>
        <p:spPr>
          <a:xfrm>
            <a:off x="82296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Watch one 10–20 minute video lesson on the day’s topic.</a:t>
            </a:r>
            <a:endParaRPr lang="en-US" sz="1500" dirty="0"/>
          </a:p>
        </p:txBody>
      </p:sp>
      <p:sp>
        <p:nvSpPr>
          <p:cNvPr id="8" name="card-9"/>
          <p:cNvSpPr/>
          <p:nvPr/>
        </p:nvSpPr>
        <p:spPr>
          <a:xfrm>
            <a:off x="3364992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9" name="badge-10"/>
          <p:cNvSpPr/>
          <p:nvPr/>
        </p:nvSpPr>
        <p:spPr>
          <a:xfrm>
            <a:off x="3639312" y="173736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con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892808"/>
            <a:ext cx="420624" cy="420624"/>
          </a:xfrm>
          <a:prstGeom prst="rect">
            <a:avLst/>
          </a:prstGeom>
        </p:spPr>
      </p:pic>
      <p:sp>
        <p:nvSpPr>
          <p:cNvPr id="11" name="h-12"/>
          <p:cNvSpPr txBox="1"/>
          <p:nvPr/>
        </p:nvSpPr>
        <p:spPr>
          <a:xfrm>
            <a:off x="3639312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 · Do</a:t>
            </a:r>
            <a:endParaRPr lang="en-US" sz="2000" dirty="0"/>
          </a:p>
        </p:txBody>
      </p:sp>
      <p:sp>
        <p:nvSpPr>
          <p:cNvPr id="12" name="b-13"/>
          <p:cNvSpPr txBox="1"/>
          <p:nvPr/>
        </p:nvSpPr>
        <p:spPr>
          <a:xfrm>
            <a:off x="3639312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Copy the steps in FCP straight away with your own footage.</a:t>
            </a:r>
            <a:endParaRPr lang="en-US" sz="1500" dirty="0"/>
          </a:p>
        </p:txBody>
      </p:sp>
      <p:sp>
        <p:nvSpPr>
          <p:cNvPr id="13" name="card-14"/>
          <p:cNvSpPr/>
          <p:nvPr/>
        </p:nvSpPr>
        <p:spPr>
          <a:xfrm>
            <a:off x="6181344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4" name="badge-15"/>
          <p:cNvSpPr/>
          <p:nvPr/>
        </p:nvSpPr>
        <p:spPr>
          <a:xfrm>
            <a:off x="6455664" y="173736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con-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892808"/>
            <a:ext cx="420624" cy="420624"/>
          </a:xfrm>
          <a:prstGeom prst="rect">
            <a:avLst/>
          </a:prstGeom>
        </p:spPr>
      </p:pic>
      <p:sp>
        <p:nvSpPr>
          <p:cNvPr id="16" name="h-17"/>
          <p:cNvSpPr txBox="1"/>
          <p:nvPr/>
        </p:nvSpPr>
        <p:spPr>
          <a:xfrm>
            <a:off x="6455664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 · Check</a:t>
            </a:r>
            <a:endParaRPr lang="en-US" sz="2000" dirty="0"/>
          </a:p>
        </p:txBody>
      </p:sp>
      <p:sp>
        <p:nvSpPr>
          <p:cNvPr id="17" name="b-18"/>
          <p:cNvSpPr txBox="1"/>
          <p:nvPr/>
        </p:nvSpPr>
        <p:spPr>
          <a:xfrm>
            <a:off x="6455664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Read only the manual pages listed on the day’s page.</a:t>
            </a:r>
            <a:endParaRPr lang="en-US" sz="1500" dirty="0"/>
          </a:p>
        </p:txBody>
      </p:sp>
      <p:sp>
        <p:nvSpPr>
          <p:cNvPr id="18" name="card-19"/>
          <p:cNvSpPr/>
          <p:nvPr/>
        </p:nvSpPr>
        <p:spPr>
          <a:xfrm>
            <a:off x="8997696" y="1463040"/>
            <a:ext cx="2606040" cy="26517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9" name="badge-20"/>
          <p:cNvSpPr/>
          <p:nvPr/>
        </p:nvSpPr>
        <p:spPr>
          <a:xfrm>
            <a:off x="9272016" y="173736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con-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64" y="1892808"/>
            <a:ext cx="420624" cy="420624"/>
          </a:xfrm>
          <a:prstGeom prst="rect">
            <a:avLst/>
          </a:prstGeom>
        </p:spPr>
      </p:pic>
      <p:sp>
        <p:nvSpPr>
          <p:cNvPr id="21" name="h-22"/>
          <p:cNvSpPr txBox="1"/>
          <p:nvPr/>
        </p:nvSpPr>
        <p:spPr>
          <a:xfrm>
            <a:off x="9272016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 · Publish</a:t>
            </a:r>
            <a:endParaRPr lang="en-US" sz="2000" dirty="0"/>
          </a:p>
        </p:txBody>
      </p:sp>
      <p:sp>
        <p:nvSpPr>
          <p:cNvPr id="22" name="b-23"/>
          <p:cNvSpPr txBox="1"/>
          <p:nvPr/>
        </p:nvSpPr>
        <p:spPr>
          <a:xfrm>
            <a:off x="9272016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Use the new skill in today’s upload. Publishing is practice.</a:t>
            </a:r>
            <a:endParaRPr lang="en-US" sz="1500" dirty="0"/>
          </a:p>
        </p:txBody>
      </p:sp>
      <p:sp>
        <p:nvSpPr>
          <p:cNvPr id="23" name="card-24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24" name="label-25"/>
          <p:cNvSpPr txBox="1"/>
          <p:nvPr/>
        </p:nvSpPr>
        <p:spPr>
          <a:xfrm>
            <a:off x="82296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EVERY DAY PAGE HAS</a:t>
            </a:r>
            <a:endParaRPr lang="en-US" sz="1100" dirty="0"/>
          </a:p>
        </p:txBody>
      </p:sp>
      <p:sp>
        <p:nvSpPr>
          <p:cNvPr id="25" name="b-26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goal · the steps · a “Try it” task · today’s upload · key shortcuts · manual pages · a screenshot · a My notes box. Type what you learned into My notes each day, and by Day 30 this book becomes your own Final Cut Pro manual.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video, look things up in the manual</a:t>
            </a:r>
            <a:endParaRPr lang="en-US" sz="3400" dirty="0"/>
          </a:p>
        </p:txBody>
      </p:sp>
      <p:sp>
        <p:nvSpPr>
          <p:cNvPr id="3" name="card-27"/>
          <p:cNvSpPr/>
          <p:nvPr/>
        </p:nvSpPr>
        <p:spPr>
          <a:xfrm>
            <a:off x="548640" y="146304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</p:sp>
      <p:pic>
        <p:nvPicPr>
          <p:cNvPr id="4" name="icon-2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502920" cy="502920"/>
          </a:xfrm>
          <a:prstGeom prst="rect">
            <a:avLst/>
          </a:prstGeom>
        </p:spPr>
      </p:pic>
      <p:sp>
        <p:nvSpPr>
          <p:cNvPr id="5" name="h-29"/>
          <p:cNvSpPr txBox="1"/>
          <p:nvPr/>
        </p:nvSpPr>
        <p:spPr>
          <a:xfrm>
            <a:off x="86868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Video lessons</a:t>
            </a:r>
            <a:endParaRPr lang="en-US" sz="2100" dirty="0"/>
          </a:p>
        </p:txBody>
      </p:sp>
      <p:sp>
        <p:nvSpPr>
          <p:cNvPr id="6" name="tag-30"/>
          <p:cNvSpPr txBox="1"/>
          <p:nvPr/>
        </p:nvSpPr>
        <p:spPr>
          <a:xfrm>
            <a:off x="86868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Use to LEARN</a:t>
            </a:r>
            <a:endParaRPr lang="en-US" sz="1200" dirty="0"/>
          </a:p>
        </p:txBody>
      </p:sp>
      <p:sp>
        <p:nvSpPr>
          <p:cNvPr id="7" name="list-31"/>
          <p:cNvSpPr txBox="1"/>
          <p:nvPr/>
        </p:nvSpPr>
        <p:spPr>
          <a:xfrm>
            <a:off x="868680" y="33375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Shows real mouse and keyboard movement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Easiest way to learn the timeline and trimming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10–20 minute lessons fit your daily plan</a:t>
            </a:r>
            <a:endParaRPr lang="en-US" sz="1500" dirty="0"/>
          </a:p>
        </p:txBody>
      </p:sp>
      <p:sp>
        <p:nvSpPr>
          <p:cNvPr id="8" name="card-32"/>
          <p:cNvSpPr/>
          <p:nvPr/>
        </p:nvSpPr>
        <p:spPr>
          <a:xfrm>
            <a:off x="4297680" y="146304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</p:sp>
      <p:pic>
        <p:nvPicPr>
          <p:cNvPr id="9" name="icon-3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737360"/>
            <a:ext cx="502920" cy="502920"/>
          </a:xfrm>
          <a:prstGeom prst="rect">
            <a:avLst/>
          </a:prstGeom>
        </p:spPr>
      </p:pic>
      <p:sp>
        <p:nvSpPr>
          <p:cNvPr id="10" name="h-34"/>
          <p:cNvSpPr txBox="1"/>
          <p:nvPr/>
        </p:nvSpPr>
        <p:spPr>
          <a:xfrm>
            <a:off x="461772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User Guide (manual)</a:t>
            </a:r>
            <a:endParaRPr lang="en-US" sz="2100" dirty="0"/>
          </a:p>
        </p:txBody>
      </p:sp>
      <p:sp>
        <p:nvSpPr>
          <p:cNvPr id="11" name="tag-35"/>
          <p:cNvSpPr txBox="1"/>
          <p:nvPr/>
        </p:nvSpPr>
        <p:spPr>
          <a:xfrm>
            <a:off x="461772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Use to LOOK THINGS UP</a:t>
            </a:r>
            <a:endParaRPr lang="en-US" sz="1200" dirty="0"/>
          </a:p>
        </p:txBody>
      </p:sp>
      <p:sp>
        <p:nvSpPr>
          <p:cNvPr id="12" name="list-36"/>
          <p:cNvSpPr txBox="1"/>
          <p:nvPr/>
        </p:nvSpPr>
        <p:spPr>
          <a:xfrm>
            <a:off x="4617720" y="33375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Most accurate and always up to date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Read only the pages for today’s topic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Search it when you’re stuck (Help menu)</a:t>
            </a:r>
            <a:endParaRPr lang="en-US" sz="1500" dirty="0"/>
          </a:p>
        </p:txBody>
      </p:sp>
      <p:sp>
        <p:nvSpPr>
          <p:cNvPr id="13" name="card-37"/>
          <p:cNvSpPr/>
          <p:nvPr/>
        </p:nvSpPr>
        <p:spPr>
          <a:xfrm>
            <a:off x="8046720" y="146304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</p:sp>
      <p:pic>
        <p:nvPicPr>
          <p:cNvPr id="14" name="icon-3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737360"/>
            <a:ext cx="502920" cy="502920"/>
          </a:xfrm>
          <a:prstGeom prst="rect">
            <a:avLst/>
          </a:prstGeom>
        </p:spPr>
      </p:pic>
      <p:sp>
        <p:nvSpPr>
          <p:cNvPr id="15" name="h-39"/>
          <p:cNvSpPr txBox="1"/>
          <p:nvPr/>
        </p:nvSpPr>
        <p:spPr>
          <a:xfrm>
            <a:off x="836676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Slides or presentations</a:t>
            </a:r>
            <a:endParaRPr lang="en-US" sz="2100" dirty="0"/>
          </a:p>
        </p:txBody>
      </p:sp>
      <p:sp>
        <p:nvSpPr>
          <p:cNvPr id="16" name="tag-40"/>
          <p:cNvSpPr txBox="1"/>
          <p:nvPr/>
        </p:nvSpPr>
        <p:spPr>
          <a:xfrm>
            <a:off x="836676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Use only for SUMMARIES</a:t>
            </a:r>
            <a:endParaRPr lang="en-US" sz="1200" dirty="0"/>
          </a:p>
        </p:txBody>
      </p:sp>
      <p:sp>
        <p:nvSpPr>
          <p:cNvPr id="17" name="list-41"/>
          <p:cNvSpPr txBox="1"/>
          <p:nvPr/>
        </p:nvSpPr>
        <p:spPr>
          <a:xfrm>
            <a:off x="8366760" y="33375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Can’t show how an edit is done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Fine for a shortcut cheat sheet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This book is your summary and notes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30 days at a glance</a:t>
            </a:r>
            <a:endParaRPr lang="en-US" sz="3400" dirty="0"/>
          </a:p>
        </p:txBody>
      </p:sp>
      <p:sp>
        <p:nvSpPr>
          <p:cNvPr id="3" name="card-42"/>
          <p:cNvSpPr/>
          <p:nvPr/>
        </p:nvSpPr>
        <p:spPr>
          <a:xfrm>
            <a:off x="548640" y="1463040"/>
            <a:ext cx="2606040" cy="457200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badge-43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um-44"/>
          <p:cNvSpPr txBox="1"/>
          <p:nvPr/>
        </p:nvSpPr>
        <p:spPr>
          <a:xfrm>
            <a:off x="82296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days-45"/>
          <p:cNvSpPr txBox="1"/>
          <p:nvPr/>
        </p:nvSpPr>
        <p:spPr>
          <a:xfrm>
            <a:off x="164592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Days 1–7</a:t>
            </a:r>
            <a:endParaRPr lang="en-US" sz="1300" dirty="0"/>
          </a:p>
        </p:txBody>
      </p:sp>
      <p:sp>
        <p:nvSpPr>
          <p:cNvPr id="7" name="h-46"/>
          <p:cNvSpPr txBox="1"/>
          <p:nvPr/>
        </p:nvSpPr>
        <p:spPr>
          <a:xfrm>
            <a:off x="822960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Core editing</a:t>
            </a:r>
            <a:endParaRPr lang="en-US" sz="1900" dirty="0"/>
          </a:p>
        </p:txBody>
      </p:sp>
      <p:sp>
        <p:nvSpPr>
          <p:cNvPr id="8" name="b-47"/>
          <p:cNvSpPr txBox="1"/>
          <p:nvPr/>
        </p:nvSpPr>
        <p:spPr>
          <a:xfrm>
            <a:off x="822960" y="32918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Learn the interface and the basic edit: import, cut, audio, captions, export.</a:t>
            </a:r>
            <a:endParaRPr lang="en-US" sz="1400" dirty="0"/>
          </a:p>
        </p:txBody>
      </p:sp>
      <p:sp>
        <p:nvSpPr>
          <p:cNvPr id="9" name="label-48"/>
          <p:cNvSpPr txBox="1"/>
          <p:nvPr/>
        </p:nvSpPr>
        <p:spPr>
          <a:xfrm>
            <a:off x="822960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UPLOAD</a:t>
            </a:r>
            <a:endParaRPr lang="en-US" sz="1100" dirty="0"/>
          </a:p>
        </p:txBody>
      </p:sp>
      <p:sp>
        <p:nvSpPr>
          <p:cNvPr id="10" name="b-49"/>
          <p:cNvSpPr txBox="1"/>
          <p:nvPr/>
        </p:nvSpPr>
        <p:spPr>
          <a:xfrm>
            <a:off x="822960" y="48006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simple vertical Short every day (15–60 sec)</a:t>
            </a:r>
            <a:endParaRPr lang="en-US" sz="1400" dirty="0"/>
          </a:p>
        </p:txBody>
      </p:sp>
      <p:sp>
        <p:nvSpPr>
          <p:cNvPr id="11" name="card-50"/>
          <p:cNvSpPr/>
          <p:nvPr/>
        </p:nvSpPr>
        <p:spPr>
          <a:xfrm>
            <a:off x="3364992" y="1463040"/>
            <a:ext cx="2606040" cy="457200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2" name="badge-51"/>
          <p:cNvSpPr/>
          <p:nvPr/>
        </p:nvSpPr>
        <p:spPr>
          <a:xfrm>
            <a:off x="3639312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num-52"/>
          <p:cNvSpPr txBox="1"/>
          <p:nvPr/>
        </p:nvSpPr>
        <p:spPr>
          <a:xfrm>
            <a:off x="3639312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days-53"/>
          <p:cNvSpPr txBox="1"/>
          <p:nvPr/>
        </p:nvSpPr>
        <p:spPr>
          <a:xfrm>
            <a:off x="4462272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Days 8–14</a:t>
            </a:r>
            <a:endParaRPr lang="en-US" sz="1300" dirty="0"/>
          </a:p>
        </p:txBody>
      </p:sp>
      <p:sp>
        <p:nvSpPr>
          <p:cNvPr id="15" name="h-54"/>
          <p:cNvSpPr txBox="1"/>
          <p:nvPr/>
        </p:nvSpPr>
        <p:spPr>
          <a:xfrm>
            <a:off x="3639312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Speed and polish</a:t>
            </a:r>
            <a:endParaRPr lang="en-US" sz="1900" dirty="0"/>
          </a:p>
        </p:txBody>
      </p:sp>
      <p:sp>
        <p:nvSpPr>
          <p:cNvPr id="16" name="b-55"/>
          <p:cNvSpPr txBox="1"/>
          <p:nvPr/>
        </p:nvSpPr>
        <p:spPr>
          <a:xfrm>
            <a:off x="3639312" y="32918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Work faster with shortcuts and templates, and make your clips look and sound better.</a:t>
            </a:r>
            <a:endParaRPr lang="en-US" sz="1400" dirty="0"/>
          </a:p>
        </p:txBody>
      </p:sp>
      <p:sp>
        <p:nvSpPr>
          <p:cNvPr id="17" name="label-56"/>
          <p:cNvSpPr txBox="1"/>
          <p:nvPr/>
        </p:nvSpPr>
        <p:spPr>
          <a:xfrm>
            <a:off x="3639312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UPLOAD</a:t>
            </a:r>
            <a:endParaRPr lang="en-US" sz="1100" dirty="0"/>
          </a:p>
        </p:txBody>
      </p:sp>
      <p:sp>
        <p:nvSpPr>
          <p:cNvPr id="18" name="b-57"/>
          <p:cNvSpPr txBox="1"/>
          <p:nvPr/>
        </p:nvSpPr>
        <p:spPr>
          <a:xfrm>
            <a:off x="3639312" y="48006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Shorts daily, plus your first long video (3–6 min) on Day 14</a:t>
            </a:r>
            <a:endParaRPr lang="en-US" sz="1400" dirty="0"/>
          </a:p>
        </p:txBody>
      </p:sp>
      <p:sp>
        <p:nvSpPr>
          <p:cNvPr id="19" name="card-58"/>
          <p:cNvSpPr/>
          <p:nvPr/>
        </p:nvSpPr>
        <p:spPr>
          <a:xfrm>
            <a:off x="6181344" y="1463040"/>
            <a:ext cx="2606040" cy="457200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20" name="badge-59"/>
          <p:cNvSpPr/>
          <p:nvPr/>
        </p:nvSpPr>
        <p:spPr>
          <a:xfrm>
            <a:off x="6455664" y="16916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num-60"/>
          <p:cNvSpPr txBox="1"/>
          <p:nvPr/>
        </p:nvSpPr>
        <p:spPr>
          <a:xfrm>
            <a:off x="6455664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3</a:t>
            </a:r>
            <a:endParaRPr lang="en-US" sz="2600" dirty="0"/>
          </a:p>
        </p:txBody>
      </p:sp>
      <p:sp>
        <p:nvSpPr>
          <p:cNvPr id="22" name="days-61"/>
          <p:cNvSpPr txBox="1"/>
          <p:nvPr/>
        </p:nvSpPr>
        <p:spPr>
          <a:xfrm>
            <a:off x="7278624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Days 15–21</a:t>
            </a:r>
            <a:endParaRPr lang="en-US" sz="1300" dirty="0"/>
          </a:p>
        </p:txBody>
      </p:sp>
      <p:sp>
        <p:nvSpPr>
          <p:cNvPr id="23" name="h-62"/>
          <p:cNvSpPr txBox="1"/>
          <p:nvPr/>
        </p:nvSpPr>
        <p:spPr>
          <a:xfrm>
            <a:off x="6455664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Creative tools</a:t>
            </a:r>
            <a:endParaRPr lang="en-US" sz="1900" dirty="0"/>
          </a:p>
        </p:txBody>
      </p:sp>
      <p:sp>
        <p:nvSpPr>
          <p:cNvPr id="24" name="b-63"/>
          <p:cNvSpPr txBox="1"/>
          <p:nvPr/>
        </p:nvSpPr>
        <p:spPr>
          <a:xfrm>
            <a:off x="6455664" y="32918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Masks, keying, tracking, multicam, music sync and thumbnails.</a:t>
            </a:r>
            <a:endParaRPr lang="en-US" sz="1400" dirty="0"/>
          </a:p>
        </p:txBody>
      </p:sp>
      <p:sp>
        <p:nvSpPr>
          <p:cNvPr id="25" name="label-64"/>
          <p:cNvSpPr txBox="1"/>
          <p:nvPr/>
        </p:nvSpPr>
        <p:spPr>
          <a:xfrm>
            <a:off x="6455664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UPLOAD</a:t>
            </a:r>
            <a:endParaRPr lang="en-US" sz="1100" dirty="0"/>
          </a:p>
        </p:txBody>
      </p:sp>
      <p:sp>
        <p:nvSpPr>
          <p:cNvPr id="26" name="b-65"/>
          <p:cNvSpPr txBox="1"/>
          <p:nvPr/>
        </p:nvSpPr>
        <p:spPr>
          <a:xfrm>
            <a:off x="6455664" y="48006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Short every day, plus long videos on Days 18 and 21</a:t>
            </a:r>
            <a:endParaRPr lang="en-US" sz="1400" dirty="0"/>
          </a:p>
        </p:txBody>
      </p:sp>
      <p:sp>
        <p:nvSpPr>
          <p:cNvPr id="27" name="card-66"/>
          <p:cNvSpPr/>
          <p:nvPr/>
        </p:nvSpPr>
        <p:spPr>
          <a:xfrm>
            <a:off x="8997696" y="1463040"/>
            <a:ext cx="2606040" cy="457200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28" name="badge-67"/>
          <p:cNvSpPr/>
          <p:nvPr/>
        </p:nvSpPr>
        <p:spPr>
          <a:xfrm>
            <a:off x="9272016" y="169164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9" name="num-68"/>
          <p:cNvSpPr txBox="1"/>
          <p:nvPr/>
        </p:nvSpPr>
        <p:spPr>
          <a:xfrm>
            <a:off x="9272016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4</a:t>
            </a:r>
            <a:endParaRPr lang="en-US" sz="2600" dirty="0"/>
          </a:p>
        </p:txBody>
      </p:sp>
      <p:sp>
        <p:nvSpPr>
          <p:cNvPr id="30" name="days-69"/>
          <p:cNvSpPr txBox="1"/>
          <p:nvPr/>
        </p:nvSpPr>
        <p:spPr>
          <a:xfrm>
            <a:off x="10094976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Days 22–30</a:t>
            </a:r>
            <a:endParaRPr lang="en-US" sz="1300" dirty="0"/>
          </a:p>
        </p:txBody>
      </p:sp>
      <p:sp>
        <p:nvSpPr>
          <p:cNvPr id="31" name="h-70"/>
          <p:cNvSpPr txBox="1"/>
          <p:nvPr/>
        </p:nvSpPr>
        <p:spPr>
          <a:xfrm>
            <a:off x="9272016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Real-time daily workflow</a:t>
            </a:r>
            <a:endParaRPr lang="en-US" sz="1900" dirty="0"/>
          </a:p>
        </p:txBody>
      </p:sp>
      <p:sp>
        <p:nvSpPr>
          <p:cNvPr id="32" name="b-71"/>
          <p:cNvSpPr txBox="1"/>
          <p:nvPr/>
        </p:nvSpPr>
        <p:spPr>
          <a:xfrm>
            <a:off x="9272016" y="32918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Batch your work, manage your library, repurpose content and read analytics.</a:t>
            </a:r>
            <a:endParaRPr lang="en-US" sz="1400" dirty="0"/>
          </a:p>
        </p:txBody>
      </p:sp>
      <p:sp>
        <p:nvSpPr>
          <p:cNvPr id="33" name="label-72"/>
          <p:cNvSpPr txBox="1"/>
          <p:nvPr/>
        </p:nvSpPr>
        <p:spPr>
          <a:xfrm>
            <a:off x="9272016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UPLOAD</a:t>
            </a:r>
            <a:endParaRPr lang="en-US" sz="1100" dirty="0"/>
          </a:p>
        </p:txBody>
      </p:sp>
      <p:sp>
        <p:nvSpPr>
          <p:cNvPr id="34" name="b-73"/>
          <p:cNvSpPr txBox="1"/>
          <p:nvPr/>
        </p:nvSpPr>
        <p:spPr>
          <a:xfrm>
            <a:off x="9272016" y="48006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Short daily, plus a long video every 2–3 days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free month: Apple Creator Studio</a:t>
            </a:r>
            <a:endParaRPr lang="en-US" sz="3400" dirty="0"/>
          </a:p>
        </p:txBody>
      </p:sp>
      <p:sp>
        <p:nvSpPr>
          <p:cNvPr id="3" name="card-74"/>
          <p:cNvSpPr/>
          <p:nvPr/>
        </p:nvSpPr>
        <p:spPr>
          <a:xfrm>
            <a:off x="548640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4" name="stat-75"/>
          <p:cNvSpPr txBox="1"/>
          <p:nvPr/>
        </p:nvSpPr>
        <p:spPr>
          <a:xfrm>
            <a:off x="86868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</a:t>
            </a:r>
            <a:endParaRPr lang="en-US" sz="5400" dirty="0"/>
          </a:p>
        </p:txBody>
      </p:sp>
      <p:sp>
        <p:nvSpPr>
          <p:cNvPr id="5" name="b-76"/>
          <p:cNvSpPr txBox="1"/>
          <p:nvPr/>
        </p:nvSpPr>
        <p:spPr>
          <a:xfrm>
            <a:off x="868680" y="2606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apps included: Final Cut Pro, Motion, Compressor, Pixelmator Pro, Logic Pro, MainStage</a:t>
            </a:r>
            <a:endParaRPr lang="en-US" sz="1400" dirty="0"/>
          </a:p>
        </p:txBody>
      </p:sp>
      <p:sp>
        <p:nvSpPr>
          <p:cNvPr id="6" name="card-77"/>
          <p:cNvSpPr/>
          <p:nvPr/>
        </p:nvSpPr>
        <p:spPr>
          <a:xfrm>
            <a:off x="4297680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7" name="stat-78"/>
          <p:cNvSpPr txBox="1"/>
          <p:nvPr/>
        </p:nvSpPr>
        <p:spPr>
          <a:xfrm>
            <a:off x="461772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</a:rPr>
              <a:t>26.6</a:t>
            </a:r>
            <a:endParaRPr lang="en-US" sz="5400" dirty="0"/>
          </a:p>
        </p:txBody>
      </p:sp>
      <p:sp>
        <p:nvSpPr>
          <p:cNvPr id="8" name="b-79"/>
          <p:cNvSpPr txBox="1"/>
          <p:nvPr/>
        </p:nvSpPr>
        <p:spPr>
          <a:xfrm>
            <a:off x="4617720" y="2606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minimum macOS version for FCP 12.4 (p. 6)</a:t>
            </a:r>
            <a:endParaRPr lang="en-US" sz="1400" dirty="0"/>
          </a:p>
        </p:txBody>
      </p:sp>
      <p:sp>
        <p:nvSpPr>
          <p:cNvPr id="9" name="card-80"/>
          <p:cNvSpPr/>
          <p:nvPr/>
        </p:nvSpPr>
        <p:spPr>
          <a:xfrm>
            <a:off x="8046720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10" name="stat-81"/>
          <p:cNvSpPr txBox="1"/>
          <p:nvPr/>
        </p:nvSpPr>
        <p:spPr>
          <a:xfrm>
            <a:off x="836676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M-chip</a:t>
            </a:r>
            <a:endParaRPr lang="en-US" sz="5400" dirty="0"/>
          </a:p>
        </p:txBody>
      </p:sp>
      <p:sp>
        <p:nvSpPr>
          <p:cNvPr id="11" name="b-82"/>
          <p:cNvSpPr txBox="1"/>
          <p:nvPr/>
        </p:nvSpPr>
        <p:spPr>
          <a:xfrm>
            <a:off x="8366760" y="2606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Apple silicon needed for Generate Captions (U.S. English only, p. 385)</a:t>
            </a:r>
            <a:endParaRPr lang="en-US" sz="1400" dirty="0"/>
          </a:p>
        </p:txBody>
      </p:sp>
      <p:sp>
        <p:nvSpPr>
          <p:cNvPr id="12" name="card-83"/>
          <p:cNvSpPr/>
          <p:nvPr/>
        </p:nvSpPr>
        <p:spPr>
          <a:xfrm>
            <a:off x="548640" y="3977640"/>
            <a:ext cx="1106424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13" name="label-84"/>
          <p:cNvSpPr txBox="1"/>
          <p:nvPr/>
        </p:nvSpPr>
        <p:spPr>
          <a:xfrm>
            <a:off x="86868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MAKE THE MOST OF THE TRIAL</a:t>
            </a:r>
            <a:endParaRPr lang="en-US" sz="1100" dirty="0"/>
          </a:p>
        </p:txBody>
      </p:sp>
      <p:sp>
        <p:nvSpPr>
          <p:cNvPr id="14" name="list-85"/>
          <p:cNvSpPr txBox="1"/>
          <p:nvPr/>
        </p:nvSpPr>
        <p:spPr>
          <a:xfrm>
            <a:off x="868680" y="452628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Make thumbnails in Pixelmator Pro (Share &gt; Send Frame to Pixelmator Pro, p. 828)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Use the extra downloadable titles, transitions and generators (p. 18)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Cancel or change it in Final Cut Pro &gt; Manage Subscriptions. You keep access until the billing period ends (p. 18)</a:t>
            </a:r>
            <a:endParaRPr lang="en-US" sz="15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Decide on Day 30 whether to continue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0: set up before you start</a:t>
            </a:r>
            <a:endParaRPr lang="en-US" sz="3400" dirty="0"/>
          </a:p>
        </p:txBody>
      </p:sp>
      <p:sp>
        <p:nvSpPr>
          <p:cNvPr id="3" name="card-86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4" name="badge-87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con-8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365760" cy="365760"/>
          </a:xfrm>
          <a:prstGeom prst="rect">
            <a:avLst/>
          </a:prstGeom>
        </p:spPr>
      </p:pic>
      <p:sp>
        <p:nvSpPr>
          <p:cNvPr id="6" name="h-89"/>
          <p:cNvSpPr txBox="1"/>
          <p:nvPr/>
        </p:nvSpPr>
        <p:spPr>
          <a:xfrm>
            <a:off x="160020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Verify your channel</a:t>
            </a:r>
            <a:endParaRPr lang="en-US" sz="1800" dirty="0"/>
          </a:p>
        </p:txBody>
      </p:sp>
      <p:sp>
        <p:nvSpPr>
          <p:cNvPr id="7" name="b-90"/>
          <p:cNvSpPr txBox="1"/>
          <p:nvPr/>
        </p:nvSpPr>
        <p:spPr>
          <a:xfrm>
            <a:off x="82296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youtube.com/verify unlocks videos over 15 min and custom thumbnails.</a:t>
            </a:r>
            <a:endParaRPr lang="en-US" sz="1400" dirty="0"/>
          </a:p>
        </p:txBody>
      </p:sp>
      <p:sp>
        <p:nvSpPr>
          <p:cNvPr id="8" name="card-91"/>
          <p:cNvSpPr/>
          <p:nvPr/>
        </p:nvSpPr>
        <p:spPr>
          <a:xfrm>
            <a:off x="429768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9" name="badge-92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con-9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74520"/>
            <a:ext cx="365760" cy="365760"/>
          </a:xfrm>
          <a:prstGeom prst="rect">
            <a:avLst/>
          </a:prstGeom>
        </p:spPr>
      </p:pic>
      <p:sp>
        <p:nvSpPr>
          <p:cNvPr id="11" name="h-94"/>
          <p:cNvSpPr txBox="1"/>
          <p:nvPr/>
        </p:nvSpPr>
        <p:spPr>
          <a:xfrm>
            <a:off x="534924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Pick one format</a:t>
            </a:r>
            <a:endParaRPr lang="en-US" sz="1800" dirty="0"/>
          </a:p>
        </p:txBody>
      </p:sp>
      <p:sp>
        <p:nvSpPr>
          <p:cNvPr id="12" name="b-95"/>
          <p:cNvSpPr txBox="1"/>
          <p:nvPr/>
        </p:nvSpPr>
        <p:spPr>
          <a:xfrm>
            <a:off x="457200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For example “1 tip in 45 seconds”. A repeatable format makes daily uploads realistic.</a:t>
            </a:r>
            <a:endParaRPr lang="en-US" sz="1400" dirty="0"/>
          </a:p>
        </p:txBody>
      </p:sp>
      <p:sp>
        <p:nvSpPr>
          <p:cNvPr id="13" name="card-96"/>
          <p:cNvSpPr/>
          <p:nvPr/>
        </p:nvSpPr>
        <p:spPr>
          <a:xfrm>
            <a:off x="804672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4" name="badge-97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con-9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874520"/>
            <a:ext cx="365760" cy="365760"/>
          </a:xfrm>
          <a:prstGeom prst="rect">
            <a:avLst/>
          </a:prstGeom>
        </p:spPr>
      </p:pic>
      <p:sp>
        <p:nvSpPr>
          <p:cNvPr id="16" name="h-99"/>
          <p:cNvSpPr txBox="1"/>
          <p:nvPr/>
        </p:nvSpPr>
        <p:spPr>
          <a:xfrm>
            <a:off x="909828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Make folders</a:t>
            </a:r>
            <a:endParaRPr lang="en-US" sz="1800" dirty="0"/>
          </a:p>
        </p:txBody>
      </p:sp>
      <p:sp>
        <p:nvSpPr>
          <p:cNvPr id="17" name="b-100"/>
          <p:cNvSpPr txBox="1"/>
          <p:nvPr/>
        </p:nvSpPr>
        <p:spPr>
          <a:xfrm>
            <a:off x="832104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Footage · Music · Graphics · Exports. Keep the same structure every week.</a:t>
            </a:r>
            <a:endParaRPr lang="en-US" sz="1400" dirty="0"/>
          </a:p>
        </p:txBody>
      </p:sp>
      <p:sp>
        <p:nvSpPr>
          <p:cNvPr id="18" name="card-101"/>
          <p:cNvSpPr/>
          <p:nvPr/>
        </p:nvSpPr>
        <p:spPr>
          <a:xfrm>
            <a:off x="54864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9" name="badge-102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con-10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06240"/>
            <a:ext cx="365760" cy="365760"/>
          </a:xfrm>
          <a:prstGeom prst="rect">
            <a:avLst/>
          </a:prstGeom>
        </p:spPr>
      </p:pic>
      <p:sp>
        <p:nvSpPr>
          <p:cNvPr id="21" name="h-104"/>
          <p:cNvSpPr txBox="1"/>
          <p:nvPr/>
        </p:nvSpPr>
        <p:spPr>
          <a:xfrm>
            <a:off x="160020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Copyright-safe music</a:t>
            </a:r>
            <a:endParaRPr lang="en-US" sz="1800" dirty="0"/>
          </a:p>
        </p:txBody>
      </p:sp>
      <p:sp>
        <p:nvSpPr>
          <p:cNvPr id="22" name="b-105"/>
          <p:cNvSpPr txBox="1"/>
          <p:nvPr/>
        </p:nvSpPr>
        <p:spPr>
          <a:xfrm>
            <a:off x="822960" y="4846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Download tracks from the YouTube Audio Library.</a:t>
            </a:r>
            <a:endParaRPr lang="en-US" sz="1400" dirty="0"/>
          </a:p>
        </p:txBody>
      </p:sp>
      <p:sp>
        <p:nvSpPr>
          <p:cNvPr id="23" name="card-106"/>
          <p:cNvSpPr/>
          <p:nvPr/>
        </p:nvSpPr>
        <p:spPr>
          <a:xfrm>
            <a:off x="429768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24" name="badge-107"/>
          <p:cNvSpPr/>
          <p:nvPr/>
        </p:nvSpPr>
        <p:spPr>
          <a:xfrm>
            <a:off x="4572000" y="406908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con-10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206240"/>
            <a:ext cx="365760" cy="365760"/>
          </a:xfrm>
          <a:prstGeom prst="rect">
            <a:avLst/>
          </a:prstGeom>
        </p:spPr>
      </p:pic>
      <p:sp>
        <p:nvSpPr>
          <p:cNvPr id="26" name="h-109"/>
          <p:cNvSpPr txBox="1"/>
          <p:nvPr/>
        </p:nvSpPr>
        <p:spPr>
          <a:xfrm>
            <a:off x="534924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Shoot on your phone</a:t>
            </a:r>
            <a:endParaRPr lang="en-US" sz="1800" dirty="0"/>
          </a:p>
        </p:txBody>
      </p:sp>
      <p:sp>
        <p:nvSpPr>
          <p:cNvPr id="27" name="b-110"/>
          <p:cNvSpPr txBox="1"/>
          <p:nvPr/>
        </p:nvSpPr>
        <p:spPr>
          <a:xfrm>
            <a:off x="4572000" y="4846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4K or 1080p at 30 fps. Apple’s Final Cut Camera app works with FCP (p. 42).</a:t>
            </a:r>
            <a:endParaRPr lang="en-US" sz="1400" dirty="0"/>
          </a:p>
        </p:txBody>
      </p:sp>
      <p:sp>
        <p:nvSpPr>
          <p:cNvPr id="28" name="card-111"/>
          <p:cNvSpPr/>
          <p:nvPr/>
        </p:nvSpPr>
        <p:spPr>
          <a:xfrm>
            <a:off x="8046720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29" name="badge-112"/>
          <p:cNvSpPr/>
          <p:nvPr/>
        </p:nvSpPr>
        <p:spPr>
          <a:xfrm>
            <a:off x="8321040" y="406908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0" name="icon-11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206240"/>
            <a:ext cx="365760" cy="365760"/>
          </a:xfrm>
          <a:prstGeom prst="rect">
            <a:avLst/>
          </a:prstGeom>
        </p:spPr>
      </p:pic>
      <p:sp>
        <p:nvSpPr>
          <p:cNvPr id="31" name="h-114"/>
          <p:cNvSpPr txBox="1"/>
          <p:nvPr/>
        </p:nvSpPr>
        <p:spPr>
          <a:xfrm>
            <a:off x="909828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Keep a clip stock</a:t>
            </a:r>
            <a:endParaRPr lang="en-US" sz="1800" dirty="0"/>
          </a:p>
        </p:txBody>
      </p:sp>
      <p:sp>
        <p:nvSpPr>
          <p:cNvPr id="32" name="b-115"/>
          <p:cNvSpPr txBox="1"/>
          <p:nvPr/>
        </p:nvSpPr>
        <p:spPr>
          <a:xfrm>
            <a:off x="8321040" y="4846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Have 5–10 spare clips ready so you never start from zero.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learn</a:t>
            </a:r>
            <a:endParaRPr lang="en-US" sz="3400" dirty="0"/>
          </a:p>
        </p:txBody>
      </p:sp>
      <p:sp>
        <p:nvSpPr>
          <p:cNvPr id="3" name="card-116"/>
          <p:cNvSpPr/>
          <p:nvPr/>
        </p:nvSpPr>
        <p:spPr>
          <a:xfrm>
            <a:off x="548640" y="146304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pic>
        <p:nvPicPr>
          <p:cNvPr id="4" name="icon-11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47088"/>
            <a:ext cx="548640" cy="548640"/>
          </a:xfrm>
          <a:prstGeom prst="rect">
            <a:avLst/>
          </a:prstGeom>
        </p:spPr>
      </p:pic>
      <p:sp>
        <p:nvSpPr>
          <p:cNvPr id="5" name="tag-118"/>
          <p:cNvSpPr txBox="1"/>
          <p:nvPr/>
        </p:nvSpPr>
        <p:spPr>
          <a:xfrm>
            <a:off x="1600200" y="1627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FREE</a:t>
            </a:r>
            <a:endParaRPr lang="en-US" sz="1100" dirty="0"/>
          </a:p>
        </p:txBody>
      </p:sp>
      <p:sp>
        <p:nvSpPr>
          <p:cNvPr id="6" name="h-119"/>
          <p:cNvSpPr txBox="1"/>
          <p:nvPr/>
        </p:nvSpPr>
        <p:spPr>
          <a:xfrm>
            <a:off x="160020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FCP User Guide</a:t>
            </a:r>
            <a:endParaRPr lang="en-US" sz="1800" dirty="0"/>
          </a:p>
        </p:txBody>
      </p:sp>
      <p:sp>
        <p:nvSpPr>
          <p:cNvPr id="7" name="b-120"/>
          <p:cNvSpPr txBox="1"/>
          <p:nvPr/>
        </p:nvSpPr>
        <p:spPr>
          <a:xfrm>
            <a:off x="1600200" y="2240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Help &gt; Final Cut Pro Help, or support.apple.com/guide/final-cut-pro. Start with p. 7–15.</a:t>
            </a:r>
            <a:endParaRPr lang="en-US" sz="1400" dirty="0"/>
          </a:p>
        </p:txBody>
      </p:sp>
      <p:sp>
        <p:nvSpPr>
          <p:cNvPr id="8" name="card-121"/>
          <p:cNvSpPr/>
          <p:nvPr/>
        </p:nvSpPr>
        <p:spPr>
          <a:xfrm>
            <a:off x="6172200" y="146304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pic>
        <p:nvPicPr>
          <p:cNvPr id="9" name="icon-1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47088"/>
            <a:ext cx="548640" cy="548640"/>
          </a:xfrm>
          <a:prstGeom prst="rect">
            <a:avLst/>
          </a:prstGeom>
        </p:spPr>
      </p:pic>
      <p:sp>
        <p:nvSpPr>
          <p:cNvPr id="10" name="tag-123"/>
          <p:cNvSpPr txBox="1"/>
          <p:nvPr/>
        </p:nvSpPr>
        <p:spPr>
          <a:xfrm>
            <a:off x="7223760" y="1627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FREE</a:t>
            </a:r>
            <a:endParaRPr lang="en-US" sz="1100" dirty="0"/>
          </a:p>
        </p:txBody>
      </p:sp>
      <p:sp>
        <p:nvSpPr>
          <p:cNvPr id="11" name="h-124"/>
          <p:cNvSpPr txBox="1"/>
          <p:nvPr/>
        </p:nvSpPr>
        <p:spPr>
          <a:xfrm>
            <a:off x="722376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Built-in demo project</a:t>
            </a:r>
            <a:endParaRPr lang="en-US" sz="1800" dirty="0"/>
          </a:p>
        </p:txBody>
      </p:sp>
      <p:sp>
        <p:nvSpPr>
          <p:cNvPr id="12" name="b-125"/>
          <p:cNvSpPr txBox="1"/>
          <p:nvPr/>
        </p:nvSpPr>
        <p:spPr>
          <a:xfrm>
            <a:off x="7223760" y="2240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Practise on Apple’s footage before your own (p. 19).</a:t>
            </a:r>
            <a:endParaRPr lang="en-US" sz="1400" dirty="0"/>
          </a:p>
        </p:txBody>
      </p:sp>
      <p:sp>
        <p:nvSpPr>
          <p:cNvPr id="13" name="card-126"/>
          <p:cNvSpPr/>
          <p:nvPr/>
        </p:nvSpPr>
        <p:spPr>
          <a:xfrm>
            <a:off x="548640" y="301752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pic>
        <p:nvPicPr>
          <p:cNvPr id="14" name="icon-12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01568"/>
            <a:ext cx="548640" cy="548640"/>
          </a:xfrm>
          <a:prstGeom prst="rect">
            <a:avLst/>
          </a:prstGeom>
        </p:spPr>
      </p:pic>
      <p:sp>
        <p:nvSpPr>
          <p:cNvPr id="15" name="tag-128"/>
          <p:cNvSpPr txBox="1"/>
          <p:nvPr/>
        </p:nvSpPr>
        <p:spPr>
          <a:xfrm>
            <a:off x="1600200" y="3182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FREE · YOUTUBE</a:t>
            </a:r>
            <a:endParaRPr lang="en-US" sz="1100" dirty="0"/>
          </a:p>
        </p:txBody>
      </p:sp>
      <p:sp>
        <p:nvSpPr>
          <p:cNvPr id="16" name="h-129"/>
          <p:cNvSpPr txBox="1"/>
          <p:nvPr/>
        </p:nvSpPr>
        <p:spPr>
          <a:xfrm>
            <a:off x="160020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Ripple Training</a:t>
            </a:r>
            <a:endParaRPr lang="en-US" sz="1800" dirty="0"/>
          </a:p>
        </p:txBody>
      </p:sp>
      <p:sp>
        <p:nvSpPr>
          <p:cNvPr id="17" name="b-130"/>
          <p:cNvSpPr txBox="1"/>
          <p:nvPr/>
        </p:nvSpPr>
        <p:spPr>
          <a:xfrm>
            <a:off x="1600200" y="3794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Clear, structured FCP lessons and “what’s new” videos.</a:t>
            </a:r>
            <a:endParaRPr lang="en-US" sz="1400" dirty="0"/>
          </a:p>
        </p:txBody>
      </p:sp>
      <p:sp>
        <p:nvSpPr>
          <p:cNvPr id="18" name="card-131"/>
          <p:cNvSpPr/>
          <p:nvPr/>
        </p:nvSpPr>
        <p:spPr>
          <a:xfrm>
            <a:off x="6172200" y="301752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pic>
        <p:nvPicPr>
          <p:cNvPr id="19" name="icon-13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401568"/>
            <a:ext cx="548640" cy="548640"/>
          </a:xfrm>
          <a:prstGeom prst="rect">
            <a:avLst/>
          </a:prstGeom>
        </p:spPr>
      </p:pic>
      <p:sp>
        <p:nvSpPr>
          <p:cNvPr id="20" name="tag-133"/>
          <p:cNvSpPr txBox="1"/>
          <p:nvPr/>
        </p:nvSpPr>
        <p:spPr>
          <a:xfrm>
            <a:off x="7223760" y="3182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FREE · YOUTUBE</a:t>
            </a:r>
            <a:endParaRPr lang="en-US" sz="1100" dirty="0"/>
          </a:p>
        </p:txBody>
      </p:sp>
      <p:sp>
        <p:nvSpPr>
          <p:cNvPr id="21" name="h-134"/>
          <p:cNvSpPr txBox="1"/>
          <p:nvPr/>
        </p:nvSpPr>
        <p:spPr>
          <a:xfrm>
            <a:off x="722376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Dylan Bates (The Final Cut Bro)</a:t>
            </a:r>
            <a:endParaRPr lang="en-US" sz="1800" dirty="0"/>
          </a:p>
        </p:txBody>
      </p:sp>
      <p:sp>
        <p:nvSpPr>
          <p:cNvPr id="22" name="b-135"/>
          <p:cNvSpPr txBox="1"/>
          <p:nvPr/>
        </p:nvSpPr>
        <p:spPr>
          <a:xfrm>
            <a:off x="7223760" y="3794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Practical tips, workflows and shortcuts.</a:t>
            </a:r>
            <a:endParaRPr lang="en-US" sz="1400" dirty="0"/>
          </a:p>
        </p:txBody>
      </p:sp>
      <p:sp>
        <p:nvSpPr>
          <p:cNvPr id="23" name="card-136"/>
          <p:cNvSpPr/>
          <p:nvPr/>
        </p:nvSpPr>
        <p:spPr>
          <a:xfrm>
            <a:off x="548640" y="457200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pic>
        <p:nvPicPr>
          <p:cNvPr id="24" name="icon-13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956048"/>
            <a:ext cx="548640" cy="548640"/>
          </a:xfrm>
          <a:prstGeom prst="rect">
            <a:avLst/>
          </a:prstGeom>
        </p:spPr>
      </p:pic>
      <p:sp>
        <p:nvSpPr>
          <p:cNvPr id="25" name="tag-138"/>
          <p:cNvSpPr txBox="1"/>
          <p:nvPr/>
        </p:nvSpPr>
        <p:spPr>
          <a:xfrm>
            <a:off x="1600200" y="4736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FREE · YOUTUBE</a:t>
            </a:r>
            <a:endParaRPr lang="en-US" sz="1100" dirty="0"/>
          </a:p>
        </p:txBody>
      </p:sp>
      <p:sp>
        <p:nvSpPr>
          <p:cNvPr id="26" name="h-139"/>
          <p:cNvSpPr txBox="1"/>
          <p:nvPr/>
        </p:nvSpPr>
        <p:spPr>
          <a:xfrm>
            <a:off x="1600200" y="4983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Primal Video</a:t>
            </a:r>
            <a:endParaRPr lang="en-US" sz="1800" dirty="0"/>
          </a:p>
        </p:txBody>
      </p:sp>
      <p:sp>
        <p:nvSpPr>
          <p:cNvPr id="27" name="b-140"/>
          <p:cNvSpPr txBox="1"/>
          <p:nvPr/>
        </p:nvSpPr>
        <p:spPr>
          <a:xfrm>
            <a:off x="1600200" y="5349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Beginner FCP guides plus YouTube growth advice.</a:t>
            </a:r>
            <a:endParaRPr lang="en-US" sz="1400" dirty="0"/>
          </a:p>
        </p:txBody>
      </p:sp>
      <p:sp>
        <p:nvSpPr>
          <p:cNvPr id="28" name="card-141"/>
          <p:cNvSpPr/>
          <p:nvPr/>
        </p:nvSpPr>
        <p:spPr>
          <a:xfrm>
            <a:off x="6172200" y="457200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pic>
        <p:nvPicPr>
          <p:cNvPr id="29" name="icon-14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956048"/>
            <a:ext cx="548640" cy="548640"/>
          </a:xfrm>
          <a:prstGeom prst="rect">
            <a:avLst/>
          </a:prstGeom>
        </p:spPr>
      </p:pic>
      <p:sp>
        <p:nvSpPr>
          <p:cNvPr id="30" name="tag-143"/>
          <p:cNvSpPr txBox="1"/>
          <p:nvPr/>
        </p:nvSpPr>
        <p:spPr>
          <a:xfrm>
            <a:off x="7223760" y="47365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PAID · OPTIONAL</a:t>
            </a:r>
            <a:endParaRPr lang="en-US" sz="1100" dirty="0"/>
          </a:p>
        </p:txBody>
      </p:sp>
      <p:sp>
        <p:nvSpPr>
          <p:cNvPr id="31" name="h-144"/>
          <p:cNvSpPr txBox="1"/>
          <p:nvPr/>
        </p:nvSpPr>
        <p:spPr>
          <a:xfrm>
            <a:off x="7223760" y="4983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Apple Pro Training Series</a:t>
            </a:r>
            <a:endParaRPr lang="en-US" sz="1800" dirty="0"/>
          </a:p>
        </p:txBody>
      </p:sp>
      <p:sp>
        <p:nvSpPr>
          <p:cNvPr id="32" name="b-145"/>
          <p:cNvSpPr txBox="1"/>
          <p:nvPr/>
        </p:nvSpPr>
        <p:spPr>
          <a:xfrm>
            <a:off x="7223760" y="5349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Official Peachpit book with practice media. LinkedIn Learning is another option.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46"/>
          <p:cNvSpPr txBox="1"/>
          <p:nvPr/>
        </p:nvSpPr>
        <p:spPr>
          <a:xfrm>
            <a:off x="548640" y="1737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WEEK 1 · DAYS 1–7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317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editing</a:t>
            </a:r>
            <a:endParaRPr lang="en-US" sz="4400" dirty="0"/>
          </a:p>
        </p:txBody>
      </p:sp>
      <p:sp>
        <p:nvSpPr>
          <p:cNvPr id="4" name="goal-147"/>
          <p:cNvSpPr txBox="1"/>
          <p:nvPr/>
        </p:nvSpPr>
        <p:spPr>
          <a:xfrm>
            <a:off x="548640" y="36118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Learn the interface and the basic edit: import, cut, audio, captions, export.</a:t>
            </a:r>
            <a:endParaRPr lang="en-US" sz="1800" dirty="0"/>
          </a:p>
        </p:txBody>
      </p:sp>
      <p:sp>
        <p:nvSpPr>
          <p:cNvPr id="5" name="card-148"/>
          <p:cNvSpPr/>
          <p:nvPr/>
        </p:nvSpPr>
        <p:spPr>
          <a:xfrm>
            <a:off x="7772400" y="1463040"/>
            <a:ext cx="384048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6" name="label-149"/>
          <p:cNvSpPr txBox="1"/>
          <p:nvPr/>
        </p:nvSpPr>
        <p:spPr>
          <a:xfrm>
            <a:off x="809244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UPLOAD TARGET</a:t>
            </a:r>
            <a:endParaRPr lang="en-US" sz="1100" dirty="0"/>
          </a:p>
        </p:txBody>
      </p:sp>
      <p:sp>
        <p:nvSpPr>
          <p:cNvPr id="7" name="b-150"/>
          <p:cNvSpPr txBox="1"/>
          <p:nvPr/>
        </p:nvSpPr>
        <p:spPr>
          <a:xfrm>
            <a:off x="8092440" y="2011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One simple vertical Short every day (15–60 sec)</a:t>
            </a:r>
            <a:endParaRPr lang="en-US" sz="1600" dirty="0"/>
          </a:p>
        </p:txBody>
      </p:sp>
      <p:sp>
        <p:nvSpPr>
          <p:cNvPr id="8" name="card-151"/>
          <p:cNvSpPr/>
          <p:nvPr/>
        </p:nvSpPr>
        <p:spPr>
          <a:xfrm>
            <a:off x="7772400" y="3611880"/>
            <a:ext cx="384048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9" name="label-152"/>
          <p:cNvSpPr txBox="1"/>
          <p:nvPr/>
        </p:nvSpPr>
        <p:spPr>
          <a:xfrm>
            <a:off x="809244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END-OF-WEEK CHECK</a:t>
            </a:r>
            <a:endParaRPr lang="en-US" sz="1100" dirty="0"/>
          </a:p>
        </p:txBody>
      </p:sp>
      <p:sp>
        <p:nvSpPr>
          <p:cNvPr id="10" name="b-153"/>
          <p:cNvSpPr txBox="1"/>
          <p:nvPr/>
        </p:nvSpPr>
        <p:spPr>
          <a:xfrm>
            <a:off x="8092440" y="4160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You can make a 30-second captioned Short in under 45 minutes</a:t>
            </a:r>
            <a:endParaRPr lang="en-US" sz="1600" dirty="0"/>
          </a:p>
        </p:txBody>
      </p:sp>
      <p:sp>
        <p:nvSpPr>
          <p:cNvPr id="11" name="daylist-154"/>
          <p:cNvSpPr txBox="1"/>
          <p:nvPr/>
        </p:nvSpPr>
        <p:spPr>
          <a:xfrm>
            <a:off x="548640" y="452628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1  Meet the Final Cut Pro interface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2  Import, organise and create a vertical project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3  Add clips to the magnetic timeline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4  Cut and trim like a pro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5  Clean, balanced audio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6  Titles and automatic captions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7  Export and upload to YouTube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155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day-num-156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Final Cut Pro interface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everything lives before you edit anything.</a:t>
            </a:r>
            <a:endParaRPr lang="en-US" sz="1600" dirty="0"/>
          </a:p>
        </p:txBody>
      </p:sp>
      <p:sp>
        <p:nvSpPr>
          <p:cNvPr id="6" name="label-157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158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Open FCP and create a library (File &gt; New &gt; Library)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Find the four main areas: browser, viewer, timeline, inspector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Open the demo project (p. 19) and play it with the Spacebar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Show or hide the inspector with Cmd+4 and the Libraries sidebar with Cmd+1</a:t>
            </a:r>
            <a:endParaRPr lang="en-US" sz="1500" dirty="0"/>
          </a:p>
        </p:txBody>
      </p:sp>
      <p:sp>
        <p:nvSpPr>
          <p:cNvPr id="8" name="tryit-card-159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160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161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Skim the demo footage by moving the pointer over clips, then play the timeline.</a:t>
            </a:r>
            <a:endParaRPr lang="en-US" sz="1400" dirty="0"/>
          </a:p>
        </p:txBody>
      </p:sp>
      <p:sp>
        <p:nvSpPr>
          <p:cNvPr id="11" name="chip-162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163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164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Short: a talking-head intro to your channel</a:t>
            </a:r>
            <a:endParaRPr lang="en-US" sz="1200" dirty="0"/>
          </a:p>
        </p:txBody>
      </p:sp>
      <p:sp>
        <p:nvSpPr>
          <p:cNvPr id="14" name="chip-165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166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167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Space · Cmd+4 · Cmd+1</a:t>
            </a:r>
            <a:endParaRPr lang="en-US" sz="1200" dirty="0"/>
          </a:p>
        </p:txBody>
      </p:sp>
      <p:sp>
        <p:nvSpPr>
          <p:cNvPr id="17" name="chip-168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169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170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7–19</a:t>
            </a:r>
            <a:endParaRPr lang="en-US" sz="1200" dirty="0"/>
          </a:p>
        </p:txBody>
      </p:sp>
      <p:sp>
        <p:nvSpPr>
          <p:cNvPr id="20" name="image-frame-171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172" descr="Screenshot from the Final Cut Pro User Guide, pag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1654" y="1691640"/>
            <a:ext cx="2533252" cy="1965960"/>
          </a:xfrm>
          <a:prstGeom prst="rect">
            <a:avLst/>
          </a:prstGeom>
        </p:spPr>
      </p:pic>
      <p:sp>
        <p:nvSpPr>
          <p:cNvPr id="22" name="caption-173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14</a:t>
            </a:r>
            <a:endParaRPr lang="en-US" sz="1000" dirty="0"/>
          </a:p>
        </p:txBody>
      </p:sp>
      <p:sp>
        <p:nvSpPr>
          <p:cNvPr id="23" name="watch-card-174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17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176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177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Final Cut Pro Tutorial: Step-By-Step For Beginners (2025) – Primal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Final Cut Pro Tutorial: Step-By-Step For Beginners (2025) – Primal Video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Final Cut Pro Tutorial for Beginners – COMPLETE Guid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Final Cut Pro Tutorial for Beginners – COMPLETE Guide</a:t>
            </a:r>
            <a:endParaRPr lang="en-US" sz="1100" dirty="0"/>
          </a:p>
        </p:txBody>
      </p:sp>
      <p:sp>
        <p:nvSpPr>
          <p:cNvPr id="27" name="notes-card-178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179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180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181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day-num-182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Import, organise and create a vertical project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footage in, keep it tidy, and set up a 9:16 timeline.</a:t>
            </a:r>
            <a:endParaRPr lang="en-US" sz="1600" dirty="0"/>
          </a:p>
        </p:txBody>
      </p:sp>
      <p:sp>
        <p:nvSpPr>
          <p:cNvPr id="6" name="label-183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184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Import with Cmd+I, or drag files from Finder into an event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Mark good takes as Favourite (F) and add keywords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New project (Cmd+N) &gt; Use Custom Settings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Set the resolution to Vertical 1080×1920 at 30 fps for Shorts</a:t>
            </a:r>
            <a:endParaRPr lang="en-US" sz="1500" dirty="0"/>
          </a:p>
        </p:txBody>
      </p:sp>
      <p:sp>
        <p:nvSpPr>
          <p:cNvPr id="8" name="tryit-card-185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186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187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Import 10 clips, favourite your 3 best, and create a project called “Short-Template”.</a:t>
            </a:r>
            <a:endParaRPr lang="en-US" sz="1400" dirty="0"/>
          </a:p>
        </p:txBody>
      </p:sp>
      <p:sp>
        <p:nvSpPr>
          <p:cNvPr id="11" name="chip-188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189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190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191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192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193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Cmd+I · Cmd+N · F</a:t>
            </a:r>
            <a:endParaRPr lang="en-US" sz="1200" dirty="0"/>
          </a:p>
        </p:txBody>
      </p:sp>
      <p:sp>
        <p:nvSpPr>
          <p:cNvPr id="17" name="chip-194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195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196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21–38, 89, 120–127</a:t>
            </a:r>
            <a:endParaRPr lang="en-US" sz="1200" dirty="0"/>
          </a:p>
        </p:txBody>
      </p:sp>
      <p:sp>
        <p:nvSpPr>
          <p:cNvPr id="20" name="image-frame-197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198" descr="Screenshot from the Final Cut Pro User Guide, page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0355" y="1691640"/>
            <a:ext cx="3235850" cy="1965960"/>
          </a:xfrm>
          <a:prstGeom prst="rect">
            <a:avLst/>
          </a:prstGeom>
        </p:spPr>
      </p:pic>
      <p:sp>
        <p:nvSpPr>
          <p:cNvPr id="22" name="caption-199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21</a:t>
            </a:r>
            <a:endParaRPr lang="en-US" sz="1000" dirty="0"/>
          </a:p>
        </p:txBody>
      </p:sp>
      <p:sp>
        <p:nvSpPr>
          <p:cNvPr id="23" name="watch-card-200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20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202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203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Vertical Videos in Final Cut Pro: Reels, TikTok &amp; Shor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Vertical Videos in Final Cut Pro: Reels, TikTok &amp; Shorts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FCP Masterclass: Import, Organize, and Edit Like a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FCP Masterclass: Import, Organize, and Edit Like a Pro</a:t>
            </a:r>
            <a:endParaRPr lang="en-US" sz="1100" dirty="0"/>
          </a:p>
        </p:txBody>
      </p:sp>
      <p:sp>
        <p:nvSpPr>
          <p:cNvPr id="27" name="notes-card-204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205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206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207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day-num-208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clips to the magnetic timeline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rough cut with the four basic edit types.</a:t>
            </a:r>
            <a:endParaRPr lang="en-US" sz="1600" dirty="0"/>
          </a:p>
        </p:txBody>
      </p:sp>
      <p:sp>
        <p:nvSpPr>
          <p:cNvPr id="6" name="label-209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210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E appends the selection to the end of the timeline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W inserts at the playhead; D overwrites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Q connects B-roll above the main storyline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Use I and O to choose only part of a clip before you add it</a:t>
            </a:r>
            <a:endParaRPr lang="en-US" sz="1500" dirty="0"/>
          </a:p>
        </p:txBody>
      </p:sp>
      <p:sp>
        <p:nvSpPr>
          <p:cNvPr id="8" name="tryit-card-211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212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213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Make a 30-second rough cut using only the keyboard: I, O, E, W, Q.</a:t>
            </a:r>
            <a:endParaRPr lang="en-US" sz="1400" dirty="0"/>
          </a:p>
        </p:txBody>
      </p:sp>
      <p:sp>
        <p:nvSpPr>
          <p:cNvPr id="11" name="chip-214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215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216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217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218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219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 · W · Q · D · I · O</a:t>
            </a:r>
            <a:endParaRPr lang="en-US" sz="1200" dirty="0"/>
          </a:p>
        </p:txBody>
      </p:sp>
      <p:sp>
        <p:nvSpPr>
          <p:cNvPr id="17" name="chip-220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221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222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70, 136–155</a:t>
            </a:r>
            <a:endParaRPr lang="en-US" sz="1200" dirty="0"/>
          </a:p>
        </p:txBody>
      </p:sp>
      <p:sp>
        <p:nvSpPr>
          <p:cNvPr id="20" name="image-frame-223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224" descr="Screenshot from the Final Cut Pro User Guide, page 13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4197" y="1691640"/>
            <a:ext cx="2988167" cy="1965960"/>
          </a:xfrm>
          <a:prstGeom prst="rect">
            <a:avLst/>
          </a:prstGeom>
        </p:spPr>
      </p:pic>
      <p:sp>
        <p:nvSpPr>
          <p:cNvPr id="22" name="caption-225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137</a:t>
            </a:r>
            <a:endParaRPr lang="en-US" sz="1000" dirty="0"/>
          </a:p>
        </p:txBody>
      </p:sp>
      <p:sp>
        <p:nvSpPr>
          <p:cNvPr id="23" name="watch-card-226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22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228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229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Complete Guide To Final Cut Pro's Magnetic Timelin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Complete Guide To Final Cut Pro's Magnetic Timeline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Beginner Tutorial: Edits – Connect, Insert &amp; App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Beginner Tutorial: Edits – Connect, Insert &amp; Append</a:t>
            </a:r>
            <a:endParaRPr lang="en-US" sz="1100" dirty="0"/>
          </a:p>
        </p:txBody>
      </p:sp>
      <p:sp>
        <p:nvSpPr>
          <p:cNvPr id="27" name="notes-card-230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231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232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233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day-num-234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and trim like a pro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pacing with jump cuts and precise trims.</a:t>
            </a:r>
            <a:endParaRPr lang="en-US" sz="1600" dirty="0"/>
          </a:p>
        </p:txBody>
      </p:sp>
      <p:sp>
        <p:nvSpPr>
          <p:cNvPr id="6" name="label-235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236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Cmd+B cuts at the playhead; B switches to the Blade tool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Opt+[ and Opt+] trim a clip’s start or end to the playhead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Use the Trim tool (T) for roll, slip and slide edits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Play with J, K, L; tap L twice for double speed</a:t>
            </a:r>
            <a:endParaRPr lang="en-US" sz="1500" dirty="0"/>
          </a:p>
        </p:txBody>
      </p:sp>
      <p:sp>
        <p:nvSpPr>
          <p:cNvPr id="8" name="tryit-card-237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238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239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Remove every pause and “um” from a 1-minute talking clip.</a:t>
            </a:r>
            <a:endParaRPr lang="en-US" sz="1400" dirty="0"/>
          </a:p>
        </p:txBody>
      </p:sp>
      <p:sp>
        <p:nvSpPr>
          <p:cNvPr id="11" name="chip-240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241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242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 with tight jump cuts</a:t>
            </a:r>
            <a:endParaRPr lang="en-US" sz="1200" dirty="0"/>
          </a:p>
        </p:txBody>
      </p:sp>
      <p:sp>
        <p:nvSpPr>
          <p:cNvPr id="14" name="chip-243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244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245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Cmd+B · Opt+[ · Opt+] · T</a:t>
            </a:r>
            <a:endParaRPr lang="en-US" sz="1200" dirty="0"/>
          </a:p>
        </p:txBody>
      </p:sp>
      <p:sp>
        <p:nvSpPr>
          <p:cNvPr id="17" name="chip-246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247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248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162–187</a:t>
            </a:r>
            <a:endParaRPr lang="en-US" sz="1200" dirty="0"/>
          </a:p>
        </p:txBody>
      </p:sp>
      <p:sp>
        <p:nvSpPr>
          <p:cNvPr id="20" name="image-frame-249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250" descr="Screenshot from the Final Cut Pro User Guide, page 16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943947"/>
            <a:ext cx="4754880" cy="1461345"/>
          </a:xfrm>
          <a:prstGeom prst="rect">
            <a:avLst/>
          </a:prstGeom>
        </p:spPr>
      </p:pic>
      <p:sp>
        <p:nvSpPr>
          <p:cNvPr id="22" name="caption-251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169</a:t>
            </a:r>
            <a:endParaRPr lang="en-US" sz="1000" dirty="0"/>
          </a:p>
        </p:txBody>
      </p:sp>
      <p:sp>
        <p:nvSpPr>
          <p:cNvPr id="23" name="watch-card-252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25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254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255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How to do Ripple, Roll, Slip and Slide Edits in Final Cut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How to do Ripple, Roll, Slip and Slide Edits in Final Cut Pro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To Trim in FCP with Ripple, Roll, Slip and Slid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To Trim in FCP with Ripple, Roll, Slip and Slide</a:t>
            </a:r>
            <a:endParaRPr lang="en-US" sz="1100" dirty="0"/>
          </a:p>
        </p:txBody>
      </p:sp>
      <p:sp>
        <p:nvSpPr>
          <p:cNvPr id="27" name="notes-card-256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257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258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259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day-num-260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balanced audio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sound matters more than good picture.</a:t>
            </a:r>
            <a:endParaRPr lang="en-US" sz="1600" dirty="0"/>
          </a:p>
        </p:txBody>
      </p:sp>
      <p:sp>
        <p:nvSpPr>
          <p:cNvPr id="6" name="label-261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262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Drag the volume line on a clip to set its level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Drag the fade handles at the edges for smooth fades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Inspector &gt; Audio &gt; Voice Isolation removes background noise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Opt+Cmd+A runs Enhance Audio; keep music around −20 dB under voice</a:t>
            </a:r>
            <a:endParaRPr lang="en-US" sz="1500" dirty="0"/>
          </a:p>
        </p:txBody>
      </p:sp>
      <p:sp>
        <p:nvSpPr>
          <p:cNvPr id="8" name="tryit-card-263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264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265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Add music under your voice and fade it in and out.</a:t>
            </a:r>
            <a:endParaRPr lang="en-US" sz="1400" dirty="0"/>
          </a:p>
        </p:txBody>
      </p:sp>
      <p:sp>
        <p:nvSpPr>
          <p:cNvPr id="11" name="chip-266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267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268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 with music under the voice</a:t>
            </a:r>
            <a:endParaRPr lang="en-US" sz="1200" dirty="0"/>
          </a:p>
        </p:txBody>
      </p:sp>
      <p:sp>
        <p:nvSpPr>
          <p:cNvPr id="14" name="chip-269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270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271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Opt+Cmd+A · Ctrl+S</a:t>
            </a:r>
            <a:endParaRPr lang="en-US" sz="1200" dirty="0"/>
          </a:p>
        </p:txBody>
      </p:sp>
      <p:sp>
        <p:nvSpPr>
          <p:cNvPr id="17" name="chip-272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273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274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220–251, 276–278</a:t>
            </a:r>
            <a:endParaRPr lang="en-US" sz="1200" dirty="0"/>
          </a:p>
        </p:txBody>
      </p:sp>
      <p:sp>
        <p:nvSpPr>
          <p:cNvPr id="20" name="image-frame-275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276" descr="Screenshot from the Final Cut Pro User Guide, page 27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911" y="1691640"/>
            <a:ext cx="2756737" cy="1965960"/>
          </a:xfrm>
          <a:prstGeom prst="rect">
            <a:avLst/>
          </a:prstGeom>
        </p:spPr>
      </p:pic>
      <p:sp>
        <p:nvSpPr>
          <p:cNvPr id="22" name="caption-277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277</a:t>
            </a:r>
            <a:endParaRPr lang="en-US" sz="1000" dirty="0"/>
          </a:p>
        </p:txBody>
      </p:sp>
      <p:sp>
        <p:nvSpPr>
          <p:cNvPr id="23" name="watch-card-278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27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280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281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How to CLEAN UP Audio in Final Cut (Voice Isolation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How to CLEAN UP Audio in Final Cut (Voice Isolation)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to Mix Voice and Music in Final Cut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to Mix Voice and Music in Final Cut Pro</a:t>
            </a:r>
            <a:endParaRPr lang="en-US" sz="1100" dirty="0"/>
          </a:p>
        </p:txBody>
      </p:sp>
      <p:sp>
        <p:nvSpPr>
          <p:cNvPr id="27" name="notes-card-282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283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284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285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day-num-286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6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 and automatic captions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Shorts are watched without sound, so add captions.</a:t>
            </a:r>
            <a:endParaRPr lang="en-US" sz="1600" dirty="0"/>
          </a:p>
        </p:txBody>
      </p:sp>
      <p:sp>
        <p:nvSpPr>
          <p:cNvPr id="6" name="label-287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288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Ctrl+T adds a basic title; Ctrl+Shift+T a lower third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Select speech clips, then press Shift+Cmd+S (Generate Captions &gt; Subtitles)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Edit the text in the inspector and fix any wrong words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Captions need an Apple silicon Mac and U.S. English (p. 385)</a:t>
            </a:r>
            <a:endParaRPr lang="en-US" sz="1500" dirty="0"/>
          </a:p>
        </p:txBody>
      </p:sp>
      <p:sp>
        <p:nvSpPr>
          <p:cNvPr id="8" name="tryit-card-289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290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291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Generate captions for a Short and restyle them big and bold.</a:t>
            </a:r>
            <a:endParaRPr lang="en-US" sz="1400" dirty="0"/>
          </a:p>
        </p:txBody>
      </p:sp>
      <p:sp>
        <p:nvSpPr>
          <p:cNvPr id="11" name="chip-292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293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294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 with captions</a:t>
            </a:r>
            <a:endParaRPr lang="en-US" sz="1200" dirty="0"/>
          </a:p>
        </p:txBody>
      </p:sp>
      <p:sp>
        <p:nvSpPr>
          <p:cNvPr id="14" name="chip-295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296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297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Ctrl+T · Shift+Cmd+S</a:t>
            </a:r>
            <a:endParaRPr lang="en-US" sz="1200" dirty="0"/>
          </a:p>
        </p:txBody>
      </p:sp>
      <p:sp>
        <p:nvSpPr>
          <p:cNvPr id="17" name="chip-298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299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300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287, 355, 385–387</a:t>
            </a:r>
            <a:endParaRPr lang="en-US" sz="1200" dirty="0"/>
          </a:p>
        </p:txBody>
      </p:sp>
      <p:sp>
        <p:nvSpPr>
          <p:cNvPr id="20" name="image-frame-301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302" descr="Screenshot from the Final Cut Pro User Guide, page 38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71" y="1691640"/>
            <a:ext cx="2753618" cy="1965960"/>
          </a:xfrm>
          <a:prstGeom prst="rect">
            <a:avLst/>
          </a:prstGeom>
        </p:spPr>
      </p:pic>
      <p:sp>
        <p:nvSpPr>
          <p:cNvPr id="22" name="caption-303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385</a:t>
            </a:r>
            <a:endParaRPr lang="en-US" sz="1000" dirty="0"/>
          </a:p>
        </p:txBody>
      </p:sp>
      <p:sp>
        <p:nvSpPr>
          <p:cNvPr id="23" name="watch-card-304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30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306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307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Final Cut Pro • Complete Guide To Transcribe To Caption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Final Cut Pro • Complete Guide To Transcribe To Captions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To Add The Default Title Or Lower Third in FC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To Add The Default Title Or Lower Third in FCP</a:t>
            </a:r>
            <a:endParaRPr lang="en-US" sz="1100" dirty="0"/>
          </a:p>
        </p:txBody>
      </p:sp>
      <p:sp>
        <p:nvSpPr>
          <p:cNvPr id="27" name="notes-card-308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309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310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311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day-num-312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7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and upload to YouTube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loop: from timeline to YouTube.</a:t>
            </a:r>
            <a:endParaRPr lang="en-US" sz="1600" dirty="0"/>
          </a:p>
        </p:txBody>
      </p:sp>
      <p:sp>
        <p:nvSpPr>
          <p:cNvPr id="6" name="label-313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314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Click the Share button &gt; Social Platforms (p. 894)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For Shorts, turn on Burn in captions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Choose Multi-pass for quality, or Single-pass for speed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Upload the file in YouTube Studio and add #Shorts</a:t>
            </a:r>
            <a:endParaRPr lang="en-US" sz="1500" dirty="0"/>
          </a:p>
        </p:txBody>
      </p:sp>
      <p:sp>
        <p:nvSpPr>
          <p:cNvPr id="8" name="tryit-card-315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316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317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Export and upload today’s Short, then review the whole week.</a:t>
            </a:r>
            <a:endParaRPr lang="en-US" sz="1400" dirty="0"/>
          </a:p>
        </p:txBody>
      </p:sp>
      <p:sp>
        <p:nvSpPr>
          <p:cNvPr id="11" name="chip-318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319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320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Short, plus a review of your week</a:t>
            </a:r>
            <a:endParaRPr lang="en-US" sz="1200" dirty="0"/>
          </a:p>
        </p:txBody>
      </p:sp>
      <p:sp>
        <p:nvSpPr>
          <p:cNvPr id="14" name="chip-321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322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323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Cmd+E (default share)</a:t>
            </a:r>
            <a:endParaRPr lang="en-US" sz="1200" dirty="0"/>
          </a:p>
        </p:txBody>
      </p:sp>
      <p:sp>
        <p:nvSpPr>
          <p:cNvPr id="17" name="chip-324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325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326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806–810, 894</a:t>
            </a:r>
            <a:endParaRPr lang="en-US" sz="1200" dirty="0"/>
          </a:p>
        </p:txBody>
      </p:sp>
      <p:sp>
        <p:nvSpPr>
          <p:cNvPr id="20" name="image-frame-327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328" descr="Screenshot from the Final Cut Pro User Guide, page 80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3615" y="1691640"/>
            <a:ext cx="1349330" cy="1965960"/>
          </a:xfrm>
          <a:prstGeom prst="rect">
            <a:avLst/>
          </a:prstGeom>
        </p:spPr>
      </p:pic>
      <p:sp>
        <p:nvSpPr>
          <p:cNvPr id="22" name="caption-329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806</a:t>
            </a:r>
            <a:endParaRPr lang="en-US" sz="1000" dirty="0"/>
          </a:p>
        </p:txBody>
      </p:sp>
      <p:sp>
        <p:nvSpPr>
          <p:cNvPr id="23" name="watch-card-330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33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332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333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BEST Export Settings for YouTube for 2026 (Final Cut Pro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BEST Export Settings for YouTube for 2026 (Final Cut Pro)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Export in FCP for YouTube, Instagram, TikTok (Beginner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Export in FCP for YouTube, Instagram, TikTok (Beginner)</a:t>
            </a:r>
            <a:endParaRPr lang="en-US" sz="1100" dirty="0"/>
          </a:p>
        </p:txBody>
      </p:sp>
      <p:sp>
        <p:nvSpPr>
          <p:cNvPr id="27" name="notes-card-334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335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336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337"/>
          <p:cNvSpPr txBox="1"/>
          <p:nvPr/>
        </p:nvSpPr>
        <p:spPr>
          <a:xfrm>
            <a:off x="548640" y="1737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WEEK 2 · DAYS 8–14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317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and polish</a:t>
            </a:r>
            <a:endParaRPr lang="en-US" sz="4400" dirty="0"/>
          </a:p>
        </p:txBody>
      </p:sp>
      <p:sp>
        <p:nvSpPr>
          <p:cNvPr id="4" name="goal-338"/>
          <p:cNvSpPr txBox="1"/>
          <p:nvPr/>
        </p:nvSpPr>
        <p:spPr>
          <a:xfrm>
            <a:off x="548640" y="36118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Work faster with shortcuts and templates, and make your clips look and sound better.</a:t>
            </a:r>
            <a:endParaRPr lang="en-US" sz="1800" dirty="0"/>
          </a:p>
        </p:txBody>
      </p:sp>
      <p:sp>
        <p:nvSpPr>
          <p:cNvPr id="5" name="card-339"/>
          <p:cNvSpPr/>
          <p:nvPr/>
        </p:nvSpPr>
        <p:spPr>
          <a:xfrm>
            <a:off x="7772400" y="1463040"/>
            <a:ext cx="384048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6" name="label-340"/>
          <p:cNvSpPr txBox="1"/>
          <p:nvPr/>
        </p:nvSpPr>
        <p:spPr>
          <a:xfrm>
            <a:off x="809244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UPLOAD TARGET</a:t>
            </a:r>
            <a:endParaRPr lang="en-US" sz="1100" dirty="0"/>
          </a:p>
        </p:txBody>
      </p:sp>
      <p:sp>
        <p:nvSpPr>
          <p:cNvPr id="7" name="b-341"/>
          <p:cNvSpPr txBox="1"/>
          <p:nvPr/>
        </p:nvSpPr>
        <p:spPr>
          <a:xfrm>
            <a:off x="8092440" y="2011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Shorts daily, plus your first long video (3–6 min) on Day 14</a:t>
            </a:r>
            <a:endParaRPr lang="en-US" sz="1600" dirty="0"/>
          </a:p>
        </p:txBody>
      </p:sp>
      <p:sp>
        <p:nvSpPr>
          <p:cNvPr id="8" name="card-342"/>
          <p:cNvSpPr/>
          <p:nvPr/>
        </p:nvSpPr>
        <p:spPr>
          <a:xfrm>
            <a:off x="7772400" y="3611880"/>
            <a:ext cx="384048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9" name="label-343"/>
          <p:cNvSpPr txBox="1"/>
          <p:nvPr/>
        </p:nvSpPr>
        <p:spPr>
          <a:xfrm>
            <a:off x="809244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END-OF-WEEK CHECK</a:t>
            </a:r>
            <a:endParaRPr lang="en-US" sz="1100" dirty="0"/>
          </a:p>
        </p:txBody>
      </p:sp>
      <p:sp>
        <p:nvSpPr>
          <p:cNvPr id="10" name="b-344"/>
          <p:cNvSpPr txBox="1"/>
          <p:nvPr/>
        </p:nvSpPr>
        <p:spPr>
          <a:xfrm>
            <a:off x="8092440" y="4160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Short takes under 30 minutes using your template</a:t>
            </a:r>
            <a:endParaRPr lang="en-US" sz="1600" dirty="0"/>
          </a:p>
        </p:txBody>
      </p:sp>
      <p:sp>
        <p:nvSpPr>
          <p:cNvPr id="11" name="daylist-345"/>
          <p:cNvSpPr txBox="1"/>
          <p:nvPr/>
        </p:nvSpPr>
        <p:spPr>
          <a:xfrm>
            <a:off x="548640" y="452628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8  Keyboard shortcuts and the Command Editor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9  Transitions and effects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10  Speed ramps, holds and freeze frames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11  Transform, crop and Smart Conform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12  Colour basics: Enhance Light and Color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13  Compound clips and your Short template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14  Roles, markers and YouTube chapters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346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day-num-347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8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shortcuts and the Command Editor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speed comes from your hands, not the mouse.</a:t>
            </a:r>
            <a:endParaRPr lang="en-US" sz="1600" dirty="0"/>
          </a:p>
        </p:txBody>
      </p:sp>
      <p:sp>
        <p:nvSpPr>
          <p:cNvPr id="6" name="label-348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349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Open the Command Editor with Opt+Cmd+K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Click a key to see what it does; search for any command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Learn the tools: A select, B blade, T trim, P position, R range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Shift+Z fits the timeline; Cmd+ + and Cmd+ − zoom</a:t>
            </a:r>
            <a:endParaRPr lang="en-US" sz="1500" dirty="0"/>
          </a:p>
        </p:txBody>
      </p:sp>
      <p:sp>
        <p:nvSpPr>
          <p:cNvPr id="8" name="tryit-card-350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351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352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Edit today’s Short without touching a menu.</a:t>
            </a:r>
            <a:endParaRPr lang="en-US" sz="1400" dirty="0"/>
          </a:p>
        </p:txBody>
      </p:sp>
      <p:sp>
        <p:nvSpPr>
          <p:cNvPr id="11" name="chip-353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354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355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356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357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358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Opt+Cmd+K · Shift+Z · A B T P R</a:t>
            </a:r>
            <a:endParaRPr lang="en-US" sz="1200" dirty="0"/>
          </a:p>
        </p:txBody>
      </p:sp>
      <p:sp>
        <p:nvSpPr>
          <p:cNvPr id="17" name="chip-359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360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361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897–928</a:t>
            </a:r>
            <a:endParaRPr lang="en-US" sz="1200" dirty="0"/>
          </a:p>
        </p:txBody>
      </p:sp>
      <p:sp>
        <p:nvSpPr>
          <p:cNvPr id="20" name="image-frame-362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363" descr="Screenshot from the Final Cut Pro User Guide, page 9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5407" y="1691640"/>
            <a:ext cx="2405745" cy="1965960"/>
          </a:xfrm>
          <a:prstGeom prst="rect">
            <a:avLst/>
          </a:prstGeom>
        </p:spPr>
      </p:pic>
      <p:sp>
        <p:nvSpPr>
          <p:cNvPr id="22" name="caption-364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924</a:t>
            </a:r>
            <a:endParaRPr lang="en-US" sz="1000" dirty="0"/>
          </a:p>
        </p:txBody>
      </p:sp>
      <p:sp>
        <p:nvSpPr>
          <p:cNvPr id="23" name="watch-card-365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36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367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368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100 Shortcuts every FCP Editor MUST KNO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100 Shortcuts every FCP Editor MUST KNOW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10 Final Cut Shortcuts That Will Double Your Editing Spee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10 Final Cut Shortcuts That Will Double Your Editing Speed</a:t>
            </a:r>
            <a:endParaRPr lang="en-US" sz="1100" dirty="0"/>
          </a:p>
        </p:txBody>
      </p:sp>
      <p:sp>
        <p:nvSpPr>
          <p:cNvPr id="27" name="notes-card-369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370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371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372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day-num-373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9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 and effects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effects on purpose, not everywhere.</a:t>
            </a:r>
            <a:endParaRPr lang="en-US" sz="1600" dirty="0"/>
          </a:p>
        </p:txBody>
      </p:sp>
      <p:sp>
        <p:nvSpPr>
          <p:cNvPr id="6" name="label-374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375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Cmd+T adds the default Cross Dissolve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Ctrl+Cmd+5 opens the Transitions browser; Cmd+5 opens Effects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Drag an effect onto a clip, then adjust it in the inspector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Rule: one transition style per video, used rarely</a:t>
            </a:r>
            <a:endParaRPr lang="en-US" sz="1500" dirty="0"/>
          </a:p>
        </p:txBody>
      </p:sp>
      <p:sp>
        <p:nvSpPr>
          <p:cNvPr id="8" name="tryit-card-376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377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378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Try 5 transitions, then keep only the one that fits your style.</a:t>
            </a:r>
            <a:endParaRPr lang="en-US" sz="1400" dirty="0"/>
          </a:p>
        </p:txBody>
      </p:sp>
      <p:sp>
        <p:nvSpPr>
          <p:cNvPr id="11" name="chip-379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380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381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382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383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384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Cmd+T · Cmd+5 · Ctrl+Cmd+5</a:t>
            </a:r>
            <a:endParaRPr lang="en-US" sz="1200" dirty="0"/>
          </a:p>
        </p:txBody>
      </p:sp>
      <p:sp>
        <p:nvSpPr>
          <p:cNvPr id="17" name="chip-385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386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387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388–400, 418</a:t>
            </a:r>
            <a:endParaRPr lang="en-US" sz="1200" dirty="0"/>
          </a:p>
        </p:txBody>
      </p:sp>
      <p:sp>
        <p:nvSpPr>
          <p:cNvPr id="20" name="image-frame-388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389" descr="Screenshot from the Final Cut Pro User Guide, page 39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201" y="1691640"/>
            <a:ext cx="2580158" cy="1965960"/>
          </a:xfrm>
          <a:prstGeom prst="rect">
            <a:avLst/>
          </a:prstGeom>
        </p:spPr>
      </p:pic>
      <p:sp>
        <p:nvSpPr>
          <p:cNvPr id="22" name="caption-390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390</a:t>
            </a:r>
            <a:endParaRPr lang="en-US" sz="1000" dirty="0"/>
          </a:p>
        </p:txBody>
      </p:sp>
      <p:sp>
        <p:nvSpPr>
          <p:cNvPr id="23" name="watch-card-391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39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393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394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How to Add Transitions in Final Cut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How to Add Transitions in Final Cut Pro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Final Cut Pro 11 Creative Effects and Mask Transition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Final Cut Pro 11 Creative Effects and Mask Transitions</a:t>
            </a:r>
            <a:endParaRPr lang="en-US" sz="1100" dirty="0"/>
          </a:p>
        </p:txBody>
      </p:sp>
      <p:sp>
        <p:nvSpPr>
          <p:cNvPr id="27" name="notes-card-395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396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397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398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day-num-399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ramps, holds and freeze frames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changes add energy to Shorts.</a:t>
            </a:r>
            <a:endParaRPr lang="en-US" sz="1600" dirty="0"/>
          </a:p>
        </p:txBody>
      </p:sp>
      <p:sp>
        <p:nvSpPr>
          <p:cNvPr id="6" name="label-400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401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Cmd+R shows the retime editor above a clip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Choose Slow, Fast or Custom from the retime menu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Shift+H adds a 2-second hold; Opt+F makes a freeze frame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Shift+N returns a range to normal (100%) speed</a:t>
            </a:r>
            <a:endParaRPr lang="en-US" sz="1500" dirty="0"/>
          </a:p>
        </p:txBody>
      </p:sp>
      <p:sp>
        <p:nvSpPr>
          <p:cNvPr id="8" name="tryit-card-402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403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404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Make a speed ramp: normal → fast → slow-motion on the key moment.</a:t>
            </a:r>
            <a:endParaRPr lang="en-US" sz="1400" dirty="0"/>
          </a:p>
        </p:txBody>
      </p:sp>
      <p:sp>
        <p:nvSpPr>
          <p:cNvPr id="11" name="chip-405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406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407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 with a speed ramp</a:t>
            </a:r>
            <a:endParaRPr lang="en-US" sz="1200" dirty="0"/>
          </a:p>
        </p:txBody>
      </p:sp>
      <p:sp>
        <p:nvSpPr>
          <p:cNvPr id="14" name="chip-408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409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410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Cmd+R · Shift+H · Opt+F · Shift+N</a:t>
            </a:r>
            <a:endParaRPr lang="en-US" sz="1200" dirty="0"/>
          </a:p>
        </p:txBody>
      </p:sp>
      <p:sp>
        <p:nvSpPr>
          <p:cNvPr id="17" name="chip-411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412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413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151, 558–574</a:t>
            </a:r>
            <a:endParaRPr lang="en-US" sz="1200" dirty="0"/>
          </a:p>
        </p:txBody>
      </p:sp>
      <p:sp>
        <p:nvSpPr>
          <p:cNvPr id="20" name="image-frame-414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415" descr="Screenshot from the Final Cut Pro User Guide, page 55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7989" y="1691640"/>
            <a:ext cx="2860582" cy="1965960"/>
          </a:xfrm>
          <a:prstGeom prst="rect">
            <a:avLst/>
          </a:prstGeom>
        </p:spPr>
      </p:pic>
      <p:sp>
        <p:nvSpPr>
          <p:cNvPr id="22" name="caption-416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559</a:t>
            </a:r>
            <a:endParaRPr lang="en-US" sz="1000" dirty="0"/>
          </a:p>
        </p:txBody>
      </p:sp>
      <p:sp>
        <p:nvSpPr>
          <p:cNvPr id="23" name="watch-card-417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41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419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420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Retiming in Final Cut Pro (every option in the menu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Retiming in Final Cut Pro (every option in the menu)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to Speed Ramp in Final Cut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to Speed Ramp in Final Cut Pro</a:t>
            </a:r>
            <a:endParaRPr lang="en-US" sz="1100" dirty="0"/>
          </a:p>
        </p:txBody>
      </p:sp>
      <p:sp>
        <p:nvSpPr>
          <p:cNvPr id="27" name="notes-card-421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422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423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424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day-num-425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Transform, crop and Smart Conform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horizontal footage for vertical video.</a:t>
            </a:r>
            <a:endParaRPr lang="en-US" sz="1600" dirty="0"/>
          </a:p>
        </p:txBody>
      </p:sp>
      <p:sp>
        <p:nvSpPr>
          <p:cNvPr id="6" name="label-426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427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Use Transform in the viewer to move, scale and rotate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Crop or use Ken Burns for slow zoom movement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Select horizontal clips in a vertical project &gt; Modify &gt; Smart Conform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Adjust Transform &gt; Position if a face is still off-centre</a:t>
            </a:r>
            <a:endParaRPr lang="en-US" sz="1500" dirty="0"/>
          </a:p>
        </p:txBody>
      </p:sp>
      <p:sp>
        <p:nvSpPr>
          <p:cNvPr id="8" name="tryit-card-428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429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430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Turn a horizontal clip into a vertical Short with Smart Conform.</a:t>
            </a:r>
            <a:endParaRPr lang="en-US" sz="1400" dirty="0"/>
          </a:p>
        </p:txBody>
      </p:sp>
      <p:sp>
        <p:nvSpPr>
          <p:cNvPr id="11" name="chip-431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432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433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 made from horizontal footage</a:t>
            </a:r>
            <a:endParaRPr lang="en-US" sz="1200" dirty="0"/>
          </a:p>
        </p:txBody>
      </p:sp>
      <p:sp>
        <p:nvSpPr>
          <p:cNvPr id="14" name="chip-434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435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436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Shift+T (transform)</a:t>
            </a:r>
            <a:endParaRPr lang="en-US" sz="1200" dirty="0"/>
          </a:p>
        </p:txBody>
      </p:sp>
      <p:sp>
        <p:nvSpPr>
          <p:cNvPr id="17" name="chip-437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438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439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401–405</a:t>
            </a:r>
            <a:endParaRPr lang="en-US" sz="1200" dirty="0"/>
          </a:p>
        </p:txBody>
      </p:sp>
      <p:sp>
        <p:nvSpPr>
          <p:cNvPr id="20" name="image-frame-440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441" descr="Screenshot from the Final Cut Pro User Guide, page 40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5280" y="1691640"/>
            <a:ext cx="726001" cy="1965960"/>
          </a:xfrm>
          <a:prstGeom prst="rect">
            <a:avLst/>
          </a:prstGeom>
        </p:spPr>
      </p:pic>
      <p:sp>
        <p:nvSpPr>
          <p:cNvPr id="22" name="caption-442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405</a:t>
            </a:r>
            <a:endParaRPr lang="en-US" sz="1000" dirty="0"/>
          </a:p>
        </p:txBody>
      </p:sp>
      <p:sp>
        <p:nvSpPr>
          <p:cNvPr id="23" name="watch-card-443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44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445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446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Create Vertical Videos FASTER with Smart Confor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Create Vertical Videos FASTER with Smart Conform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FCP for Social Media: Smart Conforming, Titles + mo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FCP for Social Media: Smart Conforming, Titles + more</a:t>
            </a:r>
            <a:endParaRPr lang="en-US" sz="1100" dirty="0"/>
          </a:p>
        </p:txBody>
      </p:sp>
      <p:sp>
        <p:nvSpPr>
          <p:cNvPr id="27" name="notes-card-447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448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449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45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day-num-451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basics: Enhance Light and Color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clip look clean and consistent.</a:t>
            </a:r>
            <a:endParaRPr lang="en-US" sz="1600" dirty="0"/>
          </a:p>
        </p:txBody>
      </p:sp>
      <p:sp>
        <p:nvSpPr>
          <p:cNvPr id="6" name="label-452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453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Ctrl+Opt+Cmd+O applies Enhance Light and Color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Opt+Cmd+B turns Balance Color on or off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Opt+Cmd+M matches colour between two clips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Cmd+6 opens the Color inspector for fine tuning</a:t>
            </a:r>
            <a:endParaRPr lang="en-US" sz="1500" dirty="0"/>
          </a:p>
        </p:txBody>
      </p:sp>
      <p:sp>
        <p:nvSpPr>
          <p:cNvPr id="8" name="tryit-card-454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455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456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Fix one dark clip and one too-blue clip, then match them.</a:t>
            </a:r>
            <a:endParaRPr lang="en-US" sz="1400" dirty="0"/>
          </a:p>
        </p:txBody>
      </p:sp>
      <p:sp>
        <p:nvSpPr>
          <p:cNvPr id="11" name="chip-457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458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459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460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461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462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Ctrl+Opt+Cmd+O · Opt+Cmd+M · Cmd+6</a:t>
            </a:r>
            <a:endParaRPr lang="en-US" sz="1200" dirty="0"/>
          </a:p>
        </p:txBody>
      </p:sp>
      <p:sp>
        <p:nvSpPr>
          <p:cNvPr id="17" name="chip-463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464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465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708–715, 746–749</a:t>
            </a:r>
            <a:endParaRPr lang="en-US" sz="1200" dirty="0"/>
          </a:p>
        </p:txBody>
      </p:sp>
      <p:sp>
        <p:nvSpPr>
          <p:cNvPr id="20" name="image-frame-466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467" descr="Screenshot from the Final Cut Pro User Guide, page 70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180" y="1691640"/>
            <a:ext cx="3238199" cy="1965960"/>
          </a:xfrm>
          <a:prstGeom prst="rect">
            <a:avLst/>
          </a:prstGeom>
        </p:spPr>
      </p:pic>
      <p:sp>
        <p:nvSpPr>
          <p:cNvPr id="22" name="caption-468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708</a:t>
            </a:r>
            <a:endParaRPr lang="en-US" sz="1000" dirty="0"/>
          </a:p>
        </p:txBody>
      </p:sp>
      <p:sp>
        <p:nvSpPr>
          <p:cNvPr id="23" name="watch-card-469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47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471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472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Final Cut Pro 11 – Enhance Light and Color Tutoria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Final Cut Pro 11 – Enhance Light and Color Tutorial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Color Correction &amp; Grading in FCP in Under 60 Minute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Color Correction &amp; Grading in FCP in Under 60 Minutes</a:t>
            </a:r>
            <a:endParaRPr lang="en-US" sz="1100" dirty="0"/>
          </a:p>
        </p:txBody>
      </p:sp>
      <p:sp>
        <p:nvSpPr>
          <p:cNvPr id="27" name="notes-card-473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474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475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476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day-num-477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clips and your Short template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 and reuse every day.</a:t>
            </a:r>
            <a:endParaRPr lang="en-US" sz="1600" dirty="0"/>
          </a:p>
        </p:txBody>
      </p:sp>
      <p:sp>
        <p:nvSpPr>
          <p:cNvPr id="6" name="label-478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479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Select clips and press Opt+G to make a compound clip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Build a template: hook title, caption style, music, end card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Duplicate the project for each new Short (Cmd+D in the browser)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Save a favourite title style so it’s always one click away</a:t>
            </a:r>
            <a:endParaRPr lang="en-US" sz="1500" dirty="0"/>
          </a:p>
        </p:txBody>
      </p:sp>
      <p:sp>
        <p:nvSpPr>
          <p:cNvPr id="8" name="tryit-card-480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481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482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Build your “Short-Template” project and make today’s Short from it.</a:t>
            </a:r>
            <a:endParaRPr lang="en-US" sz="1400" dirty="0"/>
          </a:p>
        </p:txBody>
      </p:sp>
      <p:sp>
        <p:nvSpPr>
          <p:cNvPr id="11" name="chip-483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484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485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 made from your template</a:t>
            </a:r>
            <a:endParaRPr lang="en-US" sz="1200" dirty="0"/>
          </a:p>
        </p:txBody>
      </p:sp>
      <p:sp>
        <p:nvSpPr>
          <p:cNvPr id="14" name="chip-486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487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488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Opt+G · Cmd+D</a:t>
            </a:r>
            <a:endParaRPr lang="en-US" sz="1200" dirty="0"/>
          </a:p>
        </p:txBody>
      </p:sp>
      <p:sp>
        <p:nvSpPr>
          <p:cNvPr id="17" name="chip-489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490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491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504–512</a:t>
            </a:r>
            <a:endParaRPr lang="en-US" sz="1200" dirty="0"/>
          </a:p>
        </p:txBody>
      </p:sp>
      <p:sp>
        <p:nvSpPr>
          <p:cNvPr id="20" name="image-frame-492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493" descr="Screenshot from the Final Cut Pro User Guide, page 50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7132" y="1691640"/>
            <a:ext cx="3022297" cy="1965960"/>
          </a:xfrm>
          <a:prstGeom prst="rect">
            <a:avLst/>
          </a:prstGeom>
        </p:spPr>
      </p:pic>
      <p:sp>
        <p:nvSpPr>
          <p:cNvPr id="22" name="caption-494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505</a:t>
            </a:r>
            <a:endParaRPr lang="en-US" sz="1000" dirty="0"/>
          </a:p>
        </p:txBody>
      </p:sp>
      <p:sp>
        <p:nvSpPr>
          <p:cNvPr id="23" name="watch-card-495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49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497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498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How to Create &amp; Use Compound Clips in Final Cut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How to Create &amp; Use Compound Clips in Final Cut Pro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Final Cut Pro in Under 5 Minutes: Building Title Template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Final Cut Pro in Under 5 Minutes: Building Title Templates</a:t>
            </a:r>
            <a:endParaRPr lang="en-US" sz="1100" dirty="0"/>
          </a:p>
        </p:txBody>
      </p:sp>
      <p:sp>
        <p:nvSpPr>
          <p:cNvPr id="27" name="notes-card-499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500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501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502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day-num-503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14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markers and YouTube chapters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longer videos and add chapters.</a:t>
            </a:r>
            <a:endParaRPr lang="en-US" sz="1600" dirty="0"/>
          </a:p>
        </p:txBody>
      </p:sp>
      <p:sp>
        <p:nvSpPr>
          <p:cNvPr id="6" name="label-504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505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M adds a marker; press M again to rename 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Change a marker to a chapter marker for YouTube chapters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Roles colour-code clips: dialogue, music, effects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Use the timeline index to find and hide roles</a:t>
            </a:r>
            <a:endParaRPr lang="en-US" sz="1500" dirty="0"/>
          </a:p>
        </p:txBody>
      </p:sp>
      <p:sp>
        <p:nvSpPr>
          <p:cNvPr id="8" name="tryit-card-506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507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508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Edit a 3–6 minute video with at least 3 chapter markers.</a:t>
            </a:r>
            <a:endParaRPr lang="en-US" sz="1400" dirty="0"/>
          </a:p>
        </p:txBody>
      </p:sp>
      <p:sp>
        <p:nvSpPr>
          <p:cNvPr id="11" name="chip-509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510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511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First long video</a:t>
            </a:r>
            <a:endParaRPr lang="en-US" sz="1200" dirty="0"/>
          </a:p>
        </p:txBody>
      </p:sp>
      <p:sp>
        <p:nvSpPr>
          <p:cNvPr id="14" name="chip-512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513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514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 · Opt+M</a:t>
            </a:r>
            <a:endParaRPr lang="en-US" sz="1200" dirty="0"/>
          </a:p>
        </p:txBody>
      </p:sp>
      <p:sp>
        <p:nvSpPr>
          <p:cNvPr id="17" name="chip-515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516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517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205–209, 478</a:t>
            </a:r>
            <a:endParaRPr lang="en-US" sz="1200" dirty="0"/>
          </a:p>
        </p:txBody>
      </p:sp>
      <p:sp>
        <p:nvSpPr>
          <p:cNvPr id="20" name="image-frame-518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519" descr="Screenshot from the Final Cut Pro User Guide, page 20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0078" y="1691640"/>
            <a:ext cx="3596404" cy="1965960"/>
          </a:xfrm>
          <a:prstGeom prst="rect">
            <a:avLst/>
          </a:prstGeom>
        </p:spPr>
      </p:pic>
      <p:sp>
        <p:nvSpPr>
          <p:cNvPr id="22" name="caption-520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205</a:t>
            </a:r>
            <a:endParaRPr lang="en-US" sz="1000" dirty="0"/>
          </a:p>
        </p:txBody>
      </p:sp>
      <p:sp>
        <p:nvSpPr>
          <p:cNvPr id="23" name="watch-card-521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5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523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524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How To Create A Chapter Marker In Final Cut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How To Create A Chapter Marker In Final Cut Pro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Chapter markers → timecodes for YouTube description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Chapter markers → timecodes for YouTube descriptions</a:t>
            </a:r>
            <a:endParaRPr lang="en-US" sz="1100" dirty="0"/>
          </a:p>
        </p:txBody>
      </p:sp>
      <p:sp>
        <p:nvSpPr>
          <p:cNvPr id="27" name="notes-card-525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526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527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528"/>
          <p:cNvSpPr txBox="1"/>
          <p:nvPr/>
        </p:nvSpPr>
        <p:spPr>
          <a:xfrm>
            <a:off x="548640" y="1737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3"/>
                </a:solidFill>
              </a:rPr>
              <a:t>WEEK 3 · DAYS 15–21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317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tools</a:t>
            </a:r>
            <a:endParaRPr lang="en-US" sz="4400" dirty="0"/>
          </a:p>
        </p:txBody>
      </p:sp>
      <p:sp>
        <p:nvSpPr>
          <p:cNvPr id="4" name="goal-529"/>
          <p:cNvSpPr txBox="1"/>
          <p:nvPr/>
        </p:nvSpPr>
        <p:spPr>
          <a:xfrm>
            <a:off x="548640" y="36118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Masks, keying, tracking, multicam, music sync and thumbnails.</a:t>
            </a:r>
            <a:endParaRPr lang="en-US" sz="1800" dirty="0"/>
          </a:p>
        </p:txBody>
      </p:sp>
      <p:sp>
        <p:nvSpPr>
          <p:cNvPr id="5" name="card-530"/>
          <p:cNvSpPr/>
          <p:nvPr/>
        </p:nvSpPr>
        <p:spPr>
          <a:xfrm>
            <a:off x="7772400" y="1463040"/>
            <a:ext cx="384048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6" name="label-531"/>
          <p:cNvSpPr txBox="1"/>
          <p:nvPr/>
        </p:nvSpPr>
        <p:spPr>
          <a:xfrm>
            <a:off x="809244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UPLOAD TARGET</a:t>
            </a:r>
            <a:endParaRPr lang="en-US" sz="1100" dirty="0"/>
          </a:p>
        </p:txBody>
      </p:sp>
      <p:sp>
        <p:nvSpPr>
          <p:cNvPr id="7" name="b-532"/>
          <p:cNvSpPr txBox="1"/>
          <p:nvPr/>
        </p:nvSpPr>
        <p:spPr>
          <a:xfrm>
            <a:off x="8092440" y="2011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Short every day, plus long videos on Days 18 and 21</a:t>
            </a:r>
            <a:endParaRPr lang="en-US" sz="1600" dirty="0"/>
          </a:p>
        </p:txBody>
      </p:sp>
      <p:sp>
        <p:nvSpPr>
          <p:cNvPr id="8" name="card-533"/>
          <p:cNvSpPr/>
          <p:nvPr/>
        </p:nvSpPr>
        <p:spPr>
          <a:xfrm>
            <a:off x="7772400" y="3611880"/>
            <a:ext cx="384048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9" name="label-534"/>
          <p:cNvSpPr txBox="1"/>
          <p:nvPr/>
        </p:nvSpPr>
        <p:spPr>
          <a:xfrm>
            <a:off x="809244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END-OF-WEEK CHECK</a:t>
            </a:r>
            <a:endParaRPr lang="en-US" sz="1100" dirty="0"/>
          </a:p>
        </p:txBody>
      </p:sp>
      <p:sp>
        <p:nvSpPr>
          <p:cNvPr id="10" name="b-535"/>
          <p:cNvSpPr txBox="1"/>
          <p:nvPr/>
        </p:nvSpPr>
        <p:spPr>
          <a:xfrm>
            <a:off x="8092440" y="4160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You can use one creative effect per video without looking it up</a:t>
            </a:r>
            <a:endParaRPr lang="en-US" sz="1600" dirty="0"/>
          </a:p>
        </p:txBody>
      </p:sp>
      <p:sp>
        <p:nvSpPr>
          <p:cNvPr id="11" name="daylist-536"/>
          <p:cNvSpPr txBox="1"/>
          <p:nvPr/>
        </p:nvSpPr>
        <p:spPr>
          <a:xfrm>
            <a:off x="548640" y="452628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15  Green screen and Magnetic Mask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16  Object tracking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17  Better audio: effects, voiceover, crossfades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18  Multicam and stabilisation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19  Adjustment clips, LUTs and video scopes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20  Edit to the beat and animate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21  Thumbnails and B-roll storytelling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537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" name="day-num-538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15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screen and Magnetic Mask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yourself anywhere, with or without a green screen.</a:t>
            </a:r>
            <a:endParaRPr lang="en-US" sz="1600" dirty="0"/>
          </a:p>
        </p:txBody>
      </p:sp>
      <p:sp>
        <p:nvSpPr>
          <p:cNvPr id="6" name="label-539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540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Drag the Keyer effect onto a green-screen clip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Place the background clip below as the main storyline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Use Magnetic Mask to cut out a person without a green screen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Refine the edges with the mask’s add and remove points</a:t>
            </a:r>
            <a:endParaRPr lang="en-US" sz="1500" dirty="0"/>
          </a:p>
        </p:txBody>
      </p:sp>
      <p:sp>
        <p:nvSpPr>
          <p:cNvPr id="8" name="tryit-card-541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542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543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Put yourself in front of a different background.</a:t>
            </a:r>
            <a:endParaRPr lang="en-US" sz="1400" dirty="0"/>
          </a:p>
        </p:txBody>
      </p:sp>
      <p:sp>
        <p:nvSpPr>
          <p:cNvPr id="11" name="chip-544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545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546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547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548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549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Cmd+5 (Effects)</a:t>
            </a:r>
            <a:endParaRPr lang="en-US" sz="1200" dirty="0"/>
          </a:p>
        </p:txBody>
      </p:sp>
      <p:sp>
        <p:nvSpPr>
          <p:cNvPr id="17" name="chip-550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551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552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623–677</a:t>
            </a:r>
            <a:endParaRPr lang="en-US" sz="1200" dirty="0"/>
          </a:p>
        </p:txBody>
      </p:sp>
      <p:sp>
        <p:nvSpPr>
          <p:cNvPr id="20" name="image-frame-553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554" descr="Screenshot from the Final Cut Pro User Guide, page 64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14" y="1691640"/>
            <a:ext cx="2761533" cy="1965960"/>
          </a:xfrm>
          <a:prstGeom prst="rect">
            <a:avLst/>
          </a:prstGeom>
        </p:spPr>
      </p:pic>
      <p:sp>
        <p:nvSpPr>
          <p:cNvPr id="22" name="caption-555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646</a:t>
            </a:r>
            <a:endParaRPr lang="en-US" sz="1000" dirty="0"/>
          </a:p>
        </p:txBody>
      </p:sp>
      <p:sp>
        <p:nvSpPr>
          <p:cNvPr id="23" name="watch-card-556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5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558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559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Final Cut Pro 11 • Complete Guide To The Magnetic Mas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Final Cut Pro 11 • Complete Guide To The Magnetic Mask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FCP Green Screen Tutorial for Beginners (Keyer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FCP Green Screen Tutorial for Beginners (Keyer)</a:t>
            </a:r>
            <a:endParaRPr lang="en-US" sz="1100" dirty="0"/>
          </a:p>
        </p:txBody>
      </p:sp>
      <p:sp>
        <p:nvSpPr>
          <p:cNvPr id="27" name="notes-card-560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561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562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563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" name="day-num-564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16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tracking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text or graphics follow something that moves.</a:t>
            </a:r>
            <a:endParaRPr lang="en-US" sz="1600" dirty="0"/>
          </a:p>
        </p:txBody>
      </p:sp>
      <p:sp>
        <p:nvSpPr>
          <p:cNvPr id="6" name="label-565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566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Add a title or image above the moving clip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Open the tracker and drag it onto the object in the viewer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Click Analyze and let FCP follow the object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Fix any drift with tracking keyframes (p. 703)</a:t>
            </a:r>
            <a:endParaRPr lang="en-US" sz="1500" dirty="0"/>
          </a:p>
        </p:txBody>
      </p:sp>
      <p:sp>
        <p:nvSpPr>
          <p:cNvPr id="8" name="tryit-card-567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568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569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Attach a name label to a moving person or car.</a:t>
            </a:r>
            <a:endParaRPr lang="en-US" sz="1400" dirty="0"/>
          </a:p>
        </p:txBody>
      </p:sp>
      <p:sp>
        <p:nvSpPr>
          <p:cNvPr id="11" name="chip-570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571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572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573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574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575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—</a:t>
            </a:r>
            <a:endParaRPr lang="en-US" sz="1200" dirty="0"/>
          </a:p>
        </p:txBody>
      </p:sp>
      <p:sp>
        <p:nvSpPr>
          <p:cNvPr id="17" name="chip-576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577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578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693–707</a:t>
            </a:r>
            <a:endParaRPr lang="en-US" sz="1200" dirty="0"/>
          </a:p>
        </p:txBody>
      </p:sp>
      <p:sp>
        <p:nvSpPr>
          <p:cNvPr id="20" name="image-frame-579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580" descr="Screenshot from the Final Cut Pro User Guide, page 69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9811" y="1691640"/>
            <a:ext cx="2896937" cy="1965960"/>
          </a:xfrm>
          <a:prstGeom prst="rect">
            <a:avLst/>
          </a:prstGeom>
        </p:spPr>
      </p:pic>
      <p:sp>
        <p:nvSpPr>
          <p:cNvPr id="22" name="caption-581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697</a:t>
            </a:r>
            <a:endParaRPr lang="en-US" sz="1000" dirty="0"/>
          </a:p>
        </p:txBody>
      </p:sp>
      <p:sp>
        <p:nvSpPr>
          <p:cNvPr id="23" name="watch-card-582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58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584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585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Object Tracking in FCP – Text Follow a Moving Objec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Object Tracking in FCP – Text Follow a Moving Object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Final Cut Pro Text Object Tracking Tutoria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Final Cut Pro Text Object Tracking Tutorial</a:t>
            </a:r>
            <a:endParaRPr lang="en-US" sz="1100" dirty="0"/>
          </a:p>
        </p:txBody>
      </p:sp>
      <p:sp>
        <p:nvSpPr>
          <p:cNvPr id="27" name="notes-card-586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587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588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589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" name="day-num-590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17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audio: effects, voiceover, crossfades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voice clear and confident.</a:t>
            </a:r>
            <a:endParaRPr lang="en-US" sz="1600" dirty="0"/>
          </a:p>
        </p:txBody>
      </p:sp>
      <p:sp>
        <p:nvSpPr>
          <p:cNvPr id="6" name="label-591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592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Opt+Cmd+8 opens Record Voiceover; Opt+Shift+A starts recording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Add EQ and compression from the Audio effects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Opt+T adds a crossfade at the selected audio edit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Shift+Cmd+M matches audio between clips</a:t>
            </a:r>
            <a:endParaRPr lang="en-US" sz="1500" dirty="0"/>
          </a:p>
        </p:txBody>
      </p:sp>
      <p:sp>
        <p:nvSpPr>
          <p:cNvPr id="8" name="tryit-card-593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594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595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Record a voiceover over B-roll, then clean it up.</a:t>
            </a:r>
            <a:endParaRPr lang="en-US" sz="1400" dirty="0"/>
          </a:p>
        </p:txBody>
      </p:sp>
      <p:sp>
        <p:nvSpPr>
          <p:cNvPr id="11" name="chip-596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597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598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599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600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601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Opt+Cmd+8 · Opt+T · Shift+Cmd+M</a:t>
            </a:r>
            <a:endParaRPr lang="en-US" sz="1200" dirty="0"/>
          </a:p>
        </p:txBody>
      </p:sp>
      <p:sp>
        <p:nvSpPr>
          <p:cNvPr id="17" name="chip-602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603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604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232, 248, 261–275</a:t>
            </a:r>
            <a:endParaRPr lang="en-US" sz="1200" dirty="0"/>
          </a:p>
        </p:txBody>
      </p:sp>
      <p:sp>
        <p:nvSpPr>
          <p:cNvPr id="20" name="image-frame-605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606" descr="Screenshot from the Final Cut Pro User Guide, page 2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3747" y="1691640"/>
            <a:ext cx="1249066" cy="1965960"/>
          </a:xfrm>
          <a:prstGeom prst="rect">
            <a:avLst/>
          </a:prstGeom>
        </p:spPr>
      </p:pic>
      <p:sp>
        <p:nvSpPr>
          <p:cNvPr id="22" name="caption-607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232</a:t>
            </a:r>
            <a:endParaRPr lang="en-US" sz="1000" dirty="0"/>
          </a:p>
        </p:txBody>
      </p:sp>
      <p:sp>
        <p:nvSpPr>
          <p:cNvPr id="23" name="watch-card-608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60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610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611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How to Record Your Voice-over In Final Cut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How to Record Your Voice-over In Final Cut Pro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I Process Voice Audio for YouTub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I Process Voice Audio for YouTube</a:t>
            </a:r>
            <a:endParaRPr lang="en-US" sz="1100" dirty="0"/>
          </a:p>
        </p:txBody>
      </p:sp>
      <p:sp>
        <p:nvSpPr>
          <p:cNvPr id="27" name="notes-card-612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613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614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615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" name="day-num-616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18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Multicam and stabilisation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two cameras as easily as one.</a:t>
            </a:r>
            <a:endParaRPr lang="en-US" sz="1600" dirty="0"/>
          </a:p>
        </p:txBody>
      </p:sp>
      <p:sp>
        <p:nvSpPr>
          <p:cNvPr id="6" name="label-617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618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Select the angles &gt; New Multicam Clip; FCP syncs them by audio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Open the angle viewer and switch angles while it plays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Press 1, 2, 3 to cut to that angle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Stabilise shaky shots in the Video inspector</a:t>
            </a:r>
            <a:endParaRPr lang="en-US" sz="1500" dirty="0"/>
          </a:p>
        </p:txBody>
      </p:sp>
      <p:sp>
        <p:nvSpPr>
          <p:cNvPr id="8" name="tryit-card-619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620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621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Film with your phone and webcam at once, then cut between them.</a:t>
            </a:r>
            <a:endParaRPr lang="en-US" sz="1400" dirty="0"/>
          </a:p>
        </p:txBody>
      </p:sp>
      <p:sp>
        <p:nvSpPr>
          <p:cNvPr id="11" name="chip-622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623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624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Long video</a:t>
            </a:r>
            <a:endParaRPr lang="en-US" sz="1200" dirty="0"/>
          </a:p>
        </p:txBody>
      </p:sp>
      <p:sp>
        <p:nvSpPr>
          <p:cNvPr id="14" name="chip-625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626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627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 · 2 · 3 (angles)</a:t>
            </a:r>
            <a:endParaRPr lang="en-US" sz="1200" dirty="0"/>
          </a:p>
        </p:txBody>
      </p:sp>
      <p:sp>
        <p:nvSpPr>
          <p:cNvPr id="17" name="chip-628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629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630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213–219, 513–541</a:t>
            </a:r>
            <a:endParaRPr lang="en-US" sz="1200" dirty="0"/>
          </a:p>
        </p:txBody>
      </p:sp>
      <p:sp>
        <p:nvSpPr>
          <p:cNvPr id="20" name="image-frame-631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632" descr="Screenshot from the Final Cut Pro User Guide, page 5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937" y="1691640"/>
            <a:ext cx="3920686" cy="1965960"/>
          </a:xfrm>
          <a:prstGeom prst="rect">
            <a:avLst/>
          </a:prstGeom>
        </p:spPr>
      </p:pic>
      <p:sp>
        <p:nvSpPr>
          <p:cNvPr id="22" name="caption-633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514</a:t>
            </a:r>
            <a:endParaRPr lang="en-US" sz="1000" dirty="0"/>
          </a:p>
        </p:txBody>
      </p:sp>
      <p:sp>
        <p:nvSpPr>
          <p:cNvPr id="23" name="watch-card-634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63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636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637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Multicam Editing Tutorial on Final Cut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Multicam Editing Tutorial on Final Cut Pro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3 Ways You Can Stabilize Video in Final Cut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3 Ways You Can Stabilize Video in Final Cut Pro</a:t>
            </a:r>
            <a:endParaRPr lang="en-US" sz="1100" dirty="0"/>
          </a:p>
        </p:txBody>
      </p:sp>
      <p:sp>
        <p:nvSpPr>
          <p:cNvPr id="27" name="notes-card-638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639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640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641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" name="day-num-642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19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Adjustment clips, LUTs and video scopes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channel a consistent look.</a:t>
            </a:r>
            <a:endParaRPr lang="en-US" sz="1600" dirty="0"/>
          </a:p>
        </p:txBody>
      </p:sp>
      <p:sp>
        <p:nvSpPr>
          <p:cNvPr id="6" name="label-643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644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Add an adjustment clip over your whole edit for one look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Apply a LUT or Custom LUT effect for a style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Cmd+7 shows the video scopes to check exposure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Keep skin tones natural (on the vectorscope skin-tone line)</a:t>
            </a:r>
            <a:endParaRPr lang="en-US" sz="1500" dirty="0"/>
          </a:p>
        </p:txBody>
      </p:sp>
      <p:sp>
        <p:nvSpPr>
          <p:cNvPr id="8" name="tryit-card-645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646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647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Create one colour look and save it as a preset.</a:t>
            </a:r>
            <a:endParaRPr lang="en-US" sz="1400" dirty="0"/>
          </a:p>
        </p:txBody>
      </p:sp>
      <p:sp>
        <p:nvSpPr>
          <p:cNvPr id="11" name="chip-648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649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650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651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652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653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Cmd+7</a:t>
            </a:r>
            <a:endParaRPr lang="en-US" sz="1200" dirty="0"/>
          </a:p>
        </p:txBody>
      </p:sp>
      <p:sp>
        <p:nvSpPr>
          <p:cNvPr id="17" name="chip-654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655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656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449, 783–800</a:t>
            </a:r>
            <a:endParaRPr lang="en-US" sz="1200" dirty="0"/>
          </a:p>
        </p:txBody>
      </p:sp>
      <p:sp>
        <p:nvSpPr>
          <p:cNvPr id="20" name="image-frame-657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658" descr="Screenshot from the Final Cut Pro User Guide, page 79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9798" y="1691640"/>
            <a:ext cx="3376964" cy="1965960"/>
          </a:xfrm>
          <a:prstGeom prst="rect">
            <a:avLst/>
          </a:prstGeom>
        </p:spPr>
      </p:pic>
      <p:sp>
        <p:nvSpPr>
          <p:cNvPr id="22" name="caption-659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791</a:t>
            </a:r>
            <a:endParaRPr lang="en-US" sz="1000" dirty="0"/>
          </a:p>
        </p:txBody>
      </p:sp>
      <p:sp>
        <p:nvSpPr>
          <p:cNvPr id="23" name="watch-card-660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6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662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663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How to Use Adjustment Layers in Final Cut Pro 1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How to Use Adjustment Layers in Final Cut Pro 11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to correctly use LUTs – 3 methods you must kno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to correctly use LUTs – 3 methods you must know</a:t>
            </a:r>
            <a:endParaRPr lang="en-US" sz="1100" dirty="0"/>
          </a:p>
        </p:txBody>
      </p:sp>
      <p:sp>
        <p:nvSpPr>
          <p:cNvPr id="27" name="notes-card-664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665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666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667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" name="day-num-668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20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to the beat and animate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cuts to music and add movement.</a:t>
            </a:r>
            <a:endParaRPr lang="en-US" sz="1600" dirty="0"/>
          </a:p>
        </p:txBody>
      </p:sp>
      <p:sp>
        <p:nvSpPr>
          <p:cNvPr id="6" name="label-669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670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Select the music clip and press Opt+B for Beat Detection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Snap cuts to the beat grid with snapping on (N)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Add keyframes in the inspector to animate position or scale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Use generators for backgrounds and shapes</a:t>
            </a:r>
            <a:endParaRPr lang="en-US" sz="1500" dirty="0"/>
          </a:p>
        </p:txBody>
      </p:sp>
      <p:sp>
        <p:nvSpPr>
          <p:cNvPr id="8" name="tryit-card-671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672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673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Cut a 15-second montage exactly on the beat.</a:t>
            </a:r>
            <a:endParaRPr lang="en-US" sz="1400" dirty="0"/>
          </a:p>
        </p:txBody>
      </p:sp>
      <p:sp>
        <p:nvSpPr>
          <p:cNvPr id="11" name="chip-674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675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676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Music-synced Short</a:t>
            </a:r>
            <a:endParaRPr lang="en-US" sz="1200" dirty="0"/>
          </a:p>
        </p:txBody>
      </p:sp>
      <p:sp>
        <p:nvSpPr>
          <p:cNvPr id="14" name="chip-677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678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679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Opt+B · N</a:t>
            </a:r>
            <a:endParaRPr lang="en-US" sz="1200" dirty="0"/>
          </a:p>
        </p:txBody>
      </p:sp>
      <p:sp>
        <p:nvSpPr>
          <p:cNvPr id="17" name="chip-680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681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682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210–214, 451, 467</a:t>
            </a:r>
            <a:endParaRPr lang="en-US" sz="1200" dirty="0"/>
          </a:p>
        </p:txBody>
      </p:sp>
      <p:sp>
        <p:nvSpPr>
          <p:cNvPr id="20" name="image-frame-683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684" descr="Screenshot from the Final Cut Pro User Guide, page 4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165" y="1691640"/>
            <a:ext cx="2348230" cy="1965960"/>
          </a:xfrm>
          <a:prstGeom prst="rect">
            <a:avLst/>
          </a:prstGeom>
        </p:spPr>
      </p:pic>
      <p:sp>
        <p:nvSpPr>
          <p:cNvPr id="22" name="caption-685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468</a:t>
            </a:r>
            <a:endParaRPr lang="en-US" sz="1000" dirty="0"/>
          </a:p>
        </p:txBody>
      </p:sp>
      <p:sp>
        <p:nvSpPr>
          <p:cNvPr id="23" name="watch-card-686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68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688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689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Beat Detection Explained (Final Cut Pro 12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Beat Detection Explained (Final Cut Pro 12)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to Use Keyframes to Animate Objects in FC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to Use Keyframes to Animate Objects in FCP</a:t>
            </a:r>
            <a:endParaRPr lang="en-US" sz="1100" dirty="0"/>
          </a:p>
        </p:txBody>
      </p:sp>
      <p:sp>
        <p:nvSpPr>
          <p:cNvPr id="27" name="notes-card-690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691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692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693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" name="day-num-694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21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Thumbnails and B-roll storytelling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thumbnail decides whether people click.</a:t>
            </a:r>
            <a:endParaRPr lang="en-US" sz="1600" dirty="0"/>
          </a:p>
        </p:txBody>
      </p:sp>
      <p:sp>
        <p:nvSpPr>
          <p:cNvPr id="6" name="label-695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696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Share &gt; Send Frame to Pixelmator Pro for thumbnails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Or add the Save Current Frame destination (p. 894)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Big face, 3–4 words, high contrast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Cover every jump cut with B-roll that shows what you say</a:t>
            </a:r>
            <a:endParaRPr lang="en-US" sz="1500" dirty="0"/>
          </a:p>
        </p:txBody>
      </p:sp>
      <p:sp>
        <p:nvSpPr>
          <p:cNvPr id="8" name="tryit-card-697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698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699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Make 2 thumbnail options and pick the clearer one.</a:t>
            </a:r>
            <a:endParaRPr lang="en-US" sz="1400" dirty="0"/>
          </a:p>
        </p:txBody>
      </p:sp>
      <p:sp>
        <p:nvSpPr>
          <p:cNvPr id="11" name="chip-700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701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702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Long video</a:t>
            </a:r>
            <a:endParaRPr lang="en-US" sz="1200" dirty="0"/>
          </a:p>
        </p:txBody>
      </p:sp>
      <p:sp>
        <p:nvSpPr>
          <p:cNvPr id="14" name="chip-703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704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705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Cmd+E</a:t>
            </a:r>
            <a:endParaRPr lang="en-US" sz="1200" dirty="0"/>
          </a:p>
        </p:txBody>
      </p:sp>
      <p:sp>
        <p:nvSpPr>
          <p:cNvPr id="17" name="chip-706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707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708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828, 894–895</a:t>
            </a:r>
            <a:endParaRPr lang="en-US" sz="1200" dirty="0"/>
          </a:p>
        </p:txBody>
      </p:sp>
      <p:sp>
        <p:nvSpPr>
          <p:cNvPr id="20" name="image-frame-709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710" descr="Screenshot from the Final Cut Pro User Guide, page 8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609" y="1691640"/>
            <a:ext cx="3495341" cy="1965960"/>
          </a:xfrm>
          <a:prstGeom prst="rect">
            <a:avLst/>
          </a:prstGeom>
        </p:spPr>
      </p:pic>
      <p:sp>
        <p:nvSpPr>
          <p:cNvPr id="22" name="caption-711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828</a:t>
            </a:r>
            <a:endParaRPr lang="en-US" sz="1000" dirty="0"/>
          </a:p>
        </p:txBody>
      </p:sp>
      <p:sp>
        <p:nvSpPr>
          <p:cNvPr id="23" name="watch-card-712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71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714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715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Show-Stopping YouTube Thumbnails with Pixelmator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Show-Stopping YouTube Thumbnails with Pixelmator Pro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Youtube Thumbnail Creation In Apple Pixelmator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Youtube Thumbnail Creation In Apple Pixelmator Pro</a:t>
            </a:r>
            <a:endParaRPr lang="en-US" sz="1100" dirty="0"/>
          </a:p>
        </p:txBody>
      </p:sp>
      <p:sp>
        <p:nvSpPr>
          <p:cNvPr id="27" name="notes-card-716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717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718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719"/>
          <p:cNvSpPr txBox="1"/>
          <p:nvPr/>
        </p:nvSpPr>
        <p:spPr>
          <a:xfrm>
            <a:off x="548640" y="1737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5"/>
                </a:solidFill>
              </a:rPr>
              <a:t>WEEK 4 · DAYS 22–30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317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daily workflow</a:t>
            </a:r>
            <a:endParaRPr lang="en-US" sz="4400" dirty="0"/>
          </a:p>
        </p:txBody>
      </p:sp>
      <p:sp>
        <p:nvSpPr>
          <p:cNvPr id="4" name="goal-720"/>
          <p:cNvSpPr txBox="1"/>
          <p:nvPr/>
        </p:nvSpPr>
        <p:spPr>
          <a:xfrm>
            <a:off x="548640" y="36118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Batch your work, manage your library, repurpose content and read analytics.</a:t>
            </a:r>
            <a:endParaRPr lang="en-US" sz="1800" dirty="0"/>
          </a:p>
        </p:txBody>
      </p:sp>
      <p:sp>
        <p:nvSpPr>
          <p:cNvPr id="5" name="card-721"/>
          <p:cNvSpPr/>
          <p:nvPr/>
        </p:nvSpPr>
        <p:spPr>
          <a:xfrm>
            <a:off x="7772400" y="1463040"/>
            <a:ext cx="384048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6" name="label-722"/>
          <p:cNvSpPr txBox="1"/>
          <p:nvPr/>
        </p:nvSpPr>
        <p:spPr>
          <a:xfrm>
            <a:off x="809244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UPLOAD TARGET</a:t>
            </a:r>
            <a:endParaRPr lang="en-US" sz="1100" dirty="0"/>
          </a:p>
        </p:txBody>
      </p:sp>
      <p:sp>
        <p:nvSpPr>
          <p:cNvPr id="7" name="b-723"/>
          <p:cNvSpPr txBox="1"/>
          <p:nvPr/>
        </p:nvSpPr>
        <p:spPr>
          <a:xfrm>
            <a:off x="8092440" y="2011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Short daily, plus a long video every 2–3 days</a:t>
            </a:r>
            <a:endParaRPr lang="en-US" sz="1600" dirty="0"/>
          </a:p>
        </p:txBody>
      </p:sp>
      <p:sp>
        <p:nvSpPr>
          <p:cNvPr id="8" name="card-724"/>
          <p:cNvSpPr/>
          <p:nvPr/>
        </p:nvSpPr>
        <p:spPr>
          <a:xfrm>
            <a:off x="7772400" y="3611880"/>
            <a:ext cx="384048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9" name="label-725"/>
          <p:cNvSpPr txBox="1"/>
          <p:nvPr/>
        </p:nvSpPr>
        <p:spPr>
          <a:xfrm>
            <a:off x="809244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END-OF-WEEK CHECK</a:t>
            </a:r>
            <a:endParaRPr lang="en-US" sz="1100" dirty="0"/>
          </a:p>
        </p:txBody>
      </p:sp>
      <p:sp>
        <p:nvSpPr>
          <p:cNvPr id="10" name="b-726"/>
          <p:cNvSpPr txBox="1"/>
          <p:nvPr/>
        </p:nvSpPr>
        <p:spPr>
          <a:xfrm>
            <a:off x="8092440" y="4160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Shoot, edit and upload a Short in under 30 minutes</a:t>
            </a:r>
            <a:endParaRPr lang="en-US" sz="1600" dirty="0"/>
          </a:p>
        </p:txBody>
      </p:sp>
      <p:sp>
        <p:nvSpPr>
          <p:cNvPr id="11" name="daylist-727"/>
          <p:cNvSpPr txBox="1"/>
          <p:nvPr/>
        </p:nvSpPr>
        <p:spPr>
          <a:xfrm>
            <a:off x="548640" y="452628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22  Batch day: shoot 5 Shorts at once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23  Edit fast with your template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24  Library management, proxies and backups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25  Turn one long video into three Shorts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26  Faster exports and YouTube SEO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27  Read your analytics and fix your hooks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28  Speed challenge: Short in under 30 minutes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29  Make your best long video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Day 30  Review and plan the next month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728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ay-num-729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22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day: shoot 5 Shorts at once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is how daily uploads stay sustainable.</a:t>
            </a:r>
            <a:endParaRPr lang="en-US" sz="1600" dirty="0"/>
          </a:p>
        </p:txBody>
      </p:sp>
      <p:sp>
        <p:nvSpPr>
          <p:cNvPr id="6" name="label-730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731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Write 5 hooks (the first line of each Short)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Set up light and mic once, then film all 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Import into one event; add a keyword for each Short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Rate the best take of each with F</a:t>
            </a:r>
            <a:endParaRPr lang="en-US" sz="1500" dirty="0"/>
          </a:p>
        </p:txBody>
      </p:sp>
      <p:sp>
        <p:nvSpPr>
          <p:cNvPr id="8" name="tryit-card-732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733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734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Finish the day with 5 Shorts filmed and organised.</a:t>
            </a:r>
            <a:endParaRPr lang="en-US" sz="1400" dirty="0"/>
          </a:p>
        </p:txBody>
      </p:sp>
      <p:sp>
        <p:nvSpPr>
          <p:cNvPr id="11" name="chip-735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736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737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738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739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740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Cmd+I · F</a:t>
            </a:r>
            <a:endParaRPr lang="en-US" sz="1200" dirty="0"/>
          </a:p>
        </p:txBody>
      </p:sp>
      <p:sp>
        <p:nvSpPr>
          <p:cNvPr id="17" name="chip-741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742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743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21–38, 89</a:t>
            </a:r>
            <a:endParaRPr lang="en-US" sz="1200" dirty="0"/>
          </a:p>
        </p:txBody>
      </p:sp>
      <p:sp>
        <p:nvSpPr>
          <p:cNvPr id="20" name="image-frame-744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sp>
        <p:nvSpPr>
          <p:cNvPr id="21" name="icon-circle-745"/>
          <p:cNvSpPr/>
          <p:nvPr/>
        </p:nvSpPr>
        <p:spPr>
          <a:xfrm>
            <a:off x="8595360" y="178308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con-74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2248" y="2029968"/>
            <a:ext cx="512064" cy="512064"/>
          </a:xfrm>
          <a:prstGeom prst="rect">
            <a:avLst/>
          </a:prstGeom>
        </p:spPr>
      </p:pic>
      <p:sp>
        <p:nvSpPr>
          <p:cNvPr id="23" name="icon-cap-747"/>
          <p:cNvSpPr txBox="1"/>
          <p:nvPr/>
        </p:nvSpPr>
        <p:spPr>
          <a:xfrm>
            <a:off x="6949440" y="2971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Batching is how daily uploads stay sustainable.</a:t>
            </a:r>
            <a:endParaRPr lang="en-US" sz="1500" dirty="0"/>
          </a:p>
        </p:txBody>
      </p:sp>
      <p:sp>
        <p:nvSpPr>
          <p:cNvPr id="24" name="watch-card-748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5" name="yt-icon-7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6" name="label-750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7" name="watch-links-751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How to Batch Content for YouTube Shorts: Record, Edit, Uploa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How to Batch Content for YouTube Shorts: Record, Edit, Upload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I Batch Film 4 Videos in 1 Day (Behind the Scenes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I Batch Film 4 Videos in 1 Day (Behind the Scenes)</a:t>
            </a:r>
            <a:endParaRPr lang="en-US" sz="1100" dirty="0"/>
          </a:p>
        </p:txBody>
      </p:sp>
      <p:sp>
        <p:nvSpPr>
          <p:cNvPr id="28" name="notes-card-752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9" name="label-753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30" name="my-notes-754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755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ay-num-756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23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fast with your template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15 minutes per Short.</a:t>
            </a:r>
            <a:endParaRPr lang="en-US" sz="1600" dirty="0"/>
          </a:p>
        </p:txBody>
      </p:sp>
      <p:sp>
        <p:nvSpPr>
          <p:cNvPr id="6" name="label-757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758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Duplicate the template project for each Short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Use auditions (Cmd+Y) to compare takes quickly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Use the precision editor (Ctrl+E) for perfect cuts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Set a timer and stop at 15 minutes</a:t>
            </a:r>
            <a:endParaRPr lang="en-US" sz="1500" dirty="0"/>
          </a:p>
        </p:txBody>
      </p:sp>
      <p:sp>
        <p:nvSpPr>
          <p:cNvPr id="8" name="tryit-card-759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760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761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Edit 3 of yesterday’s Shorts with a timer running.</a:t>
            </a:r>
            <a:endParaRPr lang="en-US" sz="1400" dirty="0"/>
          </a:p>
        </p:txBody>
      </p:sp>
      <p:sp>
        <p:nvSpPr>
          <p:cNvPr id="11" name="chip-762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763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764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765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766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767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Cmd+Y · Ctrl+E</a:t>
            </a:r>
            <a:endParaRPr lang="en-US" sz="1200" dirty="0"/>
          </a:p>
        </p:txBody>
      </p:sp>
      <p:sp>
        <p:nvSpPr>
          <p:cNvPr id="17" name="chip-768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769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770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547–557</a:t>
            </a:r>
            <a:endParaRPr lang="en-US" sz="1200" dirty="0"/>
          </a:p>
        </p:txBody>
      </p:sp>
      <p:sp>
        <p:nvSpPr>
          <p:cNvPr id="20" name="image-frame-771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772" descr="Screenshot from the Final Cut Pro User Guide, page 55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1906" y="1691640"/>
            <a:ext cx="2692747" cy="1965960"/>
          </a:xfrm>
          <a:prstGeom prst="rect">
            <a:avLst/>
          </a:prstGeom>
        </p:spPr>
      </p:pic>
      <p:sp>
        <p:nvSpPr>
          <p:cNvPr id="22" name="caption-773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551</a:t>
            </a:r>
            <a:endParaRPr lang="en-US" sz="1000" dirty="0"/>
          </a:p>
        </p:txBody>
      </p:sp>
      <p:sp>
        <p:nvSpPr>
          <p:cNvPr id="23" name="watch-card-774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77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776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777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Master Auditioning in Final Cut Pro for Perfect Take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Master Auditioning in Final Cut Pro for Perfect Takes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to Use Control-E (Precision Editor) for Perfect Edi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to Use Control-E (Precision Editor) for Perfect Edits</a:t>
            </a:r>
            <a:endParaRPr lang="en-US" sz="1100" dirty="0"/>
          </a:p>
        </p:txBody>
      </p:sp>
      <p:sp>
        <p:nvSpPr>
          <p:cNvPr id="27" name="notes-card-778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779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780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781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ay-num-782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24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management, proxies and backups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FCP fast and your work safe.</a:t>
            </a:r>
            <a:endParaRPr lang="en-US" sz="1600" dirty="0"/>
          </a:p>
        </p:txBody>
      </p:sp>
      <p:sp>
        <p:nvSpPr>
          <p:cNvPr id="6" name="label-783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784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Create proxy media for smoother editing of 4K files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Delete render files you don’t need to free disk space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Consolidate media so the library contains everything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Back up the library to an external drive weekly</a:t>
            </a:r>
            <a:endParaRPr lang="en-US" sz="1500" dirty="0"/>
          </a:p>
        </p:txBody>
      </p:sp>
      <p:sp>
        <p:nvSpPr>
          <p:cNvPr id="8" name="tryit-card-785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786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787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Clean up your library and check your free disk space.</a:t>
            </a:r>
            <a:endParaRPr lang="en-US" sz="1400" dirty="0"/>
          </a:p>
        </p:txBody>
      </p:sp>
      <p:sp>
        <p:nvSpPr>
          <p:cNvPr id="11" name="chip-788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789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790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791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792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793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—</a:t>
            </a:r>
            <a:endParaRPr lang="en-US" sz="1200" dirty="0"/>
          </a:p>
        </p:txBody>
      </p:sp>
      <p:sp>
        <p:nvSpPr>
          <p:cNvPr id="17" name="chip-794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795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796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850–876</a:t>
            </a:r>
            <a:endParaRPr lang="en-US" sz="1200" dirty="0"/>
          </a:p>
        </p:txBody>
      </p:sp>
      <p:sp>
        <p:nvSpPr>
          <p:cNvPr id="20" name="image-frame-797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798" descr="Screenshot from the Final Cut Pro User Guide, page 8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417" y="1691640"/>
            <a:ext cx="2515725" cy="1965960"/>
          </a:xfrm>
          <a:prstGeom prst="rect">
            <a:avLst/>
          </a:prstGeom>
        </p:spPr>
      </p:pic>
      <p:sp>
        <p:nvSpPr>
          <p:cNvPr id="22" name="caption-799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868</a:t>
            </a:r>
            <a:endParaRPr lang="en-US" sz="1000" dirty="0"/>
          </a:p>
        </p:txBody>
      </p:sp>
      <p:sp>
        <p:nvSpPr>
          <p:cNvPr id="23" name="watch-card-800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80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802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803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Edit faster in Final Cut using proxy medi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Edit faster in Final Cut using proxy media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To Delete Render Files in Final Cut Pro (2026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To Delete Render Files in Final Cut Pro (2026)</a:t>
            </a:r>
            <a:endParaRPr lang="en-US" sz="1100" dirty="0"/>
          </a:p>
        </p:txBody>
      </p:sp>
      <p:sp>
        <p:nvSpPr>
          <p:cNvPr id="27" name="notes-card-804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805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806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807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ay-num-808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25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one long video into three Shorts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more content from every recording.</a:t>
            </a:r>
            <a:endParaRPr lang="en-US" sz="1600" dirty="0"/>
          </a:p>
        </p:txBody>
      </p:sp>
      <p:sp>
        <p:nvSpPr>
          <p:cNvPr id="6" name="label-809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810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Select the long project &gt; Duplicate Project As (p. 123)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Choose a vertical format for the copy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Use Smart Conform to reframe each clip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Cut the 3 best 30–60 second moments</a:t>
            </a:r>
            <a:endParaRPr lang="en-US" sz="1500" dirty="0"/>
          </a:p>
        </p:txBody>
      </p:sp>
      <p:sp>
        <p:nvSpPr>
          <p:cNvPr id="8" name="tryit-card-811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812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813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Make 3 Shorts from your Day 14 or Day 21 video.</a:t>
            </a:r>
            <a:endParaRPr lang="en-US" sz="1400" dirty="0"/>
          </a:p>
        </p:txBody>
      </p:sp>
      <p:sp>
        <p:nvSpPr>
          <p:cNvPr id="11" name="chip-814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815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816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 (repurposed)</a:t>
            </a:r>
            <a:endParaRPr lang="en-US" sz="1200" dirty="0"/>
          </a:p>
        </p:txBody>
      </p:sp>
      <p:sp>
        <p:nvSpPr>
          <p:cNvPr id="14" name="chip-817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818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819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Cmd+D</a:t>
            </a:r>
            <a:endParaRPr lang="en-US" sz="1200" dirty="0"/>
          </a:p>
        </p:txBody>
      </p:sp>
      <p:sp>
        <p:nvSpPr>
          <p:cNvPr id="17" name="chip-820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821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822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122–123, 404</a:t>
            </a:r>
            <a:endParaRPr lang="en-US" sz="1200" dirty="0"/>
          </a:p>
        </p:txBody>
      </p:sp>
      <p:sp>
        <p:nvSpPr>
          <p:cNvPr id="20" name="image-frame-823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824" descr="Screenshot from the Final Cut Pro User Guide, page 4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8621" y="1691640"/>
            <a:ext cx="2419317" cy="1965960"/>
          </a:xfrm>
          <a:prstGeom prst="rect">
            <a:avLst/>
          </a:prstGeom>
        </p:spPr>
      </p:pic>
      <p:sp>
        <p:nvSpPr>
          <p:cNvPr id="22" name="caption-825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403</a:t>
            </a:r>
            <a:endParaRPr lang="en-US" sz="1000" dirty="0"/>
          </a:p>
        </p:txBody>
      </p:sp>
      <p:sp>
        <p:nvSpPr>
          <p:cNvPr id="23" name="watch-card-826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82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828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829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Final Cut Pro: Turn Any Video into a Vertical Reel or Shor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Final Cut Pro: Turn Any Video into a Vertical Reel or Short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to Duplicate Your Project in Final Cut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to Duplicate Your Project in Final Cut Pro</a:t>
            </a:r>
            <a:endParaRPr lang="en-US" sz="1100" dirty="0"/>
          </a:p>
        </p:txBody>
      </p:sp>
      <p:sp>
        <p:nvSpPr>
          <p:cNvPr id="27" name="notes-card-830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831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832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833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ay-num-834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26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exports and YouTube SEO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less time waiting and more time being found.</a:t>
            </a:r>
            <a:endParaRPr lang="en-US" sz="1600" dirty="0"/>
          </a:p>
        </p:txBody>
      </p:sp>
      <p:sp>
        <p:nvSpPr>
          <p:cNvPr id="6" name="label-835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836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Turn on Allow export segmentation for faster H.264 exports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Batch-share several Shorts at once (p. 833)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Title: keyword first and under 60 characters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Schedule uploads in YouTube Studio for a consistent time</a:t>
            </a:r>
            <a:endParaRPr lang="en-US" sz="1500" dirty="0"/>
          </a:p>
        </p:txBody>
      </p:sp>
      <p:sp>
        <p:nvSpPr>
          <p:cNvPr id="8" name="tryit-card-837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838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839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Export 3 Shorts in one batch and schedule them for 3 days.</a:t>
            </a:r>
            <a:endParaRPr lang="en-US" sz="1400" dirty="0"/>
          </a:p>
        </p:txBody>
      </p:sp>
      <p:sp>
        <p:nvSpPr>
          <p:cNvPr id="11" name="chip-840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841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842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 (scheduled)</a:t>
            </a:r>
            <a:endParaRPr lang="en-US" sz="1200" dirty="0"/>
          </a:p>
        </p:txBody>
      </p:sp>
      <p:sp>
        <p:nvSpPr>
          <p:cNvPr id="14" name="chip-843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844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845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Cmd+E</a:t>
            </a:r>
            <a:endParaRPr lang="en-US" sz="1200" dirty="0"/>
          </a:p>
        </p:txBody>
      </p:sp>
      <p:sp>
        <p:nvSpPr>
          <p:cNvPr id="17" name="chip-846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847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848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833, 843, 848</a:t>
            </a:r>
            <a:endParaRPr lang="en-US" sz="1200" dirty="0"/>
          </a:p>
        </p:txBody>
      </p:sp>
      <p:sp>
        <p:nvSpPr>
          <p:cNvPr id="20" name="image-frame-849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pic>
        <p:nvPicPr>
          <p:cNvPr id="21" name="screenshot-850" descr="Screenshot from the Final Cut Pro User Guide, page 84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7205" y="1691640"/>
            <a:ext cx="2642150" cy="1965960"/>
          </a:xfrm>
          <a:prstGeom prst="rect">
            <a:avLst/>
          </a:prstGeom>
        </p:spPr>
      </p:pic>
      <p:sp>
        <p:nvSpPr>
          <p:cNvPr id="22" name="caption-851"/>
          <p:cNvSpPr txBox="1"/>
          <p:nvPr/>
        </p:nvSpPr>
        <p:spPr>
          <a:xfrm>
            <a:off x="6720840" y="37124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From the FCP User Guide, p. 848</a:t>
            </a:r>
            <a:endParaRPr lang="en-US" sz="1000" dirty="0"/>
          </a:p>
        </p:txBody>
      </p:sp>
      <p:sp>
        <p:nvSpPr>
          <p:cNvPr id="23" name="watch-card-852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4" name="yt-icon-85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5" name="label-854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6" name="watch-links-855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YouTube SEO Settings 2025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YouTube SEO Settings 2025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to Rank YouTube Videos – Small &amp; New Channel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to Rank YouTube Videos – Small &amp; New Channels</a:t>
            </a:r>
            <a:endParaRPr lang="en-US" sz="1100" dirty="0"/>
          </a:p>
        </p:txBody>
      </p:sp>
      <p:sp>
        <p:nvSpPr>
          <p:cNvPr id="27" name="notes-card-856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8" name="label-857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29" name="my-notes-858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859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ay-num-860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27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analytics and fix your hooks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your audience tell you what works.</a:t>
            </a:r>
            <a:endParaRPr lang="en-US" sz="1600" dirty="0"/>
          </a:p>
        </p:txBody>
      </p:sp>
      <p:sp>
        <p:nvSpPr>
          <p:cNvPr id="6" name="label-861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862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YouTube Studio &gt; Analytics &gt; Content &gt; Shorts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Check average view duration and the swipe-away rate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Find the second where viewers leave, and cut there next 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Rewrite your 3 weakest hooks</a:t>
            </a:r>
            <a:endParaRPr lang="en-US" sz="1500" dirty="0"/>
          </a:p>
        </p:txBody>
      </p:sp>
      <p:sp>
        <p:nvSpPr>
          <p:cNvPr id="8" name="tryit-card-863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864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865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Re-edit one Short with a stronger first 2 seconds.</a:t>
            </a:r>
            <a:endParaRPr lang="en-US" sz="1400" dirty="0"/>
          </a:p>
        </p:txBody>
      </p:sp>
      <p:sp>
        <p:nvSpPr>
          <p:cNvPr id="11" name="chip-866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867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868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869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870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871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—</a:t>
            </a:r>
            <a:endParaRPr lang="en-US" sz="1200" dirty="0"/>
          </a:p>
        </p:txBody>
      </p:sp>
      <p:sp>
        <p:nvSpPr>
          <p:cNvPr id="17" name="chip-872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873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874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—</a:t>
            </a:r>
            <a:endParaRPr lang="en-US" sz="1200" dirty="0"/>
          </a:p>
        </p:txBody>
      </p:sp>
      <p:sp>
        <p:nvSpPr>
          <p:cNvPr id="20" name="image-frame-875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sp>
        <p:nvSpPr>
          <p:cNvPr id="21" name="icon-circle-876"/>
          <p:cNvSpPr/>
          <p:nvPr/>
        </p:nvSpPr>
        <p:spPr>
          <a:xfrm>
            <a:off x="8595360" y="178308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con-87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2248" y="2029968"/>
            <a:ext cx="512064" cy="512064"/>
          </a:xfrm>
          <a:prstGeom prst="rect">
            <a:avLst/>
          </a:prstGeom>
        </p:spPr>
      </p:pic>
      <p:sp>
        <p:nvSpPr>
          <p:cNvPr id="23" name="icon-cap-878"/>
          <p:cNvSpPr txBox="1"/>
          <p:nvPr/>
        </p:nvSpPr>
        <p:spPr>
          <a:xfrm>
            <a:off x="6949440" y="2971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Let your audience tell you what works.</a:t>
            </a:r>
            <a:endParaRPr lang="en-US" sz="1500" dirty="0"/>
          </a:p>
        </p:txBody>
      </p:sp>
      <p:sp>
        <p:nvSpPr>
          <p:cNvPr id="24" name="watch-card-879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5" name="yt-icon-88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6" name="label-881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7" name="watch-links-882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Viewed to Swiped Away Ratio in YouTube Shorts (MUST KNOW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Viewed to Swiped Away Ratio in YouTube Shorts (MUST KNOW)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To Increase Swipe Rate In YouTube Shor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To Increase Swipe Rate In YouTube Shorts</a:t>
            </a:r>
            <a:endParaRPr lang="en-US" sz="1100" dirty="0"/>
          </a:p>
        </p:txBody>
      </p:sp>
      <p:sp>
        <p:nvSpPr>
          <p:cNvPr id="28" name="notes-card-883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9" name="label-884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30" name="my-notes-885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886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ay-num-887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28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challenge: Short in under 30 minutes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your workflow end to end.</a:t>
            </a:r>
            <a:endParaRPr lang="en-US" sz="1600" dirty="0"/>
          </a:p>
        </p:txBody>
      </p:sp>
      <p:sp>
        <p:nvSpPr>
          <p:cNvPr id="6" name="label-888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889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Start a timer before you film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Shoot, import, edit, caption and export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Upload with title, description and #Shorts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Write down which step was slowest</a:t>
            </a:r>
            <a:endParaRPr lang="en-US" sz="1500" dirty="0"/>
          </a:p>
        </p:txBody>
      </p:sp>
      <p:sp>
        <p:nvSpPr>
          <p:cNvPr id="8" name="tryit-card-890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891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892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Total time under 30 minutes. Note your time here.</a:t>
            </a:r>
            <a:endParaRPr lang="en-US" sz="1400" dirty="0"/>
          </a:p>
        </p:txBody>
      </p:sp>
      <p:sp>
        <p:nvSpPr>
          <p:cNvPr id="11" name="chip-893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894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895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896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897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898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Your fastest shortcuts</a:t>
            </a:r>
            <a:endParaRPr lang="en-US" sz="1200" dirty="0"/>
          </a:p>
        </p:txBody>
      </p:sp>
      <p:sp>
        <p:nvSpPr>
          <p:cNvPr id="17" name="chip-899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900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901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—</a:t>
            </a:r>
            <a:endParaRPr lang="en-US" sz="1200" dirty="0"/>
          </a:p>
        </p:txBody>
      </p:sp>
      <p:sp>
        <p:nvSpPr>
          <p:cNvPr id="20" name="image-frame-902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sp>
        <p:nvSpPr>
          <p:cNvPr id="21" name="icon-circle-903"/>
          <p:cNvSpPr/>
          <p:nvPr/>
        </p:nvSpPr>
        <p:spPr>
          <a:xfrm>
            <a:off x="8595360" y="178308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con-90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2248" y="2029968"/>
            <a:ext cx="512064" cy="512064"/>
          </a:xfrm>
          <a:prstGeom prst="rect">
            <a:avLst/>
          </a:prstGeom>
        </p:spPr>
      </p:pic>
      <p:sp>
        <p:nvSpPr>
          <p:cNvPr id="23" name="icon-cap-905"/>
          <p:cNvSpPr txBox="1"/>
          <p:nvPr/>
        </p:nvSpPr>
        <p:spPr>
          <a:xfrm>
            <a:off x="6949440" y="2971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Prove your workflow end to end.</a:t>
            </a:r>
            <a:endParaRPr lang="en-US" sz="1500" dirty="0"/>
          </a:p>
        </p:txBody>
      </p:sp>
      <p:sp>
        <p:nvSpPr>
          <p:cNvPr id="24" name="watch-card-906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5" name="yt-icon-90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6" name="label-908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7" name="watch-links-909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Final Cut Pro Just Made It EASY To Edit YouTube Shor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Final Cut Pro Just Made It EASY To Edit YouTube Shorts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EDIT FASTER IN FINAL CUT PR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EDIT FASTER IN FINAL CUT PRO</a:t>
            </a:r>
            <a:endParaRPr lang="en-US" sz="1100" dirty="0"/>
          </a:p>
        </p:txBody>
      </p:sp>
      <p:sp>
        <p:nvSpPr>
          <p:cNvPr id="28" name="notes-card-910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9" name="label-911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30" name="my-notes-912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913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ay-num-914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29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best long video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every skill from the month in one video.</a:t>
            </a:r>
            <a:endParaRPr lang="en-US" sz="1600" dirty="0"/>
          </a:p>
        </p:txBody>
      </p:sp>
      <p:sp>
        <p:nvSpPr>
          <p:cNvPr id="6" name="label-915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916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Plan: hook, 3 main points, call to action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Multicam or B-roll, captions, chapters, colour look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Clean audio with a music bed and crossfades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Custom thumbnail made in Pixelmator Pro</a:t>
            </a:r>
            <a:endParaRPr lang="en-US" sz="1500" dirty="0"/>
          </a:p>
        </p:txBody>
      </p:sp>
      <p:sp>
        <p:nvSpPr>
          <p:cNvPr id="8" name="tryit-card-917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918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919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Publish the video you’re proudest of.</a:t>
            </a:r>
            <a:endParaRPr lang="en-US" sz="1400" dirty="0"/>
          </a:p>
        </p:txBody>
      </p:sp>
      <p:sp>
        <p:nvSpPr>
          <p:cNvPr id="11" name="chip-920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921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922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Long video</a:t>
            </a:r>
            <a:endParaRPr lang="en-US" sz="1200" dirty="0"/>
          </a:p>
        </p:txBody>
      </p:sp>
      <p:sp>
        <p:nvSpPr>
          <p:cNvPr id="14" name="chip-923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924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925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All of them</a:t>
            </a:r>
            <a:endParaRPr lang="en-US" sz="1200" dirty="0"/>
          </a:p>
        </p:txBody>
      </p:sp>
      <p:sp>
        <p:nvSpPr>
          <p:cNvPr id="17" name="chip-926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927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928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Whole guide</a:t>
            </a:r>
            <a:endParaRPr lang="en-US" sz="1200" dirty="0"/>
          </a:p>
        </p:txBody>
      </p:sp>
      <p:sp>
        <p:nvSpPr>
          <p:cNvPr id="20" name="image-frame-929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sp>
        <p:nvSpPr>
          <p:cNvPr id="21" name="icon-circle-930"/>
          <p:cNvSpPr/>
          <p:nvPr/>
        </p:nvSpPr>
        <p:spPr>
          <a:xfrm>
            <a:off x="8595360" y="178308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con-93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2248" y="2029968"/>
            <a:ext cx="512064" cy="512064"/>
          </a:xfrm>
          <a:prstGeom prst="rect">
            <a:avLst/>
          </a:prstGeom>
        </p:spPr>
      </p:pic>
      <p:sp>
        <p:nvSpPr>
          <p:cNvPr id="23" name="icon-cap-932"/>
          <p:cNvSpPr txBox="1"/>
          <p:nvPr/>
        </p:nvSpPr>
        <p:spPr>
          <a:xfrm>
            <a:off x="6949440" y="2971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Use every skill from the month in one video.</a:t>
            </a:r>
            <a:endParaRPr lang="en-US" sz="1500" dirty="0"/>
          </a:p>
        </p:txBody>
      </p:sp>
      <p:sp>
        <p:nvSpPr>
          <p:cNvPr id="24" name="watch-card-933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5" name="yt-icon-93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6" name="label-935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7" name="watch-links-936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My Final Cut Pro Video Editing Workflow from Start to Finish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My Final Cut Pro Video Editing Workflow from Start to Finish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How I Edit YouTube Videos (Final Cut Pro Tips &amp; Tricks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How I Edit YouTube Videos (Final Cut Pro Tips &amp; Tricks)</a:t>
            </a:r>
            <a:endParaRPr lang="en-US" sz="1100" dirty="0"/>
          </a:p>
        </p:txBody>
      </p:sp>
      <p:sp>
        <p:nvSpPr>
          <p:cNvPr id="28" name="notes-card-937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9" name="label-938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30" name="my-notes-939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y-badge-94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" name="day-num-941"/>
          <p:cNvSpPr txBox="1"/>
          <p:nvPr/>
        </p:nvSpPr>
        <p:spPr>
          <a:xfrm>
            <a:off x="548640" y="365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1"/>
                </a:solidFill>
              </a:rPr>
              <a:t>DAY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30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60020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plan the next month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600200" y="914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back, then make a plan to keep going.</a:t>
            </a:r>
            <a:endParaRPr lang="en-US" sz="1600" dirty="0"/>
          </a:p>
        </p:txBody>
      </p:sp>
      <p:sp>
        <p:nvSpPr>
          <p:cNvPr id="6" name="label-942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LEARN: STEP BY STEP</a:t>
            </a:r>
            <a:endParaRPr lang="en-US" sz="1100" dirty="0"/>
          </a:p>
        </p:txBody>
      </p:sp>
      <p:sp>
        <p:nvSpPr>
          <p:cNvPr id="7" name="list-943"/>
          <p:cNvSpPr txBox="1"/>
          <p:nvPr/>
        </p:nvSpPr>
        <p:spPr>
          <a:xfrm>
            <a:off x="548640" y="1920240"/>
            <a:ext cx="5760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Watch your Day 1 and Day 29 videos one after the other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Update your template with what you’ve learned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Plan next month’s content calendar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Decide whether to keep Apple Creator Studio (p. 18)</a:t>
            </a:r>
            <a:endParaRPr lang="en-US" sz="1500" dirty="0"/>
          </a:p>
        </p:txBody>
      </p:sp>
      <p:sp>
        <p:nvSpPr>
          <p:cNvPr id="8" name="tryit-card-944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9" name="label-945"/>
          <p:cNvSpPr txBox="1"/>
          <p:nvPr/>
        </p:nvSpPr>
        <p:spPr>
          <a:xfrm>
            <a:off x="7772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TRY IT</a:t>
            </a:r>
            <a:endParaRPr lang="en-US" sz="1100" dirty="0"/>
          </a:p>
        </p:txBody>
      </p:sp>
      <p:sp>
        <p:nvSpPr>
          <p:cNvPr id="10" name="tryit-946"/>
          <p:cNvSpPr txBox="1"/>
          <p:nvPr/>
        </p:nvSpPr>
        <p:spPr>
          <a:xfrm>
            <a:off x="777240" y="459028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Write your top 5 lessons from this month in the notes box.</a:t>
            </a:r>
            <a:endParaRPr lang="en-US" sz="1400" dirty="0"/>
          </a:p>
        </p:txBody>
      </p:sp>
      <p:sp>
        <p:nvSpPr>
          <p:cNvPr id="11" name="chip-947"/>
          <p:cNvSpPr/>
          <p:nvPr/>
        </p:nvSpPr>
        <p:spPr>
          <a:xfrm>
            <a:off x="54864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chip-h-948"/>
          <p:cNvSpPr txBox="1"/>
          <p:nvPr/>
        </p:nvSpPr>
        <p:spPr>
          <a:xfrm>
            <a:off x="71323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3"/>
                </a:solidFill>
              </a:rPr>
              <a:t>PUBLISH TODAY</a:t>
            </a:r>
            <a:endParaRPr lang="en-US" sz="1000" dirty="0"/>
          </a:p>
        </p:txBody>
      </p:sp>
      <p:sp>
        <p:nvSpPr>
          <p:cNvPr id="13" name="chip-v-949"/>
          <p:cNvSpPr txBox="1"/>
          <p:nvPr/>
        </p:nvSpPr>
        <p:spPr>
          <a:xfrm>
            <a:off x="71323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Short</a:t>
            </a:r>
            <a:endParaRPr lang="en-US" sz="1200" dirty="0"/>
          </a:p>
        </p:txBody>
      </p:sp>
      <p:sp>
        <p:nvSpPr>
          <p:cNvPr id="14" name="chip-950"/>
          <p:cNvSpPr/>
          <p:nvPr/>
        </p:nvSpPr>
        <p:spPr>
          <a:xfrm>
            <a:off x="251460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5" name="chip-h-951"/>
          <p:cNvSpPr txBox="1"/>
          <p:nvPr/>
        </p:nvSpPr>
        <p:spPr>
          <a:xfrm>
            <a:off x="267919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KEY SHORTCUTS</a:t>
            </a:r>
            <a:endParaRPr lang="en-US" sz="1000" dirty="0"/>
          </a:p>
        </p:txBody>
      </p:sp>
      <p:sp>
        <p:nvSpPr>
          <p:cNvPr id="16" name="chip-v-952"/>
          <p:cNvSpPr txBox="1"/>
          <p:nvPr/>
        </p:nvSpPr>
        <p:spPr>
          <a:xfrm>
            <a:off x="267919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—</a:t>
            </a:r>
            <a:endParaRPr lang="en-US" sz="1200" dirty="0"/>
          </a:p>
        </p:txBody>
      </p:sp>
      <p:sp>
        <p:nvSpPr>
          <p:cNvPr id="17" name="chip-953"/>
          <p:cNvSpPr/>
          <p:nvPr/>
        </p:nvSpPr>
        <p:spPr>
          <a:xfrm>
            <a:off x="4480560" y="5257800"/>
            <a:ext cx="182880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chip-h-954"/>
          <p:cNvSpPr txBox="1"/>
          <p:nvPr/>
        </p:nvSpPr>
        <p:spPr>
          <a:xfrm>
            <a:off x="4645152" y="53492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MANUAL PAGES</a:t>
            </a:r>
            <a:endParaRPr lang="en-US" sz="1000" dirty="0"/>
          </a:p>
        </p:txBody>
      </p:sp>
      <p:sp>
        <p:nvSpPr>
          <p:cNvPr id="19" name="chip-v-955"/>
          <p:cNvSpPr txBox="1"/>
          <p:nvPr/>
        </p:nvSpPr>
        <p:spPr>
          <a:xfrm>
            <a:off x="4645152" y="5596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p. 16–18</a:t>
            </a:r>
            <a:endParaRPr lang="en-US" sz="1200" dirty="0"/>
          </a:p>
        </p:txBody>
      </p:sp>
      <p:sp>
        <p:nvSpPr>
          <p:cNvPr id="20" name="image-frame-956"/>
          <p:cNvSpPr/>
          <p:nvPr/>
        </p:nvSpPr>
        <p:spPr>
          <a:xfrm>
            <a:off x="6583680" y="1600200"/>
            <a:ext cx="5029200" cy="242316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sp>
        <p:nvSpPr>
          <p:cNvPr id="21" name="icon-circle-957"/>
          <p:cNvSpPr/>
          <p:nvPr/>
        </p:nvSpPr>
        <p:spPr>
          <a:xfrm>
            <a:off x="8595360" y="178308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2" name="icon-95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2248" y="2029968"/>
            <a:ext cx="512064" cy="512064"/>
          </a:xfrm>
          <a:prstGeom prst="rect">
            <a:avLst/>
          </a:prstGeom>
        </p:spPr>
      </p:pic>
      <p:sp>
        <p:nvSpPr>
          <p:cNvPr id="23" name="icon-cap-959"/>
          <p:cNvSpPr txBox="1"/>
          <p:nvPr/>
        </p:nvSpPr>
        <p:spPr>
          <a:xfrm>
            <a:off x="6949440" y="2971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Look back, then make a plan to keep going.</a:t>
            </a:r>
            <a:endParaRPr lang="en-US" sz="1500" dirty="0"/>
          </a:p>
        </p:txBody>
      </p:sp>
      <p:sp>
        <p:nvSpPr>
          <p:cNvPr id="24" name="watch-card-960"/>
          <p:cNvSpPr/>
          <p:nvPr/>
        </p:nvSpPr>
        <p:spPr>
          <a:xfrm>
            <a:off x="6583680" y="4114800"/>
            <a:ext cx="50292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pic>
        <p:nvPicPr>
          <p:cNvPr id="25" name="yt-icon-9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4206240"/>
            <a:ext cx="201168" cy="201168"/>
          </a:xfrm>
          <a:prstGeom prst="rect">
            <a:avLst/>
          </a:prstGeom>
        </p:spPr>
      </p:pic>
      <p:sp>
        <p:nvSpPr>
          <p:cNvPr id="26" name="label-962"/>
          <p:cNvSpPr txBox="1"/>
          <p:nvPr/>
        </p:nvSpPr>
        <p:spPr>
          <a:xfrm>
            <a:off x="7059168" y="4178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WATCH ON YOUTUBE</a:t>
            </a:r>
            <a:endParaRPr lang="en-US" sz="1100" dirty="0"/>
          </a:p>
        </p:txBody>
      </p:sp>
      <p:sp>
        <p:nvSpPr>
          <p:cNvPr id="27" name="watch-links-963"/>
          <p:cNvSpPr txBox="1"/>
          <p:nvPr/>
        </p:nvSpPr>
        <p:spPr>
          <a:xfrm>
            <a:off x="6784848" y="44439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chemeClr val="accent5"/>
                </a:solidFill>
                <a:hlinkClick r:id="rId3" invalidUrl="" action="" tgtFrame="" tooltip="Build a YouTube Content Calendar That Actually Work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Build a YouTube Content Calendar That Actually Works</a:t>
            </a:r>
            <a:endParaRPr lang="en-US" sz="1100" dirty="0"/>
          </a:p>
          <a:p>
            <a:pPr indent="0" marL="0">
              <a:buNone/>
            </a:pPr>
            <a:r>
              <a:rPr lang="en-US" sz="1100" u="sng" dirty="0">
                <a:solidFill>
                  <a:schemeClr val="bg2"/>
                </a:solidFill>
                <a:hlinkClick r:id="rId4" invalidUrl="" action="" tgtFrame="" tooltip="YouTube Creators: Optimize &amp; Evolve Your Content (official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＋ YouTube Creators: Optimize &amp; Evolve Your Content (official)</a:t>
            </a:r>
            <a:endParaRPr lang="en-US" sz="1100" dirty="0"/>
          </a:p>
        </p:txBody>
      </p:sp>
      <p:sp>
        <p:nvSpPr>
          <p:cNvPr id="28" name="notes-card-964"/>
          <p:cNvSpPr/>
          <p:nvPr/>
        </p:nvSpPr>
        <p:spPr>
          <a:xfrm>
            <a:off x="6583680" y="4983480"/>
            <a:ext cx="50292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9" name="label-965"/>
          <p:cNvSpPr txBox="1"/>
          <p:nvPr/>
        </p:nvSpPr>
        <p:spPr>
          <a:xfrm>
            <a:off x="6812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MY NOTES</a:t>
            </a:r>
            <a:endParaRPr lang="en-US" sz="1100" dirty="0"/>
          </a:p>
        </p:txBody>
      </p:sp>
      <p:sp>
        <p:nvSpPr>
          <p:cNvPr id="30" name="my-notes-966"/>
          <p:cNvSpPr txBox="1"/>
          <p:nvPr/>
        </p:nvSpPr>
        <p:spPr>
          <a:xfrm>
            <a:off x="6812280" y="53492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Click here and type what you learned today…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967"/>
          <p:cNvSpPr txBox="1"/>
          <p:nvPr/>
        </p:nvSpPr>
        <p:spPr>
          <a:xfrm>
            <a:off x="548640" y="1737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4"/>
                </a:solidFill>
              </a:rPr>
              <a:t>REFERENCE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317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4400" dirty="0"/>
          </a:p>
        </p:txBody>
      </p:sp>
      <p:sp>
        <p:nvSpPr>
          <p:cNvPr id="4" name="goal-968"/>
          <p:cNvSpPr txBox="1"/>
          <p:nvPr/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Daily workflow · export settings · shortcuts · feature finder · progress tracker. Come back here whenever you forget something.</a:t>
            </a:r>
            <a:endParaRPr lang="en-US" sz="1800" dirty="0"/>
          </a:p>
        </p:txBody>
      </p:sp>
      <p:pic>
        <p:nvPicPr>
          <p:cNvPr id="5" name="screenshot-969" descr="Screenshot from the Final Cut Pro User Guide, page 9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951232"/>
            <a:ext cx="3840480" cy="31384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daily 40-minute workflow</a:t>
            </a:r>
            <a:endParaRPr lang="en-US" sz="3400" dirty="0"/>
          </a:p>
        </p:txBody>
      </p:sp>
      <p:sp>
        <p:nvSpPr>
          <p:cNvPr id="3" name="card-970"/>
          <p:cNvSpPr/>
          <p:nvPr/>
        </p:nvSpPr>
        <p:spPr>
          <a:xfrm>
            <a:off x="548640" y="164592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4" name="badge-971"/>
          <p:cNvSpPr/>
          <p:nvPr/>
        </p:nvSpPr>
        <p:spPr>
          <a:xfrm>
            <a:off x="105156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um-972"/>
          <p:cNvSpPr txBox="1"/>
          <p:nvPr/>
        </p:nvSpPr>
        <p:spPr>
          <a:xfrm>
            <a:off x="10515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h-973"/>
          <p:cNvSpPr txBox="1"/>
          <p:nvPr/>
        </p:nvSpPr>
        <p:spPr>
          <a:xfrm>
            <a:off x="685800" y="2743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Shoot</a:t>
            </a:r>
            <a:endParaRPr lang="en-US" sz="1900" dirty="0"/>
          </a:p>
        </p:txBody>
      </p:sp>
      <p:sp>
        <p:nvSpPr>
          <p:cNvPr id="7" name="t-974"/>
          <p:cNvSpPr txBox="1"/>
          <p:nvPr/>
        </p:nvSpPr>
        <p:spPr>
          <a:xfrm>
            <a:off x="685800" y="3154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 min</a:t>
            </a:r>
            <a:endParaRPr lang="en-US" sz="1400" dirty="0"/>
          </a:p>
        </p:txBody>
      </p:sp>
      <p:sp>
        <p:nvSpPr>
          <p:cNvPr id="8" name="b-975"/>
          <p:cNvSpPr txBox="1"/>
          <p:nvPr/>
        </p:nvSpPr>
        <p:spPr>
          <a:xfrm>
            <a:off x="685800" y="35661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Phone, vertical, good light, clip-on mic</a:t>
            </a:r>
            <a:endParaRPr lang="en-US" sz="1300" dirty="0"/>
          </a:p>
        </p:txBody>
      </p:sp>
      <p:sp>
        <p:nvSpPr>
          <p:cNvPr id="9" name="card-976"/>
          <p:cNvSpPr/>
          <p:nvPr/>
        </p:nvSpPr>
        <p:spPr>
          <a:xfrm>
            <a:off x="2423160" y="164592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10" name="badge-977"/>
          <p:cNvSpPr/>
          <p:nvPr/>
        </p:nvSpPr>
        <p:spPr>
          <a:xfrm>
            <a:off x="2926080" y="18745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num-978"/>
          <p:cNvSpPr txBox="1"/>
          <p:nvPr/>
        </p:nvSpPr>
        <p:spPr>
          <a:xfrm>
            <a:off x="292608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h-979"/>
          <p:cNvSpPr txBox="1"/>
          <p:nvPr/>
        </p:nvSpPr>
        <p:spPr>
          <a:xfrm>
            <a:off x="2560320" y="2743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Import</a:t>
            </a:r>
            <a:endParaRPr lang="en-US" sz="1900" dirty="0"/>
          </a:p>
        </p:txBody>
      </p:sp>
      <p:sp>
        <p:nvSpPr>
          <p:cNvPr id="13" name="t-980"/>
          <p:cNvSpPr txBox="1"/>
          <p:nvPr/>
        </p:nvSpPr>
        <p:spPr>
          <a:xfrm>
            <a:off x="2560320" y="3154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 min</a:t>
            </a:r>
            <a:endParaRPr lang="en-US" sz="1400" dirty="0"/>
          </a:p>
        </p:txBody>
      </p:sp>
      <p:sp>
        <p:nvSpPr>
          <p:cNvPr id="14" name="b-981"/>
          <p:cNvSpPr txBox="1"/>
          <p:nvPr/>
        </p:nvSpPr>
        <p:spPr>
          <a:xfrm>
            <a:off x="2560320" y="35661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AirDrop to Mac &gt; FCP &gt; keyword the clips</a:t>
            </a:r>
            <a:endParaRPr lang="en-US" sz="1300" dirty="0"/>
          </a:p>
        </p:txBody>
      </p:sp>
      <p:sp>
        <p:nvSpPr>
          <p:cNvPr id="15" name="card-982"/>
          <p:cNvSpPr/>
          <p:nvPr/>
        </p:nvSpPr>
        <p:spPr>
          <a:xfrm>
            <a:off x="4297680" y="164592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16" name="badge-983"/>
          <p:cNvSpPr/>
          <p:nvPr/>
        </p:nvSpPr>
        <p:spPr>
          <a:xfrm>
            <a:off x="4800600" y="18745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num-984"/>
          <p:cNvSpPr txBox="1"/>
          <p:nvPr/>
        </p:nvSpPr>
        <p:spPr>
          <a:xfrm>
            <a:off x="480060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h-985"/>
          <p:cNvSpPr txBox="1"/>
          <p:nvPr/>
        </p:nvSpPr>
        <p:spPr>
          <a:xfrm>
            <a:off x="4434840" y="2743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Edit</a:t>
            </a:r>
            <a:endParaRPr lang="en-US" sz="1900" dirty="0"/>
          </a:p>
        </p:txBody>
      </p:sp>
      <p:sp>
        <p:nvSpPr>
          <p:cNvPr id="19" name="t-986"/>
          <p:cNvSpPr txBox="1"/>
          <p:nvPr/>
        </p:nvSpPr>
        <p:spPr>
          <a:xfrm>
            <a:off x="4434840" y="3154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15 min</a:t>
            </a:r>
            <a:endParaRPr lang="en-US" sz="1400" dirty="0"/>
          </a:p>
        </p:txBody>
      </p:sp>
      <p:sp>
        <p:nvSpPr>
          <p:cNvPr id="20" name="b-987"/>
          <p:cNvSpPr txBox="1"/>
          <p:nvPr/>
        </p:nvSpPr>
        <p:spPr>
          <a:xfrm>
            <a:off x="4434840" y="35661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Duplicate template, cut, Generate Captions, music</a:t>
            </a:r>
            <a:endParaRPr lang="en-US" sz="1300" dirty="0"/>
          </a:p>
        </p:txBody>
      </p:sp>
      <p:sp>
        <p:nvSpPr>
          <p:cNvPr id="21" name="card-988"/>
          <p:cNvSpPr/>
          <p:nvPr/>
        </p:nvSpPr>
        <p:spPr>
          <a:xfrm>
            <a:off x="6172200" y="164592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22" name="badge-989"/>
          <p:cNvSpPr/>
          <p:nvPr/>
        </p:nvSpPr>
        <p:spPr>
          <a:xfrm>
            <a:off x="6675120" y="18745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3" name="num-990"/>
          <p:cNvSpPr txBox="1"/>
          <p:nvPr/>
        </p:nvSpPr>
        <p:spPr>
          <a:xfrm>
            <a:off x="667512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24" name="h-991"/>
          <p:cNvSpPr txBox="1"/>
          <p:nvPr/>
        </p:nvSpPr>
        <p:spPr>
          <a:xfrm>
            <a:off x="6309360" y="2743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Polish</a:t>
            </a:r>
            <a:endParaRPr lang="en-US" sz="1900" dirty="0"/>
          </a:p>
        </p:txBody>
      </p:sp>
      <p:sp>
        <p:nvSpPr>
          <p:cNvPr id="25" name="t-992"/>
          <p:cNvSpPr txBox="1"/>
          <p:nvPr/>
        </p:nvSpPr>
        <p:spPr>
          <a:xfrm>
            <a:off x="6309360" y="3154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5 min</a:t>
            </a:r>
            <a:endParaRPr lang="en-US" sz="1400" dirty="0"/>
          </a:p>
        </p:txBody>
      </p:sp>
      <p:sp>
        <p:nvSpPr>
          <p:cNvPr id="26" name="b-993"/>
          <p:cNvSpPr txBox="1"/>
          <p:nvPr/>
        </p:nvSpPr>
        <p:spPr>
          <a:xfrm>
            <a:off x="6309360" y="35661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Enhance Light and Color, Voice Isolation, hook title</a:t>
            </a:r>
            <a:endParaRPr lang="en-US" sz="1300" dirty="0"/>
          </a:p>
        </p:txBody>
      </p:sp>
      <p:sp>
        <p:nvSpPr>
          <p:cNvPr id="27" name="card-994"/>
          <p:cNvSpPr/>
          <p:nvPr/>
        </p:nvSpPr>
        <p:spPr>
          <a:xfrm>
            <a:off x="8046720" y="164592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28" name="badge-995"/>
          <p:cNvSpPr/>
          <p:nvPr/>
        </p:nvSpPr>
        <p:spPr>
          <a:xfrm>
            <a:off x="8549640" y="187452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9" name="num-996"/>
          <p:cNvSpPr txBox="1"/>
          <p:nvPr/>
        </p:nvSpPr>
        <p:spPr>
          <a:xfrm>
            <a:off x="854964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</a:t>
            </a:r>
            <a:endParaRPr lang="en-US" sz="2400" dirty="0"/>
          </a:p>
        </p:txBody>
      </p:sp>
      <p:sp>
        <p:nvSpPr>
          <p:cNvPr id="30" name="h-997"/>
          <p:cNvSpPr txBox="1"/>
          <p:nvPr/>
        </p:nvSpPr>
        <p:spPr>
          <a:xfrm>
            <a:off x="8183880" y="2743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Export</a:t>
            </a:r>
            <a:endParaRPr lang="en-US" sz="1900" dirty="0"/>
          </a:p>
        </p:txBody>
      </p:sp>
      <p:sp>
        <p:nvSpPr>
          <p:cNvPr id="31" name="t-998"/>
          <p:cNvSpPr txBox="1"/>
          <p:nvPr/>
        </p:nvSpPr>
        <p:spPr>
          <a:xfrm>
            <a:off x="8183880" y="3154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3 min</a:t>
            </a:r>
            <a:endParaRPr lang="en-US" sz="1400" dirty="0"/>
          </a:p>
        </p:txBody>
      </p:sp>
      <p:sp>
        <p:nvSpPr>
          <p:cNvPr id="32" name="b-999"/>
          <p:cNvSpPr txBox="1"/>
          <p:nvPr/>
        </p:nvSpPr>
        <p:spPr>
          <a:xfrm>
            <a:off x="8183880" y="35661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Share &gt; Social Platforms, captions burned in</a:t>
            </a:r>
            <a:endParaRPr lang="en-US" sz="1300" dirty="0"/>
          </a:p>
        </p:txBody>
      </p:sp>
      <p:sp>
        <p:nvSpPr>
          <p:cNvPr id="33" name="card-1000"/>
          <p:cNvSpPr/>
          <p:nvPr/>
        </p:nvSpPr>
        <p:spPr>
          <a:xfrm>
            <a:off x="9921240" y="164592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34" name="badge-1001"/>
          <p:cNvSpPr/>
          <p:nvPr/>
        </p:nvSpPr>
        <p:spPr>
          <a:xfrm>
            <a:off x="10424160" y="187452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5" name="num-1002"/>
          <p:cNvSpPr txBox="1"/>
          <p:nvPr/>
        </p:nvSpPr>
        <p:spPr>
          <a:xfrm>
            <a:off x="104241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6</a:t>
            </a:r>
            <a:endParaRPr lang="en-US" sz="2400" dirty="0"/>
          </a:p>
        </p:txBody>
      </p:sp>
      <p:sp>
        <p:nvSpPr>
          <p:cNvPr id="36" name="h-1003"/>
          <p:cNvSpPr txBox="1"/>
          <p:nvPr/>
        </p:nvSpPr>
        <p:spPr>
          <a:xfrm>
            <a:off x="10058400" y="2743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Upload</a:t>
            </a:r>
            <a:endParaRPr lang="en-US" sz="1900" dirty="0"/>
          </a:p>
        </p:txBody>
      </p:sp>
      <p:sp>
        <p:nvSpPr>
          <p:cNvPr id="37" name="t-1004"/>
          <p:cNvSpPr txBox="1"/>
          <p:nvPr/>
        </p:nvSpPr>
        <p:spPr>
          <a:xfrm>
            <a:off x="10058400" y="3154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5 min</a:t>
            </a:r>
            <a:endParaRPr lang="en-US" sz="1400" dirty="0"/>
          </a:p>
        </p:txBody>
      </p:sp>
      <p:sp>
        <p:nvSpPr>
          <p:cNvPr id="38" name="b-1005"/>
          <p:cNvSpPr txBox="1"/>
          <p:nvPr/>
        </p:nvSpPr>
        <p:spPr>
          <a:xfrm>
            <a:off x="10058400" y="35661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YouTube Studio: title, #Shorts, schedule</a:t>
            </a:r>
            <a:endParaRPr lang="en-US" sz="1300" dirty="0"/>
          </a:p>
        </p:txBody>
      </p:sp>
      <p:sp>
        <p:nvSpPr>
          <p:cNvPr id="39" name="card-1006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pic>
        <p:nvPicPr>
          <p:cNvPr id="40" name="icon-100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13248"/>
            <a:ext cx="457200" cy="457200"/>
          </a:xfrm>
          <a:prstGeom prst="rect">
            <a:avLst/>
          </a:prstGeom>
        </p:spPr>
      </p:pic>
      <p:sp>
        <p:nvSpPr>
          <p:cNvPr id="41" name="b-1008"/>
          <p:cNvSpPr txBox="1"/>
          <p:nvPr/>
        </p:nvSpPr>
        <p:spPr>
          <a:xfrm>
            <a:off x="1463040" y="53035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Batch it: film 5 Shorts in one session (Day 22), edit a few at a time, and schedule them. You don’t have to make each one on the day it goes out.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settings cheat sheet</a:t>
            </a:r>
            <a:endParaRPr lang="en-US" sz="3400" dirty="0"/>
          </a:p>
        </p:txBody>
      </p:sp>
      <p:graphicFrame>
        <p:nvGraphicFramePr>
          <p:cNvPr id="45" name="table-10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Setting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YouTube Short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Long video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Project format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Vertical 1080×1920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1920×1080 (HD) or 3840×2160 (4K)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Frame rate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Same as your footage (usually 30 fps)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Same as your footage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Length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Up to 3 minutes; 15–60 sec works best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Any length (over 15 min needs a verified account)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FCP destination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Share &gt; Social Platforms (p. 894)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Social Platforms, or Export File for a master copy (p. 810)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Captions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Burn in captions (always visible)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Export as a separate caption file, or burn in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Compression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Single-pass (faster)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Multi-pass (better quality)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Speed tip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Allow export segmentation (p. 848)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Allow export segmentation; batch share (p. 833)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 YouTube Studio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Add #Shorts, hook in the title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Chapters from markers, custom thumbnail, end screen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Shortcuts: editing</a:t>
            </a:r>
            <a:endParaRPr lang="en-US" sz="3400" dirty="0"/>
          </a:p>
        </p:txBody>
      </p:sp>
      <p:graphicFrame>
        <p:nvGraphicFramePr>
          <p:cNvPr id="46" name="table-10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03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Keys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What it does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Space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Play or pause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J / K / L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Reverse / stop / forward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I / 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Set range start / end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Select the whole clip range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Append to the end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W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Insert at playhead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Connect above storyline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Overwrite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-10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03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Keys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What it does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Cmd+B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Cut at playhead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Opt+[ / Opt+]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Trim start / end to playhead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A / B / 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Select / Blade / Trim tool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P / 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Position / Range tool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Snapping on or off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V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Enable or disable a clip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Shift+Z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Fit timeline to window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Cmd+Z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Undo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Shortcuts: audio, titles, colour, speed, export</a:t>
            </a:r>
            <a:endParaRPr lang="en-US" sz="3400" dirty="0"/>
          </a:p>
        </p:txBody>
      </p:sp>
      <p:graphicFrame>
        <p:nvGraphicFramePr>
          <p:cNvPr id="47" name="table-10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03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Keys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What it does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Opt+Cmd+A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Enhance Audio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Shift+Cmd+M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Match audio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Ctrl+S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Expand audio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Opt+S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Solo clip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Ctrl+T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Add basic title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Ctrl+Shift+T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Add lower third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Shift+Cmd+S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Generate captions (subtitles)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Cmd+T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Default transition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-10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703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Keys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What it does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Ctrl+Opt+Cmd+O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Enhance Light and Color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Opt+Cmd+M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Match colour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Cmd+7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Video scopes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Cmd+R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Retime editor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Shift+H / Opt+F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Hold / freeze frame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Add marker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Opt+G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New compound clip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Cmd+E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Share to default destination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finder: where is it in the manual?</a:t>
            </a:r>
            <a:endParaRPr lang="en-US" sz="3400" dirty="0"/>
          </a:p>
        </p:txBody>
      </p:sp>
      <p:graphicFrame>
        <p:nvGraphicFramePr>
          <p:cNvPr id="48" name="table-10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5661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Page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Interface and magnetic timeline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9–15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Import media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21–38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Organise (keywords, favourites)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89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New / vertical project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120–127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Add clips (E, W, Q, D)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136–155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Trim and cut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168–187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Markers and chapters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205–209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Edit to the beat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210–214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Stabilise shaky video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216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Audio basics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220–251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Voice Isolation / Enhance Audio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276–278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table-10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371600"/>
          <a:ext cx="35661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Page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Titles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287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Captions / Generate Captions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355, 385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Transitions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389–400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Transform, crop, Ken Burns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401–403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Smart Conform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404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Keyframe animation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467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Roles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478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Compound clips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504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Multicam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513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Retime / speed ramps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558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Green screen keying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623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2" name="table-10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371600"/>
          <a:ext cx="35661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Page</a:t>
                      </a:r>
                      <a:endParaRPr lang="en-US" sz="15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Masks / Magnetic Mask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642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Object tracking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693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Colour correction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708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Enhance Light and Color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746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LUTs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783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Video scopes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791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Social Platforms export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894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Thumbnails (Pixelmator Pro)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828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Proxies and media management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850–862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Keyboard shortcuts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897</a:t>
                      </a:r>
                      <a:endParaRPr lang="en-US" sz="1200" dirty="0"/>
                    </a:p>
                  </a:txBody>
                  <a:tcPr marL="91440" marR="91440" marT="27432" marB="27432" anchor="ctr">
                    <a:lnL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416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progress tracker</a:t>
            </a:r>
            <a:endParaRPr lang="en-US" sz="3400" dirty="0"/>
          </a:p>
        </p:txBody>
      </p:sp>
      <p:sp>
        <p:nvSpPr>
          <p:cNvPr id="3" name="sub-1017"/>
          <p:cNvSpPr txBox="1"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Type ✓ in a box when you’ve published that day.</a:t>
            </a:r>
            <a:endParaRPr lang="en-US" sz="1400" dirty="0"/>
          </a:p>
        </p:txBody>
      </p:sp>
      <p:sp>
        <p:nvSpPr>
          <p:cNvPr id="4" name="tracker-card-1018"/>
          <p:cNvSpPr/>
          <p:nvPr/>
        </p:nvSpPr>
        <p:spPr>
          <a:xfrm>
            <a:off x="548640" y="164592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5" name="tnum-1019"/>
          <p:cNvSpPr txBox="1"/>
          <p:nvPr/>
        </p:nvSpPr>
        <p:spPr>
          <a:xfrm>
            <a:off x="640080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checkbox-1020"/>
          <p:cNvSpPr/>
          <p:nvPr/>
        </p:nvSpPr>
        <p:spPr>
          <a:xfrm>
            <a:off x="822960" y="21945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check-text-1021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8" name="tracker-card-1022"/>
          <p:cNvSpPr/>
          <p:nvPr/>
        </p:nvSpPr>
        <p:spPr>
          <a:xfrm>
            <a:off x="1659636" y="164592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9" name="tnum-1023"/>
          <p:cNvSpPr txBox="1"/>
          <p:nvPr/>
        </p:nvSpPr>
        <p:spPr>
          <a:xfrm>
            <a:off x="1751076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checkbox-1024"/>
          <p:cNvSpPr/>
          <p:nvPr/>
        </p:nvSpPr>
        <p:spPr>
          <a:xfrm>
            <a:off x="1933956" y="21945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check-text-1025"/>
          <p:cNvSpPr txBox="1"/>
          <p:nvPr/>
        </p:nvSpPr>
        <p:spPr>
          <a:xfrm>
            <a:off x="193395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2" name="tracker-card-1026"/>
          <p:cNvSpPr/>
          <p:nvPr/>
        </p:nvSpPr>
        <p:spPr>
          <a:xfrm>
            <a:off x="2770632" y="164592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3" name="tnum-1027"/>
          <p:cNvSpPr txBox="1"/>
          <p:nvPr/>
        </p:nvSpPr>
        <p:spPr>
          <a:xfrm>
            <a:off x="2862072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checkbox-1028"/>
          <p:cNvSpPr/>
          <p:nvPr/>
        </p:nvSpPr>
        <p:spPr>
          <a:xfrm>
            <a:off x="3044952" y="21945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check-text-1029"/>
          <p:cNvSpPr txBox="1"/>
          <p:nvPr/>
        </p:nvSpPr>
        <p:spPr>
          <a:xfrm>
            <a:off x="304495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6" name="tracker-card-1030"/>
          <p:cNvSpPr/>
          <p:nvPr/>
        </p:nvSpPr>
        <p:spPr>
          <a:xfrm>
            <a:off x="3881628" y="164592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7" name="tnum-1031"/>
          <p:cNvSpPr txBox="1"/>
          <p:nvPr/>
        </p:nvSpPr>
        <p:spPr>
          <a:xfrm>
            <a:off x="3973068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checkbox-1032"/>
          <p:cNvSpPr/>
          <p:nvPr/>
        </p:nvSpPr>
        <p:spPr>
          <a:xfrm>
            <a:off x="4155948" y="21945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check-text-1033"/>
          <p:cNvSpPr txBox="1"/>
          <p:nvPr/>
        </p:nvSpPr>
        <p:spPr>
          <a:xfrm>
            <a:off x="415594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0" name="tracker-card-1034"/>
          <p:cNvSpPr/>
          <p:nvPr/>
        </p:nvSpPr>
        <p:spPr>
          <a:xfrm>
            <a:off x="4992624" y="164592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21" name="tnum-1035"/>
          <p:cNvSpPr txBox="1"/>
          <p:nvPr/>
        </p:nvSpPr>
        <p:spPr>
          <a:xfrm>
            <a:off x="5084064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checkbox-1036"/>
          <p:cNvSpPr/>
          <p:nvPr/>
        </p:nvSpPr>
        <p:spPr>
          <a:xfrm>
            <a:off x="5266944" y="21945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check-text-1037"/>
          <p:cNvSpPr txBox="1"/>
          <p:nvPr/>
        </p:nvSpPr>
        <p:spPr>
          <a:xfrm>
            <a:off x="526694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4" name="tracker-card-1038"/>
          <p:cNvSpPr/>
          <p:nvPr/>
        </p:nvSpPr>
        <p:spPr>
          <a:xfrm>
            <a:off x="6103620" y="164592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25" name="tnum-1039"/>
          <p:cNvSpPr txBox="1"/>
          <p:nvPr/>
        </p:nvSpPr>
        <p:spPr>
          <a:xfrm>
            <a:off x="6195060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checkbox-1040"/>
          <p:cNvSpPr/>
          <p:nvPr/>
        </p:nvSpPr>
        <p:spPr>
          <a:xfrm>
            <a:off x="6377940" y="21945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7" name="check-text-1041"/>
          <p:cNvSpPr txBox="1"/>
          <p:nvPr/>
        </p:nvSpPr>
        <p:spPr>
          <a:xfrm>
            <a:off x="63779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8" name="tracker-card-1042"/>
          <p:cNvSpPr/>
          <p:nvPr/>
        </p:nvSpPr>
        <p:spPr>
          <a:xfrm>
            <a:off x="7214616" y="164592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29" name="tnum-1043"/>
          <p:cNvSpPr txBox="1"/>
          <p:nvPr/>
        </p:nvSpPr>
        <p:spPr>
          <a:xfrm>
            <a:off x="7306056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checkbox-1044"/>
          <p:cNvSpPr/>
          <p:nvPr/>
        </p:nvSpPr>
        <p:spPr>
          <a:xfrm>
            <a:off x="7488936" y="21945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1" name="check-text-1045"/>
          <p:cNvSpPr txBox="1"/>
          <p:nvPr/>
        </p:nvSpPr>
        <p:spPr>
          <a:xfrm>
            <a:off x="748893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32" name="tracker-card-1046"/>
          <p:cNvSpPr/>
          <p:nvPr/>
        </p:nvSpPr>
        <p:spPr>
          <a:xfrm>
            <a:off x="8325612" y="164592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33" name="tnum-1047"/>
          <p:cNvSpPr txBox="1"/>
          <p:nvPr/>
        </p:nvSpPr>
        <p:spPr>
          <a:xfrm>
            <a:off x="8417052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8</a:t>
            </a:r>
            <a:endParaRPr lang="en-US" sz="1800" dirty="0"/>
          </a:p>
        </p:txBody>
      </p:sp>
      <p:sp>
        <p:nvSpPr>
          <p:cNvPr id="34" name="checkbox-1048"/>
          <p:cNvSpPr/>
          <p:nvPr/>
        </p:nvSpPr>
        <p:spPr>
          <a:xfrm>
            <a:off x="8599932" y="21945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5" name="check-text-1049"/>
          <p:cNvSpPr txBox="1"/>
          <p:nvPr/>
        </p:nvSpPr>
        <p:spPr>
          <a:xfrm>
            <a:off x="859993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36" name="tracker-card-1050"/>
          <p:cNvSpPr/>
          <p:nvPr/>
        </p:nvSpPr>
        <p:spPr>
          <a:xfrm>
            <a:off x="9436608" y="164592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37" name="tnum-1051"/>
          <p:cNvSpPr txBox="1"/>
          <p:nvPr/>
        </p:nvSpPr>
        <p:spPr>
          <a:xfrm>
            <a:off x="9528048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9</a:t>
            </a:r>
            <a:endParaRPr lang="en-US" sz="1800" dirty="0"/>
          </a:p>
        </p:txBody>
      </p:sp>
      <p:sp>
        <p:nvSpPr>
          <p:cNvPr id="38" name="checkbox-1052"/>
          <p:cNvSpPr/>
          <p:nvPr/>
        </p:nvSpPr>
        <p:spPr>
          <a:xfrm>
            <a:off x="9710928" y="21945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9" name="check-text-1053"/>
          <p:cNvSpPr txBox="1"/>
          <p:nvPr/>
        </p:nvSpPr>
        <p:spPr>
          <a:xfrm>
            <a:off x="971092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40" name="tracker-card-1054"/>
          <p:cNvSpPr/>
          <p:nvPr/>
        </p:nvSpPr>
        <p:spPr>
          <a:xfrm>
            <a:off x="10547604" y="164592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41" name="tnum-1055"/>
          <p:cNvSpPr txBox="1"/>
          <p:nvPr/>
        </p:nvSpPr>
        <p:spPr>
          <a:xfrm>
            <a:off x="10639044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10</a:t>
            </a:r>
            <a:endParaRPr lang="en-US" sz="1800" dirty="0"/>
          </a:p>
        </p:txBody>
      </p:sp>
      <p:sp>
        <p:nvSpPr>
          <p:cNvPr id="42" name="checkbox-1056"/>
          <p:cNvSpPr/>
          <p:nvPr/>
        </p:nvSpPr>
        <p:spPr>
          <a:xfrm>
            <a:off x="10821924" y="21945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3" name="check-text-1057"/>
          <p:cNvSpPr txBox="1"/>
          <p:nvPr/>
        </p:nvSpPr>
        <p:spPr>
          <a:xfrm>
            <a:off x="1082192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44" name="tracker-card-1058"/>
          <p:cNvSpPr/>
          <p:nvPr/>
        </p:nvSpPr>
        <p:spPr>
          <a:xfrm>
            <a:off x="548640" y="315468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45" name="tnum-1059"/>
          <p:cNvSpPr txBox="1"/>
          <p:nvPr/>
        </p:nvSpPr>
        <p:spPr>
          <a:xfrm>
            <a:off x="640080" y="3227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11</a:t>
            </a:r>
            <a:endParaRPr lang="en-US" sz="1800" dirty="0"/>
          </a:p>
        </p:txBody>
      </p:sp>
      <p:sp>
        <p:nvSpPr>
          <p:cNvPr id="46" name="checkbox-1060"/>
          <p:cNvSpPr/>
          <p:nvPr/>
        </p:nvSpPr>
        <p:spPr>
          <a:xfrm>
            <a:off x="822960" y="37033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7" name="check-text-1061"/>
          <p:cNvSpPr txBox="1"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48" name="tracker-card-1062"/>
          <p:cNvSpPr/>
          <p:nvPr/>
        </p:nvSpPr>
        <p:spPr>
          <a:xfrm>
            <a:off x="1659636" y="315468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49" name="tnum-1063"/>
          <p:cNvSpPr txBox="1"/>
          <p:nvPr/>
        </p:nvSpPr>
        <p:spPr>
          <a:xfrm>
            <a:off x="1751076" y="3227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12</a:t>
            </a:r>
            <a:endParaRPr lang="en-US" sz="1800" dirty="0"/>
          </a:p>
        </p:txBody>
      </p:sp>
      <p:sp>
        <p:nvSpPr>
          <p:cNvPr id="50" name="checkbox-1064"/>
          <p:cNvSpPr/>
          <p:nvPr/>
        </p:nvSpPr>
        <p:spPr>
          <a:xfrm>
            <a:off x="1933956" y="37033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51" name="check-text-1065"/>
          <p:cNvSpPr txBox="1"/>
          <p:nvPr/>
        </p:nvSpPr>
        <p:spPr>
          <a:xfrm>
            <a:off x="1933956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52" name="tracker-card-1066"/>
          <p:cNvSpPr/>
          <p:nvPr/>
        </p:nvSpPr>
        <p:spPr>
          <a:xfrm>
            <a:off x="2770632" y="315468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53" name="tnum-1067"/>
          <p:cNvSpPr txBox="1"/>
          <p:nvPr/>
        </p:nvSpPr>
        <p:spPr>
          <a:xfrm>
            <a:off x="2862072" y="3227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13</a:t>
            </a:r>
            <a:endParaRPr lang="en-US" sz="1800" dirty="0"/>
          </a:p>
        </p:txBody>
      </p:sp>
      <p:sp>
        <p:nvSpPr>
          <p:cNvPr id="54" name="checkbox-1068"/>
          <p:cNvSpPr/>
          <p:nvPr/>
        </p:nvSpPr>
        <p:spPr>
          <a:xfrm>
            <a:off x="3044952" y="37033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55" name="check-text-1069"/>
          <p:cNvSpPr txBox="1"/>
          <p:nvPr/>
        </p:nvSpPr>
        <p:spPr>
          <a:xfrm>
            <a:off x="3044952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56" name="tracker-card-1070"/>
          <p:cNvSpPr/>
          <p:nvPr/>
        </p:nvSpPr>
        <p:spPr>
          <a:xfrm>
            <a:off x="3881628" y="315468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57" name="tnum-1071"/>
          <p:cNvSpPr txBox="1"/>
          <p:nvPr/>
        </p:nvSpPr>
        <p:spPr>
          <a:xfrm>
            <a:off x="3973068" y="3227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14</a:t>
            </a:r>
            <a:endParaRPr lang="en-US" sz="1800" dirty="0"/>
          </a:p>
        </p:txBody>
      </p:sp>
      <p:sp>
        <p:nvSpPr>
          <p:cNvPr id="58" name="checkbox-1072"/>
          <p:cNvSpPr/>
          <p:nvPr/>
        </p:nvSpPr>
        <p:spPr>
          <a:xfrm>
            <a:off x="4155948" y="37033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59" name="check-text-1073"/>
          <p:cNvSpPr txBox="1"/>
          <p:nvPr/>
        </p:nvSpPr>
        <p:spPr>
          <a:xfrm>
            <a:off x="415594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60" name="tracker-card-1074"/>
          <p:cNvSpPr/>
          <p:nvPr/>
        </p:nvSpPr>
        <p:spPr>
          <a:xfrm>
            <a:off x="4992624" y="315468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61" name="tnum-1075"/>
          <p:cNvSpPr txBox="1"/>
          <p:nvPr/>
        </p:nvSpPr>
        <p:spPr>
          <a:xfrm>
            <a:off x="5084064" y="3227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15</a:t>
            </a:r>
            <a:endParaRPr lang="en-US" sz="1800" dirty="0"/>
          </a:p>
        </p:txBody>
      </p:sp>
      <p:sp>
        <p:nvSpPr>
          <p:cNvPr id="62" name="checkbox-1076"/>
          <p:cNvSpPr/>
          <p:nvPr/>
        </p:nvSpPr>
        <p:spPr>
          <a:xfrm>
            <a:off x="5266944" y="37033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63" name="check-text-1077"/>
          <p:cNvSpPr txBox="1"/>
          <p:nvPr/>
        </p:nvSpPr>
        <p:spPr>
          <a:xfrm>
            <a:off x="5266944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64" name="tracker-card-1078"/>
          <p:cNvSpPr/>
          <p:nvPr/>
        </p:nvSpPr>
        <p:spPr>
          <a:xfrm>
            <a:off x="6103620" y="315468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65" name="tnum-1079"/>
          <p:cNvSpPr txBox="1"/>
          <p:nvPr/>
        </p:nvSpPr>
        <p:spPr>
          <a:xfrm>
            <a:off x="6195060" y="3227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16</a:t>
            </a:r>
            <a:endParaRPr lang="en-US" sz="1800" dirty="0"/>
          </a:p>
        </p:txBody>
      </p:sp>
      <p:sp>
        <p:nvSpPr>
          <p:cNvPr id="66" name="checkbox-1080"/>
          <p:cNvSpPr/>
          <p:nvPr/>
        </p:nvSpPr>
        <p:spPr>
          <a:xfrm>
            <a:off x="6377940" y="37033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67" name="check-text-1081"/>
          <p:cNvSpPr txBox="1"/>
          <p:nvPr/>
        </p:nvSpPr>
        <p:spPr>
          <a:xfrm>
            <a:off x="63779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68" name="tracker-card-1082"/>
          <p:cNvSpPr/>
          <p:nvPr/>
        </p:nvSpPr>
        <p:spPr>
          <a:xfrm>
            <a:off x="7214616" y="315468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69" name="tnum-1083"/>
          <p:cNvSpPr txBox="1"/>
          <p:nvPr/>
        </p:nvSpPr>
        <p:spPr>
          <a:xfrm>
            <a:off x="7306056" y="3227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17</a:t>
            </a:r>
            <a:endParaRPr lang="en-US" sz="1800" dirty="0"/>
          </a:p>
        </p:txBody>
      </p:sp>
      <p:sp>
        <p:nvSpPr>
          <p:cNvPr id="70" name="checkbox-1084"/>
          <p:cNvSpPr/>
          <p:nvPr/>
        </p:nvSpPr>
        <p:spPr>
          <a:xfrm>
            <a:off x="7488936" y="37033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71" name="check-text-1085"/>
          <p:cNvSpPr txBox="1"/>
          <p:nvPr/>
        </p:nvSpPr>
        <p:spPr>
          <a:xfrm>
            <a:off x="7488936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2" name="tracker-card-1086"/>
          <p:cNvSpPr/>
          <p:nvPr/>
        </p:nvSpPr>
        <p:spPr>
          <a:xfrm>
            <a:off x="8325612" y="315468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73" name="tnum-1087"/>
          <p:cNvSpPr txBox="1"/>
          <p:nvPr/>
        </p:nvSpPr>
        <p:spPr>
          <a:xfrm>
            <a:off x="8417052" y="3227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18</a:t>
            </a:r>
            <a:endParaRPr lang="en-US" sz="1800" dirty="0"/>
          </a:p>
        </p:txBody>
      </p:sp>
      <p:sp>
        <p:nvSpPr>
          <p:cNvPr id="74" name="checkbox-1088"/>
          <p:cNvSpPr/>
          <p:nvPr/>
        </p:nvSpPr>
        <p:spPr>
          <a:xfrm>
            <a:off x="8599932" y="37033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75" name="check-text-1089"/>
          <p:cNvSpPr txBox="1"/>
          <p:nvPr/>
        </p:nvSpPr>
        <p:spPr>
          <a:xfrm>
            <a:off x="8599932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6" name="tracker-card-1090"/>
          <p:cNvSpPr/>
          <p:nvPr/>
        </p:nvSpPr>
        <p:spPr>
          <a:xfrm>
            <a:off x="9436608" y="315468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77" name="tnum-1091"/>
          <p:cNvSpPr txBox="1"/>
          <p:nvPr/>
        </p:nvSpPr>
        <p:spPr>
          <a:xfrm>
            <a:off x="9528048" y="3227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19</a:t>
            </a:r>
            <a:endParaRPr lang="en-US" sz="1800" dirty="0"/>
          </a:p>
        </p:txBody>
      </p:sp>
      <p:sp>
        <p:nvSpPr>
          <p:cNvPr id="78" name="checkbox-1092"/>
          <p:cNvSpPr/>
          <p:nvPr/>
        </p:nvSpPr>
        <p:spPr>
          <a:xfrm>
            <a:off x="9710928" y="37033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79" name="check-text-1093"/>
          <p:cNvSpPr txBox="1"/>
          <p:nvPr/>
        </p:nvSpPr>
        <p:spPr>
          <a:xfrm>
            <a:off x="971092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80" name="tracker-card-1094"/>
          <p:cNvSpPr/>
          <p:nvPr/>
        </p:nvSpPr>
        <p:spPr>
          <a:xfrm>
            <a:off x="10547604" y="315468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81" name="tnum-1095"/>
          <p:cNvSpPr txBox="1"/>
          <p:nvPr/>
        </p:nvSpPr>
        <p:spPr>
          <a:xfrm>
            <a:off x="10639044" y="3227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20</a:t>
            </a:r>
            <a:endParaRPr lang="en-US" sz="1800" dirty="0"/>
          </a:p>
        </p:txBody>
      </p:sp>
      <p:sp>
        <p:nvSpPr>
          <p:cNvPr id="82" name="checkbox-1096"/>
          <p:cNvSpPr/>
          <p:nvPr/>
        </p:nvSpPr>
        <p:spPr>
          <a:xfrm>
            <a:off x="10821924" y="37033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83" name="check-text-1097"/>
          <p:cNvSpPr txBox="1"/>
          <p:nvPr/>
        </p:nvSpPr>
        <p:spPr>
          <a:xfrm>
            <a:off x="10821924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84" name="tracker-card-1098"/>
          <p:cNvSpPr/>
          <p:nvPr/>
        </p:nvSpPr>
        <p:spPr>
          <a:xfrm>
            <a:off x="548640" y="466344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85" name="tnum-1099"/>
          <p:cNvSpPr txBox="1"/>
          <p:nvPr/>
        </p:nvSpPr>
        <p:spPr>
          <a:xfrm>
            <a:off x="640080" y="4736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21</a:t>
            </a:r>
            <a:endParaRPr lang="en-US" sz="1800" dirty="0"/>
          </a:p>
        </p:txBody>
      </p:sp>
      <p:sp>
        <p:nvSpPr>
          <p:cNvPr id="86" name="checkbox-1100"/>
          <p:cNvSpPr/>
          <p:nvPr/>
        </p:nvSpPr>
        <p:spPr>
          <a:xfrm>
            <a:off x="822960" y="5212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87" name="check-text-1101"/>
          <p:cNvSpPr txBox="1"/>
          <p:nvPr/>
        </p:nvSpPr>
        <p:spPr>
          <a:xfrm>
            <a:off x="82296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88" name="tracker-card-1102"/>
          <p:cNvSpPr/>
          <p:nvPr/>
        </p:nvSpPr>
        <p:spPr>
          <a:xfrm>
            <a:off x="1659636" y="466344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89" name="tnum-1103"/>
          <p:cNvSpPr txBox="1"/>
          <p:nvPr/>
        </p:nvSpPr>
        <p:spPr>
          <a:xfrm>
            <a:off x="1751076" y="4736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22</a:t>
            </a:r>
            <a:endParaRPr lang="en-US" sz="1800" dirty="0"/>
          </a:p>
        </p:txBody>
      </p:sp>
      <p:sp>
        <p:nvSpPr>
          <p:cNvPr id="90" name="checkbox-1104"/>
          <p:cNvSpPr/>
          <p:nvPr/>
        </p:nvSpPr>
        <p:spPr>
          <a:xfrm>
            <a:off x="1933956" y="5212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1" name="check-text-1105"/>
          <p:cNvSpPr txBox="1"/>
          <p:nvPr/>
        </p:nvSpPr>
        <p:spPr>
          <a:xfrm>
            <a:off x="1933956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92" name="tracker-card-1106"/>
          <p:cNvSpPr/>
          <p:nvPr/>
        </p:nvSpPr>
        <p:spPr>
          <a:xfrm>
            <a:off x="2770632" y="466344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93" name="tnum-1107"/>
          <p:cNvSpPr txBox="1"/>
          <p:nvPr/>
        </p:nvSpPr>
        <p:spPr>
          <a:xfrm>
            <a:off x="2862072" y="4736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23</a:t>
            </a:r>
            <a:endParaRPr lang="en-US" sz="1800" dirty="0"/>
          </a:p>
        </p:txBody>
      </p:sp>
      <p:sp>
        <p:nvSpPr>
          <p:cNvPr id="94" name="checkbox-1108"/>
          <p:cNvSpPr/>
          <p:nvPr/>
        </p:nvSpPr>
        <p:spPr>
          <a:xfrm>
            <a:off x="3044952" y="5212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5" name="check-text-1109"/>
          <p:cNvSpPr txBox="1"/>
          <p:nvPr/>
        </p:nvSpPr>
        <p:spPr>
          <a:xfrm>
            <a:off x="3044952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96" name="tracker-card-1110"/>
          <p:cNvSpPr/>
          <p:nvPr/>
        </p:nvSpPr>
        <p:spPr>
          <a:xfrm>
            <a:off x="3881628" y="466344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97" name="tnum-1111"/>
          <p:cNvSpPr txBox="1"/>
          <p:nvPr/>
        </p:nvSpPr>
        <p:spPr>
          <a:xfrm>
            <a:off x="3973068" y="4736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24</a:t>
            </a:r>
            <a:endParaRPr lang="en-US" sz="1800" dirty="0"/>
          </a:p>
        </p:txBody>
      </p:sp>
      <p:sp>
        <p:nvSpPr>
          <p:cNvPr id="98" name="checkbox-1112"/>
          <p:cNvSpPr/>
          <p:nvPr/>
        </p:nvSpPr>
        <p:spPr>
          <a:xfrm>
            <a:off x="4155948" y="5212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9" name="check-text-1113"/>
          <p:cNvSpPr txBox="1"/>
          <p:nvPr/>
        </p:nvSpPr>
        <p:spPr>
          <a:xfrm>
            <a:off x="4155948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00" name="tracker-card-1114"/>
          <p:cNvSpPr/>
          <p:nvPr/>
        </p:nvSpPr>
        <p:spPr>
          <a:xfrm>
            <a:off x="4992624" y="466344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01" name="tnum-1115"/>
          <p:cNvSpPr txBox="1"/>
          <p:nvPr/>
        </p:nvSpPr>
        <p:spPr>
          <a:xfrm>
            <a:off x="5084064" y="4736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25</a:t>
            </a:r>
            <a:endParaRPr lang="en-US" sz="1800" dirty="0"/>
          </a:p>
        </p:txBody>
      </p:sp>
      <p:sp>
        <p:nvSpPr>
          <p:cNvPr id="102" name="checkbox-1116"/>
          <p:cNvSpPr/>
          <p:nvPr/>
        </p:nvSpPr>
        <p:spPr>
          <a:xfrm>
            <a:off x="5266944" y="5212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03" name="check-text-1117"/>
          <p:cNvSpPr txBox="1"/>
          <p:nvPr/>
        </p:nvSpPr>
        <p:spPr>
          <a:xfrm>
            <a:off x="5266944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04" name="tracker-card-1118"/>
          <p:cNvSpPr/>
          <p:nvPr/>
        </p:nvSpPr>
        <p:spPr>
          <a:xfrm>
            <a:off x="6103620" y="466344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05" name="tnum-1119"/>
          <p:cNvSpPr txBox="1"/>
          <p:nvPr/>
        </p:nvSpPr>
        <p:spPr>
          <a:xfrm>
            <a:off x="6195060" y="4736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26</a:t>
            </a:r>
            <a:endParaRPr lang="en-US" sz="1800" dirty="0"/>
          </a:p>
        </p:txBody>
      </p:sp>
      <p:sp>
        <p:nvSpPr>
          <p:cNvPr id="106" name="checkbox-1120"/>
          <p:cNvSpPr/>
          <p:nvPr/>
        </p:nvSpPr>
        <p:spPr>
          <a:xfrm>
            <a:off x="6377940" y="5212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07" name="check-text-1121"/>
          <p:cNvSpPr txBox="1"/>
          <p:nvPr/>
        </p:nvSpPr>
        <p:spPr>
          <a:xfrm>
            <a:off x="63779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08" name="tracker-card-1122"/>
          <p:cNvSpPr/>
          <p:nvPr/>
        </p:nvSpPr>
        <p:spPr>
          <a:xfrm>
            <a:off x="7214616" y="466344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09" name="tnum-1123"/>
          <p:cNvSpPr txBox="1"/>
          <p:nvPr/>
        </p:nvSpPr>
        <p:spPr>
          <a:xfrm>
            <a:off x="7306056" y="4736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27</a:t>
            </a:r>
            <a:endParaRPr lang="en-US" sz="1800" dirty="0"/>
          </a:p>
        </p:txBody>
      </p:sp>
      <p:sp>
        <p:nvSpPr>
          <p:cNvPr id="110" name="checkbox-1124"/>
          <p:cNvSpPr/>
          <p:nvPr/>
        </p:nvSpPr>
        <p:spPr>
          <a:xfrm>
            <a:off x="7488936" y="5212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11" name="check-text-1125"/>
          <p:cNvSpPr txBox="1"/>
          <p:nvPr/>
        </p:nvSpPr>
        <p:spPr>
          <a:xfrm>
            <a:off x="7488936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12" name="tracker-card-1126"/>
          <p:cNvSpPr/>
          <p:nvPr/>
        </p:nvSpPr>
        <p:spPr>
          <a:xfrm>
            <a:off x="8325612" y="466344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13" name="tnum-1127"/>
          <p:cNvSpPr txBox="1"/>
          <p:nvPr/>
        </p:nvSpPr>
        <p:spPr>
          <a:xfrm>
            <a:off x="8417052" y="4736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28</a:t>
            </a:r>
            <a:endParaRPr lang="en-US" sz="1800" dirty="0"/>
          </a:p>
        </p:txBody>
      </p:sp>
      <p:sp>
        <p:nvSpPr>
          <p:cNvPr id="114" name="checkbox-1128"/>
          <p:cNvSpPr/>
          <p:nvPr/>
        </p:nvSpPr>
        <p:spPr>
          <a:xfrm>
            <a:off x="8599932" y="5212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15" name="check-text-1129"/>
          <p:cNvSpPr txBox="1"/>
          <p:nvPr/>
        </p:nvSpPr>
        <p:spPr>
          <a:xfrm>
            <a:off x="8599932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16" name="tracker-card-1130"/>
          <p:cNvSpPr/>
          <p:nvPr/>
        </p:nvSpPr>
        <p:spPr>
          <a:xfrm>
            <a:off x="9436608" y="466344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17" name="tnum-1131"/>
          <p:cNvSpPr txBox="1"/>
          <p:nvPr/>
        </p:nvSpPr>
        <p:spPr>
          <a:xfrm>
            <a:off x="9528048" y="4736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29</a:t>
            </a:r>
            <a:endParaRPr lang="en-US" sz="1800" dirty="0"/>
          </a:p>
        </p:txBody>
      </p:sp>
      <p:sp>
        <p:nvSpPr>
          <p:cNvPr id="118" name="checkbox-1132"/>
          <p:cNvSpPr/>
          <p:nvPr/>
        </p:nvSpPr>
        <p:spPr>
          <a:xfrm>
            <a:off x="9710928" y="5212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19" name="check-text-1133"/>
          <p:cNvSpPr txBox="1"/>
          <p:nvPr/>
        </p:nvSpPr>
        <p:spPr>
          <a:xfrm>
            <a:off x="9710928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20" name="tracker-card-1134"/>
          <p:cNvSpPr/>
          <p:nvPr/>
        </p:nvSpPr>
        <p:spPr>
          <a:xfrm>
            <a:off x="10547604" y="4663440"/>
            <a:ext cx="1005840" cy="132588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21" name="tnum-1135"/>
          <p:cNvSpPr txBox="1"/>
          <p:nvPr/>
        </p:nvSpPr>
        <p:spPr>
          <a:xfrm>
            <a:off x="10639044" y="47365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30</a:t>
            </a:r>
            <a:endParaRPr lang="en-US" sz="1800" dirty="0"/>
          </a:p>
        </p:txBody>
      </p:sp>
      <p:sp>
        <p:nvSpPr>
          <p:cNvPr id="122" name="checkbox-1136"/>
          <p:cNvSpPr/>
          <p:nvPr/>
        </p:nvSpPr>
        <p:spPr>
          <a:xfrm>
            <a:off x="10821924" y="5212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23" name="check-text-1137"/>
          <p:cNvSpPr txBox="1"/>
          <p:nvPr/>
        </p:nvSpPr>
        <p:spPr>
          <a:xfrm>
            <a:off x="10821924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24" name="legend-dot-1138"/>
          <p:cNvSpPr/>
          <p:nvPr/>
        </p:nvSpPr>
        <p:spPr>
          <a:xfrm>
            <a:off x="548640" y="619963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5" name="legend-1139"/>
          <p:cNvSpPr txBox="1"/>
          <p:nvPr/>
        </p:nvSpPr>
        <p:spPr>
          <a:xfrm>
            <a:off x="804672" y="61264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Week 1: Core editing</a:t>
            </a:r>
            <a:endParaRPr lang="en-US" sz="1100" dirty="0"/>
          </a:p>
        </p:txBody>
      </p:sp>
      <p:sp>
        <p:nvSpPr>
          <p:cNvPr id="126" name="legend-dot-1140"/>
          <p:cNvSpPr/>
          <p:nvPr/>
        </p:nvSpPr>
        <p:spPr>
          <a:xfrm>
            <a:off x="3364992" y="6199632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7" name="legend-1141"/>
          <p:cNvSpPr txBox="1"/>
          <p:nvPr/>
        </p:nvSpPr>
        <p:spPr>
          <a:xfrm>
            <a:off x="3621024" y="61264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Week 2: Speed and polish</a:t>
            </a:r>
            <a:endParaRPr lang="en-US" sz="1100" dirty="0"/>
          </a:p>
        </p:txBody>
      </p:sp>
      <p:sp>
        <p:nvSpPr>
          <p:cNvPr id="128" name="legend-dot-1142"/>
          <p:cNvSpPr/>
          <p:nvPr/>
        </p:nvSpPr>
        <p:spPr>
          <a:xfrm>
            <a:off x="6181344" y="6199632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9" name="legend-1143"/>
          <p:cNvSpPr txBox="1"/>
          <p:nvPr/>
        </p:nvSpPr>
        <p:spPr>
          <a:xfrm>
            <a:off x="6437376" y="61264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Week 3: Creative tools</a:t>
            </a:r>
            <a:endParaRPr lang="en-US" sz="1100" dirty="0"/>
          </a:p>
        </p:txBody>
      </p:sp>
      <p:sp>
        <p:nvSpPr>
          <p:cNvPr id="130" name="legend-dot-1144"/>
          <p:cNvSpPr/>
          <p:nvPr/>
        </p:nvSpPr>
        <p:spPr>
          <a:xfrm>
            <a:off x="8997696" y="6199632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31" name="legend-1145"/>
          <p:cNvSpPr txBox="1"/>
          <p:nvPr/>
        </p:nvSpPr>
        <p:spPr>
          <a:xfrm>
            <a:off x="9253728" y="61264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Week 4: Real-time daily workflow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146"/>
          <p:cNvSpPr txBox="1"/>
          <p:nvPr/>
        </p:nvSpPr>
        <p:spPr>
          <a:xfrm>
            <a:off x="548640" y="1737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3"/>
                </a:solidFill>
              </a:rPr>
              <a:t>DAY 31 AND BEYOND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317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going</a:t>
            </a:r>
            <a:endParaRPr lang="en-US" sz="4400" dirty="0"/>
          </a:p>
        </p:txBody>
      </p:sp>
      <p:sp>
        <p:nvSpPr>
          <p:cNvPr id="4" name="list-1147"/>
          <p:cNvSpPr txBox="1"/>
          <p:nvPr/>
        </p:nvSpPr>
        <p:spPr>
          <a:xfrm>
            <a:off x="548640" y="365760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Keep one Short a day, plus one or two long videos a week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Each month, go deeper into one area: colour, sound or motion graphics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Reread your My notes boxes every Sunday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Use the feature finder whenever you forget something</a:t>
            </a:r>
            <a:endParaRPr lang="en-US" sz="1700" dirty="0"/>
          </a:p>
        </p:txBody>
      </p:sp>
      <p:pic>
        <p:nvPicPr>
          <p:cNvPr id="5" name="screenshot-1148" descr="Screenshot from the Final Cut Pro User Guide, page 64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153404"/>
            <a:ext cx="3840480" cy="27340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CP 30 Days">
  <a:themeElements>
    <a:clrScheme name="FCP 30 Days">
      <a:dk1>
        <a:srgbClr val="14161F"/>
      </a:dk1>
      <a:lt1>
        <a:srgbClr val="F4F4F7"/>
      </a:lt1>
      <a:dk2>
        <a:srgbClr val="222636"/>
      </a:dk2>
      <a:lt2>
        <a:srgbClr val="A9ADC1"/>
      </a:lt2>
      <a:accent1>
        <a:srgbClr val="8B6CFF"/>
      </a:accent1>
      <a:accent2>
        <a:srgbClr val="FF6B4A"/>
      </a:accent2>
      <a:accent3>
        <a:srgbClr val="2FD3A7"/>
      </a:accent3>
      <a:accent4>
        <a:srgbClr val="FFB547"/>
      </a:accent4>
      <a:accent5>
        <a:srgbClr val="4FB3FF"/>
      </a:accent5>
      <a:accent6>
        <a:srgbClr val="FF5FA2"/>
      </a:accent6>
      <a:hlink>
        <a:srgbClr val="4FB3FF"/>
      </a:hlink>
      <a:folHlink>
        <a:srgbClr val="8B6CFF"/>
      </a:folHlink>
    </a:clrScheme>
    <a:fontScheme name="FCP 30 Day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Cut Pro in 30 Days</dc:title>
  <dc:subject>PptxGenJS Presentation</dc:subject>
  <dc:creator>My FCP learning plan</dc:creator>
  <cp:lastModifiedBy>My FCP learning plan</cp:lastModifiedBy>
  <cp:revision>1</cp:revision>
  <dcterms:created xsi:type="dcterms:W3CDTF">2026-11-01T12:38:34Z</dcterms:created>
  <dcterms:modified xsi:type="dcterms:W3CDTF">2026-11-01T12:38:34Z</dcterms:modified>
</cp:coreProperties>
</file>